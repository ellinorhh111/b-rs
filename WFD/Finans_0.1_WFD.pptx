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c273563-9ce1-7b0d-b961-c7a23c170dd0}">
          <p14:sldIdLst>
            <p14:sldId id="256"/>
            <p14:sldId id="257"/>
          </p14:sldIdLst>
        </p14:section>
        <p14:section name="Del 1: Grunnmuren" id="{1cfab462-b42a-6b75-e0cb-07ae3750e47c}">
          <p14:sldIdLst>
            <p14:sldId id="258"/>
            <p14:sldId id="259"/>
            <p14:sldId id="260"/>
            <p14:sldId id="261"/>
          </p14:sldIdLst>
        </p14:section>
        <p14:section name="Del 2: Kartet over bransjen" id="{5cdf40b7-68de-1eae-bee7-0a31cc902d29}">
          <p14:sldIdLst>
            <p14:sldId id="262"/>
            <p14:sldId id="263"/>
          </p14:sldIdLst>
        </p14:section>
        <p14:section name="Del 3: Investeringsbanken" id="{04e7860d-e7e3-3b35-a617-7f414466122b}">
          <p14:sldIdLst>
            <p14:sldId id="264"/>
            <p14:sldId id="265"/>
            <p14:sldId id="266"/>
            <p14:sldId id="267"/>
            <p14:sldId id="268"/>
            <p14:sldId id="269"/>
          </p14:sldIdLst>
        </p14:section>
        <p14:section name="Del 4: Verdsettelse" id="{3c121cd0-7518-d32e-5c34-6a92b631aecc}">
          <p14:sldIdLst>
            <p14:sldId id="270"/>
            <p14:sldId id="271"/>
            <p14:sldId id="272"/>
            <p14:sldId id="273"/>
          </p14:sldIdLst>
        </p14:section>
        <p14:section name="Del 5: Buyside" id="{19721bc5-40c4-3f82-1216-8439595921d9}">
          <p14:sldIdLst>
            <p14:sldId id="274"/>
            <p14:sldId id="275"/>
            <p14:sldId id="276"/>
            <p14:sldId id="277"/>
          </p14:sldIdLst>
        </p14:section>
        <p14:section name="Avslutning" id="{fcc91676-1548-3383-35d1-69dd56b9df38}">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Utbetaling til investorene (MNOK)</c:v>
                </c:pt>
              </c:strCache>
            </c:strRef>
          </c:tx>
          <c:spPr>
            <a:solidFill>
              <a:srgbClr val="DDDD7E"/>
            </a:solidFill>
            <a:effectLst/>
          </c:spPr>
          <c:invertIfNegative val="0"/>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Sheet1!$A$2:$A$6</c:f>
              <c:multiLvlStrCache>
                <c:ptCount val="5"/>
                <c:lvl>
                  <c:pt idx="0">
                    <c:v>År 1</c:v>
                  </c:pt>
                  <c:pt idx="1">
                    <c:v>År 2</c:v>
                  </c:pt>
                  <c:pt idx="2">
                    <c:v>År 3</c:v>
                  </c:pt>
                  <c:pt idx="3">
                    <c:v>År 4</c:v>
                  </c:pt>
                  <c:pt idx="4">
                    <c:v>År 5</c:v>
                  </c:pt>
                </c:lvl>
              </c:multiLvlStrCache>
            </c:multiLvlStrRef>
          </c:cat>
          <c:val>
            <c:numRef>
              <c:f>Sheet1!$B$2:$B$6</c:f>
              <c:numCache>
                <c:formatCode>General</c:formatCode>
                <c:ptCount val="5"/>
                <c:pt idx="0">
                  <c:v>40</c:v>
                </c:pt>
                <c:pt idx="1">
                  <c:v>40</c:v>
                </c:pt>
                <c:pt idx="2">
                  <c:v>40</c:v>
                </c:pt>
                <c:pt idx="3">
                  <c:v>40</c:v>
                </c:pt>
                <c:pt idx="4">
                  <c:v>540</c:v>
                </c:pt>
              </c:numCache>
            </c:numRef>
          </c:val>
        </c:ser>
        <c:dLbls>
          <c:numFmt formatCode="#,##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C3CAE0"/>
                </a:solidFill>
                <a:latin typeface="+mn-lt"/>
              </a:defRPr>
            </a:pPr>
            <a:endParaRPr lang="en-US"/>
          </a:p>
        </c:txPr>
        <c:crossAx val="2094734552"/>
        <c:crosses val="autoZero"/>
        <c:auto val="1"/>
        <c:lblAlgn val="ctr"/>
        <c:noMultiLvlLbl val="1"/>
      </c:catAx>
      <c:valAx>
        <c:axId val="2094734552"/>
        <c:scaling>
          <c:orientation val="minMax"/>
          <c:max val="62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Kontantstrøm</c:v>
                </c:pt>
              </c:strCache>
            </c:strRef>
          </c:tx>
          <c:spPr>
            <a:solidFill>
              <a:srgbClr val="2A3F78"/>
            </a:solidFill>
            <a:effectLst/>
          </c:spPr>
          <c:invertIfNegative val="0"/>
          <c:dLbls>
            <c:numFmt formatCode="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År 1</c:v>
                  </c:pt>
                  <c:pt idx="1">
                    <c:v>År 2</c:v>
                  </c:pt>
                  <c:pt idx="2">
                    <c:v>År 3</c:v>
                  </c:pt>
                </c:lvl>
              </c:multiLvlStrCache>
            </c:multiLvlStrRef>
          </c:cat>
          <c:val>
            <c:numRef>
              <c:f>Sheet1!$B$2:$B$4</c:f>
              <c:numCache>
                <c:formatCode>General</c:formatCode>
                <c:ptCount val="3"/>
                <c:pt idx="0">
                  <c:v>100</c:v>
                </c:pt>
                <c:pt idx="1">
                  <c:v>100</c:v>
                </c:pt>
                <c:pt idx="2">
                  <c:v>100</c:v>
                </c:pt>
              </c:numCache>
            </c:numRef>
          </c:val>
        </c:ser>
        <c:ser>
          <c:idx val="1"/>
          <c:order val="1"/>
          <c:tx>
            <c:strRef>
              <c:f>Sheet1!$C$1</c:f>
              <c:strCache>
                <c:ptCount val="1"/>
                <c:pt idx="0">
                  <c:v>Nåverdi</c:v>
                </c:pt>
              </c:strCache>
            </c:strRef>
          </c:tx>
          <c:spPr>
            <a:solidFill>
              <a:srgbClr val="DDDD7E"/>
            </a:solidFill>
            <a:effectLst/>
          </c:spPr>
          <c:invertIfNegative val="0"/>
          <c:dLbls>
            <c:numFmt formatCode="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År 1</c:v>
                  </c:pt>
                  <c:pt idx="1">
                    <c:v>År 2</c:v>
                  </c:pt>
                  <c:pt idx="2">
                    <c:v>År 3</c:v>
                  </c:pt>
                </c:lvl>
              </c:multiLvlStrCache>
            </c:multiLvlStrRef>
          </c:cat>
          <c:val>
            <c:numRef>
              <c:f>Sheet1!$C$2:$C$4</c:f>
              <c:numCache>
                <c:formatCode>General</c:formatCode>
                <c:ptCount val="3"/>
                <c:pt idx="0">
                  <c:v>90.9</c:v>
                </c:pt>
                <c:pt idx="1">
                  <c:v>82.6</c:v>
                </c:pt>
                <c:pt idx="2">
                  <c:v>75.1</c:v>
                </c:pt>
              </c:numCache>
            </c:numRef>
          </c:val>
        </c:ser>
        <c:dLbls>
          <c:numFmt formatCode="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C3CAE0"/>
                </a:solidFill>
                <a:latin typeface="+mn-lt"/>
              </a:defRPr>
            </a:pPr>
            <a:endParaRPr lang="en-US"/>
          </a:p>
        </c:txPr>
        <c:crossAx val="2094734552"/>
        <c:crosses val="autoZero"/>
        <c:auto val="1"/>
        <c:lblAlgn val="ctr"/>
        <c:noMultiLvlLbl val="1"/>
      </c:catAx>
      <c:valAx>
        <c:axId val="2094734552"/>
        <c:scaling>
          <c:orientation val="minMax"/>
          <c:max val="1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3CAE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PRESENTØR 1 (intro og del 1, ca. 6 min).
Velkommen! Målet i dag er ikke at alle skal bli finanseksperter, men at alle i styret skal ha et felles bilde av hvordan finansbransjen henger sammen og kjenne igjen ordene vi bruker når vi snakker med samarbeidspartnere. Ingen spørsmål er dumme – det er nettopp dette vi skal rydde opp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har delt innføringen i fem deler, og vi bygger fra bunnen: først hva finans er og de to grunnleggende produktene, aksjer og obligasjoner. Så tegner vi et kart over bransjen, går inn i investeringsbanken, ser på verdsettelse og avslutter med buyside. Helt til slutt får dere en ordliste som jukselapp.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1 handler om byggeklossene. Alt vi snakker om senere – ECM, DCM, verdsettelse, PE – bygger på det vi går gjennom nå.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Intuisjonen: Noen har penger de ikke trenger akkurat nå – for eksempel en pensjonskasse eller du med BSU-en din. Andre trenger penger nå for å vokse – for eksempel et selskap som vil bygge en ny fabrikk. Finansbransjen kobler disse sammen. Investorene gir kapital, og får avkastning tilbake.
To ord å huske: tidsverdi – en krone i dag er mer verdt enn en krone i morgen fordi du kan investere den – og risiko – jo mer usikkert, desto mer avkastning krever investoren. Disse to prinsippene går igjen i alt vi snakker om resten av dagen.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finnes bare to grunnleggende måter å finansiere et selskap på. Egenkapital: du selger en bit av selskapet – en aksje. Investoren blir medeier, får del av gevinsten, men har ingen garanti. Gjeld: du låner penger, enten fra banken eller ved å utstede obligasjoner. Långiveren får fast rente og pengene tilbake, og får betalt først hvis det går galt.
Derfor er aksjer mer risikable enn obligasjoner – og derfor forventer aksjeinvestorer høyere avkastning. Legg merke til nederste linje på kortene: ECM og DCM er bare bankenes navn på avdelingene som hjelper selskaper med akkurat disse to tingene. Det kommer vi tilbake til i del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Tenk på et selskap som en pizza delt i 100 biter. Hver bit er en aksje. Eier du én bit, eier du én prosent av selskapet og har rett på én prosent av overskuddet som deles ut.
Markedsverdien – det markedet sier at hele selskapet er verdt – finner du ved å gange aksjekursen med antall aksjer. Steg for steg: 10 millioner aksjer ganger 250 kroner gir 2,5 milliarder kroner.
Kursen går opp og ned fordi den speiler forventningene til fremtiden. Hvis Equinor legger frem bedre resultater enn ventet, stiger gjerne kursen.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PRESENTØR 2 (del 2, ca. 4 min).
Nå vet vi at selskaper henter penger gjennom aksjer og gjeld. Men hvem er det som faktisk gjør jobben? Her er kartet over bransjen.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enkleste måten å dele bransjen på er sellside og buyside.
Sellside SELGER tjenester. Det er investeringsbankene – i Norge ofte kalt meglerhus – som DNB Carnegie, Pareto og Arctic. De rådgir selskaper, megler aksjer og skriver analyser, og tjener penger på honorarer og kurtasje.
Buyside KJØPER. Det er de som har pengene og investerer dem: PE-fond som FSN og Altor, venturefond som Investinor, og store forvaltere som Oljefondet og Folketrygdfondet. De tjener penger når investeringene stiger i verdi.
Selskapet står i midten: sellside hjelper selskapet med å hente penger, buyside er de som gir pengene.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PRESENTØR 3 (del 3, ca. 8 min).
Vi zoomer inn på sellside og investeringsbanken – der mange av WFD-partnerne holder 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investeringsbank har to hoveddeler.
Corporate Finance – det folk ofte mener med «IB» – rådgir selskaper. Her finner vi ECM, som hjelper selskaper å hente egenkapital; DCM, som hjelper dem å låne; og M&amp;A, som rådgir når selskaper kjøpes, selges eller slås sammen.
Markets jobber mot investorene: Sales &amp; Trading kjøper og selger verdipapirer for kundene, og Research analyserer selskaper.
Mellom dem står en «kinesisk mur»: Corporate Finance vet ofte om store hemmelige transaksjoner, og den informasjonen kan ikke lekke over til dem som handler aksjer. Det er innsideinformasjon.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ECM står for Equity Capital Markets. Intuisjonen: selskapet selger nye eierbiter for å få penger.
To typer oppdrag: En IPO er første gang et selskap går på børs – Norconsult er et eksempel fra Oslo Børs i 2023. En emisjon er når et selskap som allerede er på børs henter mer penger. I Norge er rettede emisjoner veldig vanlige: banken ringer rundt til store investorer og kan hente hundrevis av millioner i løpet av en kveld.
I en IPO jobber banken gjennom fem steg. Legg merke til steg 2: verdsettelse. Det er derfor del 4 i dag er så viktig – uten en verdsettelse vet ingen hva aksjene skal koste. Bookbuilding betyr at banken samler inn ordre fra investorer – en «ordrebok» – og bruker den til å sette prisen.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DCM står for Debt Capital Markets. I stedet for å låne alt fra én bank, låner selskapet fra mange investorer på én gang ved å utstede obligasjoner.
Eksempel steg for steg: Selskapet låner 500 millioner kroner over fem år med 8 prosent rente – renten kalles kupong. Hvert år betaler selskapet 500 ganger 8 prosent, altså 40 millioner. De fire første årene får investorene bare renten. I år fem får de den siste renten pluss de 500 millionene tilbake – 540. Totalt betaler selskapet 700 millioner: 200 i renter og 500 i tilbakebetaling.
Norge er kjent for et stort high yield-marked, altså obligasjoner fra selskaper med høyere risiko – derfor høyere rente. Husk prinsippet fra del 1: mer risiko, mer avkastning.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M&amp;A betyr Mergers and Acquisitions – fusjoner og oppkjøp. Tenk på banken som en eiendomsmegler, bare at boligen er et helt selskap.
Banken kan sitte på to sider: med et salgsmandat hjelper den eieren å selge til høyest mulig pris – for eksempel når et PE-fond skal selge et selskap det har eid i noen år. Med et kjøpsmandat hjelper den kjøperen.
En salgsprosess følger ofte de fem stegene: forberede materialet, kontakte kjøpere, få inn indikative bud, slippe de beste inn i due diligence – en grundig gjennomgang av selskapet – og til slutt signere.
En felle: «sell-side» i M&amp;A betyr salgsmandat. Det er ikke det samme som sellside-bransjen vi snakket om i del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«Analytiker» betyr to forskjellige ting, og det er lett å blande dem.
I IB er Analyst en stillingstittel – det første trinnet på karrierestigen etter studiene, før Associate, VP, Director og MD eller partner. En analyst bygger modeller i Excel, lager pitchbooks – presentasjonene banken bruker for å vinne oppdrag – og jobber på transaksjoner.
En aksjeanalytiker sitter i Research på Markets-siden. De følger en håndfull selskaper, lager prognoser og setter et kursmål. Eksempel: aksjen koster 100, analytikeren mener den er verdt 120. Oppsiden er 120 minus 100, delt på 100 – altså 20 prosent – så anbefalingen blir KJØP.
Felles for begge: de verdsetter selskaper hele tiden. Og det er nettopp det neste del handler 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PRESENTØR 4 (del 4, ca. 7 min).
Bildet til høyre er faktisk fra WFP: en workshop der deltakerne jobbet med «trading comps» – altså multipler. Det skal vi se på nå.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Hvorfor er verdsettelse så sentralt? Fordi nesten alt bankene gjør krever et svar på spørsmålet «hva er dette selskapet verdt?». I en IPO må de sette en pris. I M&amp;A må de vite hva kjøperen bør by. Analytikeren trenger det for å sette kursmål, og PE-fondet må vite hva de kan betale.
Det finnes to hovedmetoder. Multipler sammenligner med lignende selskaper. DCF regner ut verdien av fremtidige penger. I praksis bruker bankene begge, og ser om de gir omtrent samme svar.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Multipler er som kvadratmeterpris. Hvis leiligheter i samme strøk selges for 80 000 kroner per kvadratmeter, er en leilighet på 50 kvadratmeter trolig verdt rundt 4 millioner – 80 000 ganger 50.
For selskaper bruker vi i stedet for kvadratmeter et nøkkeltall som EBITDA – driftsresultatet før av- og nedskrivninger, grovt sagt hva driften tjener. EV, enterprise value, er verdien av hele selskapet: egenkapitalen pluss netto gjeld.
Regneeksempel, steg for steg: Lignende selskaper prises til 8 ganger EBITDA. Vårt selskap har en EBITDA på 50 millioner. EV blir 8 ganger 50, altså 400 millioner. Men noe av det skylder vi långiverne: trekk fra 100 millioner i netto gjeld, så står vi igjen med 300 millioner til aksjonærene. Med 10 millioner aksjer blir det 300 delt på 10 – 30 kroner per aksje.
Dette er nøyaktig det som kalles «trading comps» – det deltakerne på WFP jobbet 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DCF står for Discounted Cash Flow – diskontert kontantstrøm. Intuisjonen er tidsverdien fra del 1: 100 kroner i dag er verdt mer enn 100 kroner om ett år, fordi du kunne investert dem i mellomtiden. Derfor «krymper» vi fremtidige penger tilbake til dagens verdi.
Formelen: nåverdi er kontantstrømmen delt på 1 pluss avkastningskravet, opphøyd i antall år.
Eksempel steg for steg: Selskapet tjener 100 millioner i året i tre år, og investorene krever 10 prosent avkastning. År 1: 100 delt på 1,10 er 90,9. År 2: 100 delt på 1,10 i andre, altså 1,21, er 82,6. År 3: 100 delt på 1,331 er 75,1. Summerer vi, blir verdien i dag 248,7 millioner – selv om selskapet totalt tjener 300.
I virkeligheten lager bankene prognoser for 5–10 år og legger til en terminalverdi for alle årene etterpå. Avkastningskravet er en av de viktigste antakelsene: høyere risiko gir høyere krav, og dermed lavere verdi i dag.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PRESENTØR 5 (del 5 og avslutning, ca. 5 min).
Vi har snakket mye om sellside. Nå ser vi på de som sitter med pengene – buyside.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Både VC og PE investerer i selskaper som ikke er børsnotert – men i helt ulike faser.
Venture capital går inn tidlig, i startups. De kjøper en minoritetsandel og vet at de fleste investeringene vil feile – men noen få store vinnere skal betale for resten. Investinor og Alliance Venture er norske eksempler.
Private equity kjøper modne selskaper med stabil inntjening, gjerne hele selskapet. De finansierer kjøpet med mye gjeld – det kalles et LBO, leveraged buyout. Så forbedrer de driften og selger etter 3–7 år, ofte gjennom en M&amp;A-prosess eller en IPO. FSN, Altor og Summa er store nordiske PE-hus.
Pengene kommer fra investorer som pensjonsfond og forsikringsselskaper, kalt LP-er. Forvalteren kalles GP og får en andel av gevinsten, kalt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Buyside er mer enn PE og VC. De største pengene ligger hos forvalterne: Oljefondet, som forvaltes av NBIM, eier en liten andel av nesten alle store børsnoterte selskaper i verden. Pensjons- og forsikringsselskaper som KLP og Storebrand investerer pensjonssparingen vår. Aksjefond som ODIN og DNB Asset Management samler sparepengene til mange personer. I tillegg finnes hedgefond og family offices.
Disse er kundene til sellside: det er dem meglerhusene ringer når de skal selge aksjer i en emisjon eller obligasjoner i et lån.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å samle trådene: ett og samme selskap kan møte hele bransjen. Det starter med venturekapital, vokser med hjelp fra et PE-fond, går på børs gjennom en IPO der ECM-teamet i banken leder prosessen, låner penger med hjelp fra DCM, og kjøper eller blir kjøpt med M&amp;A-rådgivere på begge sider.
Og i hvert eneste steg må noen svare på det samme spørsmålet: hva er selskapet verdt? Derfor er verdsettelse kjernen i hele bransjen.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er en jukselapp med de viktigste ordene fra i dag. Vi deler presentasjonen etterpå, så dere kan slå opp når et ord dukker opp i møter med samarbeidspartnere.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Takk for oss! Er det noe som var uklart, eller ord dere har hørt i møter som vi ikke har dekket?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FD_TITTEL">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FD_INNHOLD">
    <p:bg>
      <p:bgPr>
        <a:solidFill>
          <a:schemeClr val="bg1"/>
        </a:solidFill>
      </p:bgPr>
    </p:bg>
    <p:spTree>
      <p:nvGrpSpPr>
        <p:cNvPr id="1" name=""/>
        <p:cNvGrpSpPr/>
        <p:nvPr/>
      </p:nvGrpSpPr>
      <p:grpSpPr>
        <a:xfrm>
          <a:off x="0" y="0"/>
          <a:ext cx="0" cy="0"/>
          <a:chOff x="0" y="0"/>
          <a:chExt cx="0" cy="0"/>
        </a:xfrm>
      </p:grpSpPr>
      <p:pic>
        <p:nvPicPr>
          <p:cNvPr id="2" name="Image 0" descr="/tmp/claude-0/-home-user-B-RS/bc29adb1-953f-55c2-bb90-b9f7aff29f66/scratchpad/assets/logo_small_c.png">    </p:cNvPr>
          <p:cNvPicPr>
            <a:picLocks noChangeAspect="1"/>
          </p:cNvPicPr>
          <p:nvPr/>
        </p:nvPicPr>
        <p:blipFill>
          <a:blip r:embed="rId1"/>
          <a:stretch>
            <a:fillRect/>
          </a:stretch>
        </p:blipFill>
        <p:spPr>
          <a:xfrm>
            <a:off x="11018520" y="6199632"/>
            <a:ext cx="640080" cy="537667"/>
          </a:xfrm>
          <a:prstGeom prst="rect">
            <a:avLst/>
          </a:prstGeom>
        </p:spPr>
      </p:pic>
      <p:sp>
        <p:nvSpPr>
          <p:cNvPr id="3" name="Text 0"/>
          <p:cNvSpPr/>
          <p:nvPr>
            <p:ph idx="101" type="title" hasCustomPrompt="1"/>
          </p:nvPr>
        </p:nvSpPr>
        <p:spPr>
          <a:xfrm>
            <a:off x="548640" y="411480"/>
            <a:ext cx="10058400" cy="731520"/>
          </a:xfrm>
          <a:prstGeom prst="rect">
            <a:avLst/>
          </a:prstGeom>
          <a:noFill/>
          <a:ln/>
        </p:spPr>
        <p:txBody>
          <a:bodyPr wrap="square" rtlCol="0"/>
          <a:lstStyle>
            <a:lvl1pPr algn="l" indent="0" marL="0">
              <a:buNone/>
              <a:defRPr lang="en-US" sz="3200" b="1" dirty="0">
                <a:solidFill>
                  <a:schemeClr val="tx1"/>
                </a:solidFill>
                <a:latin typeface="+mj-lt" pitchFamily="34" charset="0"/>
                <a:ea typeface="+mj-lt" pitchFamily="34" charset="-122"/>
                <a:cs typeface="+mj-lt" pitchFamily="34" charset="-120"/>
              </a:defRPr>
            </a:lvl1pPr>
          </a:lstStyle>
          <a:p>
            <a:pPr algn="l" indent="0" marL="0">
              <a:buNone/>
            </a:pPr>
            <a:r>
              <a:rPr lang="en-US" sz="3200" b="1" dirty="0">
                <a:solidFill>
                  <a:schemeClr val="tx1"/>
                </a:solidFill>
                <a:latin typeface="+mj-lt" pitchFamily="34" charset="0"/>
                <a:ea typeface="+mj-lt" pitchFamily="34" charset="-122"/>
                <a:cs typeface="+mj-lt" pitchFamily="34" charset="-120"/>
              </a:rPr>
              <a:t>TITTEL</a:t>
            </a:r>
            <a:endParaRPr lang="en-US" sz="32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FD_SKILLEARK">
    <p:bg>
      <p:bgPr>
        <a:solidFill>
          <a:schemeClr val="bg1"/>
        </a:solidFill>
      </p:bgPr>
    </p:bg>
    <p:spTree>
      <p:nvGrpSpPr>
        <p:cNvPr id="1" name=""/>
        <p:cNvGrpSpPr/>
        <p:nvPr/>
      </p:nvGrpSpPr>
      <p:grpSpPr>
        <a:xfrm>
          <a:off x="0" y="0"/>
          <a:ext cx="0" cy="0"/>
          <a:chOff x="0" y="0"/>
          <a:chExt cx="0" cy="0"/>
        </a:xfrm>
      </p:grpSpPr>
      <p:pic>
        <p:nvPicPr>
          <p:cNvPr id="2" name="Image 0" descr="/tmp/claude-0/-home-user-B-RS/bc29adb1-953f-55c2-bb90-b9f7aff29f66/scratchpad/assets/bars_c.png">    </p:cNvPr>
          <p:cNvPicPr>
            <a:picLocks noChangeAspect="1"/>
          </p:cNvPicPr>
          <p:nvPr/>
        </p:nvPicPr>
        <p:blipFill>
          <a:blip r:embed="rId1"/>
          <a:stretch>
            <a:fillRect/>
          </a:stretch>
        </p:blipFill>
        <p:spPr>
          <a:xfrm>
            <a:off x="548640" y="5120640"/>
            <a:ext cx="2011680" cy="470002"/>
          </a:xfrm>
          <a:prstGeom prst="rect">
            <a:avLst/>
          </a:prstGeom>
        </p:spPr>
      </p:pic>
      <p:sp>
        <p:nvSpPr>
          <p:cNvPr id="3" name="Text 0"/>
          <p:cNvSpPr/>
          <p:nvPr>
            <p:ph idx="101" type="body" hasCustomPrompt="1"/>
          </p:nvPr>
        </p:nvSpPr>
        <p:spPr>
          <a:xfrm>
            <a:off x="548640" y="1783080"/>
            <a:ext cx="5486400" cy="411480"/>
          </a:xfrm>
          <a:prstGeom prst="rect">
            <a:avLst/>
          </a:prstGeom>
          <a:noFill/>
          <a:ln/>
        </p:spPr>
        <p:txBody>
          <a:bodyPr wrap="square" rtlCol="0"/>
          <a:lstStyle>
            <a:lvl1pPr algn="l" indent="0" marL="0">
              <a:buNone/>
              <a:defRPr lang="en-US" sz="1600" b="1" spc="600" kern="0" dirty="0">
                <a:solidFill>
                  <a:schemeClr val="accent1"/>
                </a:solidFill>
                <a:latin typeface="+mj-lt" pitchFamily="34" charset="0"/>
                <a:ea typeface="+mj-lt" pitchFamily="34" charset="-122"/>
                <a:cs typeface="+mj-lt" pitchFamily="34" charset="-120"/>
              </a:defRPr>
            </a:lvl1pPr>
          </a:lstStyle>
          <a:p>
            <a:pPr algn="l" indent="0" marL="0">
              <a:buNone/>
            </a:pPr>
            <a:r>
              <a:rPr lang="en-US" sz="1600" b="1" spc="600" kern="0" dirty="0">
                <a:solidFill>
                  <a:schemeClr val="accent1"/>
                </a:solidFill>
                <a:latin typeface="+mj-lt" pitchFamily="34" charset="0"/>
                <a:ea typeface="+mj-lt" pitchFamily="34" charset="-122"/>
                <a:cs typeface="+mj-lt" pitchFamily="34" charset="-120"/>
              </a:rPr>
              <a:t>DEL</a:t>
            </a:r>
            <a:endParaRPr lang="en-US" sz="1600" dirty="0"/>
          </a:p>
        </p:txBody>
      </p:sp>
      <p:sp>
        <p:nvSpPr>
          <p:cNvPr id="4" name="Text 0"/>
          <p:cNvSpPr/>
          <p:nvPr>
            <p:ph idx="102" type="title" hasCustomPrompt="1"/>
          </p:nvPr>
        </p:nvSpPr>
        <p:spPr>
          <a:xfrm>
            <a:off x="548640" y="2286000"/>
            <a:ext cx="5760720" cy="1508760"/>
          </a:xfrm>
          <a:prstGeom prst="rect">
            <a:avLst/>
          </a:prstGeom>
          <a:noFill/>
          <a:ln/>
        </p:spPr>
        <p:txBody>
          <a:bodyPr wrap="square" rtlCol="0"/>
          <a:lstStyle>
            <a:lvl1pPr algn="l" indent="0" marL="0">
              <a:buNone/>
              <a:defRPr lang="en-US" sz="4400" b="1" dirty="0">
                <a:solidFill>
                  <a:schemeClr val="tx1"/>
                </a:solidFill>
                <a:latin typeface="+mj-lt" pitchFamily="34" charset="0"/>
                <a:ea typeface="+mj-lt" pitchFamily="34" charset="-122"/>
                <a:cs typeface="+mj-lt" pitchFamily="34" charset="-120"/>
              </a:defRPr>
            </a:lvl1pPr>
          </a:lstStyle>
          <a:p>
            <a:pPr algn="l" indent="0" marL="0">
              <a:buNone/>
            </a:pPr>
            <a:r>
              <a:rPr lang="en-US" sz="4400" b="1" dirty="0">
                <a:solidFill>
                  <a:schemeClr val="tx1"/>
                </a:solidFill>
                <a:latin typeface="+mj-lt" pitchFamily="34" charset="0"/>
                <a:ea typeface="+mj-lt" pitchFamily="34" charset="-122"/>
                <a:cs typeface="+mj-lt" pitchFamily="34" charset="-120"/>
              </a:rPr>
              <a:t>TITTEL</a:t>
            </a:r>
            <a:endParaRPr lang="en-US" sz="4400" dirty="0"/>
          </a:p>
        </p:txBody>
      </p:sp>
      <p:sp>
        <p:nvSpPr>
          <p:cNvPr id="5" name="Text 0"/>
          <p:cNvSpPr/>
          <p:nvPr>
            <p:ph idx="103" type="body" hasCustomPrompt="1"/>
          </p:nvPr>
        </p:nvSpPr>
        <p:spPr>
          <a:xfrm>
            <a:off x="548640" y="3931920"/>
            <a:ext cx="5303520" cy="822960"/>
          </a:xfrm>
          <a:prstGeom prst="rect">
            <a:avLst/>
          </a:prstGeom>
          <a:noFill/>
          <a:ln/>
        </p:spPr>
        <p:txBody>
          <a:bodyPr wrap="square" rtlCol="0"/>
          <a:lstStyle>
            <a:lvl1pPr indent="0" marL="0">
              <a:buNone/>
              <a:defRPr lang="en-US" sz="1800" dirty="0">
                <a:solidFill>
                  <a:schemeClr val="tx2"/>
                </a:solidFill>
              </a:defRPr>
            </a:lvl1pPr>
          </a:lstStyle>
          <a:p>
            <a:pPr indent="0" marL="0">
              <a:buNone/>
            </a:pPr>
            <a:r>
              <a:rPr lang="en-US" sz="1800" dirty="0">
                <a:solidFill>
                  <a:schemeClr val="tx2"/>
                </a:solidFill>
              </a:rPr>
              <a:t>Undertittel</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8-1.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3.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3.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737360"/>
            <a:ext cx="6400800" cy="365760"/>
          </a:xfrm>
          <a:prstGeom prst="rect">
            <a:avLst/>
          </a:prstGeom>
          <a:noFill/>
          <a:ln/>
        </p:spPr>
        <p:txBody>
          <a:bodyPr wrap="square" lIns="0" tIns="0" rIns="0" bIns="0" rtlCol="0" anchor="t"/>
          <a:lstStyle/>
          <a:p>
            <a:pPr indent="0" marL="0">
              <a:buNone/>
            </a:pPr>
            <a:r>
              <a:rPr lang="en-US" sz="1500" b="1" spc="500" kern="0" dirty="0">
                <a:solidFill>
                  <a:schemeClr val="accent1"/>
                </a:solidFill>
                <a:latin typeface="+mj-lt" pitchFamily="34" charset="0"/>
                <a:ea typeface="+mj-lt" pitchFamily="34" charset="-122"/>
                <a:cs typeface="+mj-lt" pitchFamily="34" charset="-120"/>
              </a:rPr>
              <a:t>WFD-STYRET  ·  6. OKTOBER 2026</a:t>
            </a:r>
            <a:endParaRPr lang="en-US" sz="1500" dirty="0"/>
          </a:p>
        </p:txBody>
      </p:sp>
      <p:sp>
        <p:nvSpPr>
          <p:cNvPr id="3" name="Text 1"/>
          <p:cNvSpPr txBox="1"/>
          <p:nvPr/>
        </p:nvSpPr>
        <p:spPr>
          <a:xfrm>
            <a:off x="731520" y="2148840"/>
            <a:ext cx="6583680" cy="1280160"/>
          </a:xfrm>
          <a:prstGeom prst="rect">
            <a:avLst/>
          </a:prstGeom>
          <a:noFill/>
          <a:ln/>
        </p:spPr>
        <p:txBody>
          <a:bodyPr wrap="square" lIns="0" tIns="0" rIns="0" bIns="0" rtlCol="0" anchor="ctr"/>
          <a:lstStyle/>
          <a:p>
            <a:pPr indent="0" marL="0">
              <a:buNone/>
            </a:pPr>
            <a:r>
              <a:rPr lang="en-US" sz="8000" b="1" dirty="0">
                <a:solidFill>
                  <a:schemeClr val="tx1"/>
                </a:solidFill>
                <a:latin typeface="+mj-lt" pitchFamily="34" charset="0"/>
                <a:ea typeface="+mj-lt" pitchFamily="34" charset="-122"/>
                <a:cs typeface="+mj-lt" pitchFamily="34" charset="-120"/>
              </a:rPr>
              <a:t>FINANS 0.1</a:t>
            </a:r>
            <a:endParaRPr lang="en-US" sz="8000" dirty="0"/>
          </a:p>
        </p:txBody>
      </p:sp>
      <p:sp>
        <p:nvSpPr>
          <p:cNvPr id="4" name="Text 2"/>
          <p:cNvSpPr txBox="1"/>
          <p:nvPr/>
        </p:nvSpPr>
        <p:spPr>
          <a:xfrm>
            <a:off x="731520" y="3520440"/>
            <a:ext cx="5760720" cy="914400"/>
          </a:xfrm>
          <a:prstGeom prst="rect">
            <a:avLst/>
          </a:prstGeom>
          <a:noFill/>
          <a:ln/>
        </p:spPr>
        <p:txBody>
          <a:bodyPr wrap="square" lIns="0" tIns="0" rIns="0" bIns="0" rtlCol="0" anchor="t"/>
          <a:lstStyle/>
          <a:p>
            <a:pPr indent="0" marL="0">
              <a:buNone/>
            </a:pPr>
            <a:r>
              <a:rPr lang="en-US" sz="1800" dirty="0">
                <a:solidFill>
                  <a:schemeClr val="tx2"/>
                </a:solidFill>
              </a:rPr>
              <a:t>Alt du trenger for å henge med når vi snakker finans: hvem gjør hva, hva ordene betyr og hvordan alt henger sammen.</a:t>
            </a:r>
            <a:endParaRPr lang="en-US" sz="1800" dirty="0"/>
          </a:p>
        </p:txBody>
      </p:sp>
      <p:pic>
        <p:nvPicPr>
          <p:cNvPr id="5" name="Image 0" descr="/tmp/claude-0/-home-user-B-RS/bc29adb1-953f-55c2-bb90-b9f7aff29f66/scratchpad/assets/bars_c.png">    </p:cNvPr>
          <p:cNvPicPr>
            <a:picLocks noChangeAspect="1"/>
          </p:cNvPicPr>
          <p:nvPr/>
        </p:nvPicPr>
        <p:blipFill>
          <a:blip r:embed="rId1"/>
          <a:stretch>
            <a:fillRect/>
          </a:stretch>
        </p:blipFill>
        <p:spPr>
          <a:xfrm>
            <a:off x="731520" y="4754880"/>
            <a:ext cx="2011680" cy="470002"/>
          </a:xfrm>
          <a:prstGeom prst="rect">
            <a:avLst/>
          </a:prstGeom>
        </p:spPr>
      </p:pic>
      <p:pic>
        <p:nvPicPr>
          <p:cNvPr id="6" name="Image 1" descr="/tmp/claude-0/-home-user-B-RS/bc29adb1-953f-55c2-bb90-b9f7aff29f66/scratchpad/assets/logo_main.png">    </p:cNvPr>
          <p:cNvPicPr>
            <a:picLocks noChangeAspect="1"/>
          </p:cNvPicPr>
          <p:nvPr/>
        </p:nvPicPr>
        <p:blipFill>
          <a:blip r:embed="rId2"/>
          <a:stretch>
            <a:fillRect/>
          </a:stretch>
        </p:blipFill>
        <p:spPr>
          <a:xfrm>
            <a:off x="7223760" y="1737360"/>
            <a:ext cx="4206240" cy="3291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AGENDA</a:t>
            </a:r>
            <a:endParaRPr lang="en-US" sz="3200" dirty="0"/>
          </a:p>
        </p:txBody>
      </p:sp>
      <p:sp>
        <p:nvSpPr>
          <p:cNvPr id="3" name="Shape 1"/>
          <p:cNvSpPr/>
          <p:nvPr/>
        </p:nvSpPr>
        <p:spPr>
          <a:xfrm>
            <a:off x="548640" y="1417320"/>
            <a:ext cx="11064240" cy="749808"/>
          </a:xfrm>
          <a:prstGeom prst="roundRect">
            <a:avLst>
              <a:gd name="adj" fmla="val 9756"/>
            </a:avLst>
          </a:prstGeom>
          <a:solidFill>
            <a:schemeClr val="bg2"/>
          </a:solidFill>
          <a:ln/>
        </p:spPr>
      </p:sp>
      <p:sp>
        <p:nvSpPr>
          <p:cNvPr id="4" name="Text 2"/>
          <p:cNvSpPr txBox="1"/>
          <p:nvPr/>
        </p:nvSpPr>
        <p:spPr>
          <a:xfrm>
            <a:off x="822960" y="1417320"/>
            <a:ext cx="822960" cy="749808"/>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01</a:t>
            </a:r>
            <a:endParaRPr lang="en-US" sz="2800" dirty="0"/>
          </a:p>
        </p:txBody>
      </p:sp>
      <p:sp>
        <p:nvSpPr>
          <p:cNvPr id="5" name="Text 3"/>
          <p:cNvSpPr txBox="1"/>
          <p:nvPr/>
        </p:nvSpPr>
        <p:spPr>
          <a:xfrm>
            <a:off x="1783080" y="1417320"/>
            <a:ext cx="3840480" cy="749808"/>
          </a:xfrm>
          <a:prstGeom prst="rect">
            <a:avLst/>
          </a:prstGeom>
          <a:noFill/>
          <a:ln/>
        </p:spPr>
        <p:txBody>
          <a:bodyPr wrap="square" lIns="0" tIns="0" rIns="0" bIns="0" rtlCol="0" anchor="ctr"/>
          <a:lstStyle/>
          <a:p>
            <a:pPr indent="0" marL="0">
              <a:buNone/>
            </a:pPr>
            <a:r>
              <a:rPr lang="en-US" sz="2000" b="1" dirty="0">
                <a:solidFill>
                  <a:schemeClr val="tx1"/>
                </a:solidFill>
                <a:latin typeface="+mj-lt" pitchFamily="34" charset="0"/>
                <a:ea typeface="+mj-lt" pitchFamily="34" charset="-122"/>
                <a:cs typeface="+mj-lt" pitchFamily="34" charset="-120"/>
              </a:rPr>
              <a:t>GRUNNMUREN</a:t>
            </a:r>
            <a:endParaRPr lang="en-US" sz="2000" dirty="0"/>
          </a:p>
        </p:txBody>
      </p:sp>
      <p:sp>
        <p:nvSpPr>
          <p:cNvPr id="6" name="Text 4"/>
          <p:cNvSpPr txBox="1"/>
          <p:nvPr/>
        </p:nvSpPr>
        <p:spPr>
          <a:xfrm>
            <a:off x="5669280" y="1417320"/>
            <a:ext cx="4754880" cy="749808"/>
          </a:xfrm>
          <a:prstGeom prst="rect">
            <a:avLst/>
          </a:prstGeom>
          <a:noFill/>
          <a:ln/>
        </p:spPr>
        <p:txBody>
          <a:bodyPr wrap="square" lIns="0" tIns="0" rIns="0" bIns="0" rtlCol="0" anchor="ctr"/>
          <a:lstStyle/>
          <a:p>
            <a:pPr indent="0" marL="0">
              <a:buNone/>
            </a:pPr>
            <a:r>
              <a:rPr lang="en-US" sz="1500" dirty="0">
                <a:solidFill>
                  <a:schemeClr val="tx2"/>
                </a:solidFill>
              </a:rPr>
              <a:t>Hva er finans? Aksjer og obligasjoner</a:t>
            </a:r>
            <a:endParaRPr lang="en-US" sz="1500" dirty="0"/>
          </a:p>
        </p:txBody>
      </p:sp>
      <p:sp>
        <p:nvSpPr>
          <p:cNvPr id="7" name="Text 5"/>
          <p:cNvSpPr txBox="1"/>
          <p:nvPr/>
        </p:nvSpPr>
        <p:spPr>
          <a:xfrm>
            <a:off x="10378440" y="1417320"/>
            <a:ext cx="1005840" cy="749808"/>
          </a:xfrm>
          <a:prstGeom prst="rect">
            <a:avLst/>
          </a:prstGeom>
          <a:noFill/>
          <a:ln/>
        </p:spPr>
        <p:txBody>
          <a:bodyPr wrap="square" lIns="0" tIns="0" rIns="0" bIns="0" rtlCol="0" anchor="ctr"/>
          <a:lstStyle/>
          <a:p>
            <a:pPr algn="r" indent="0" marL="0">
              <a:buNone/>
            </a:pPr>
            <a:r>
              <a:rPr lang="en-US" sz="1400" dirty="0">
                <a:solidFill>
                  <a:schemeClr val="accent1"/>
                </a:solidFill>
              </a:rPr>
              <a:t>6 min</a:t>
            </a:r>
            <a:endParaRPr lang="en-US" sz="1400" dirty="0"/>
          </a:p>
        </p:txBody>
      </p:sp>
      <p:sp>
        <p:nvSpPr>
          <p:cNvPr id="8" name="Shape 6"/>
          <p:cNvSpPr/>
          <p:nvPr/>
        </p:nvSpPr>
        <p:spPr>
          <a:xfrm>
            <a:off x="548640" y="2331720"/>
            <a:ext cx="11064240" cy="749808"/>
          </a:xfrm>
          <a:prstGeom prst="roundRect">
            <a:avLst>
              <a:gd name="adj" fmla="val 9756"/>
            </a:avLst>
          </a:prstGeom>
          <a:solidFill>
            <a:schemeClr val="bg2"/>
          </a:solidFill>
          <a:ln/>
        </p:spPr>
      </p:sp>
      <p:sp>
        <p:nvSpPr>
          <p:cNvPr id="9" name="Text 7"/>
          <p:cNvSpPr txBox="1"/>
          <p:nvPr/>
        </p:nvSpPr>
        <p:spPr>
          <a:xfrm>
            <a:off x="822960" y="2331720"/>
            <a:ext cx="822960" cy="749808"/>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02</a:t>
            </a:r>
            <a:endParaRPr lang="en-US" sz="2800" dirty="0"/>
          </a:p>
        </p:txBody>
      </p:sp>
      <p:sp>
        <p:nvSpPr>
          <p:cNvPr id="10" name="Text 8"/>
          <p:cNvSpPr txBox="1"/>
          <p:nvPr/>
        </p:nvSpPr>
        <p:spPr>
          <a:xfrm>
            <a:off x="1783080" y="2331720"/>
            <a:ext cx="3840480" cy="749808"/>
          </a:xfrm>
          <a:prstGeom prst="rect">
            <a:avLst/>
          </a:prstGeom>
          <a:noFill/>
          <a:ln/>
        </p:spPr>
        <p:txBody>
          <a:bodyPr wrap="square" lIns="0" tIns="0" rIns="0" bIns="0" rtlCol="0" anchor="ctr"/>
          <a:lstStyle/>
          <a:p>
            <a:pPr indent="0" marL="0">
              <a:buNone/>
            </a:pPr>
            <a:r>
              <a:rPr lang="en-US" sz="2000" b="1" dirty="0">
                <a:solidFill>
                  <a:schemeClr val="tx1"/>
                </a:solidFill>
                <a:latin typeface="+mj-lt" pitchFamily="34" charset="0"/>
                <a:ea typeface="+mj-lt" pitchFamily="34" charset="-122"/>
                <a:cs typeface="+mj-lt" pitchFamily="34" charset="-120"/>
              </a:rPr>
              <a:t>KARTET OVER BRANSJEN</a:t>
            </a:r>
            <a:endParaRPr lang="en-US" sz="2000" dirty="0"/>
          </a:p>
        </p:txBody>
      </p:sp>
      <p:sp>
        <p:nvSpPr>
          <p:cNvPr id="11" name="Text 9"/>
          <p:cNvSpPr txBox="1"/>
          <p:nvPr/>
        </p:nvSpPr>
        <p:spPr>
          <a:xfrm>
            <a:off x="5669280" y="2331720"/>
            <a:ext cx="4754880" cy="749808"/>
          </a:xfrm>
          <a:prstGeom prst="rect">
            <a:avLst/>
          </a:prstGeom>
          <a:noFill/>
          <a:ln/>
        </p:spPr>
        <p:txBody>
          <a:bodyPr wrap="square" lIns="0" tIns="0" rIns="0" bIns="0" rtlCol="0" anchor="ctr"/>
          <a:lstStyle/>
          <a:p>
            <a:pPr indent="0" marL="0">
              <a:buNone/>
            </a:pPr>
            <a:r>
              <a:rPr lang="en-US" sz="1500" dirty="0">
                <a:solidFill>
                  <a:schemeClr val="tx2"/>
                </a:solidFill>
              </a:rPr>
              <a:t>Sellside og buyside – hvem gjør hva?</a:t>
            </a:r>
            <a:endParaRPr lang="en-US" sz="1500" dirty="0"/>
          </a:p>
        </p:txBody>
      </p:sp>
      <p:sp>
        <p:nvSpPr>
          <p:cNvPr id="12" name="Text 10"/>
          <p:cNvSpPr txBox="1"/>
          <p:nvPr/>
        </p:nvSpPr>
        <p:spPr>
          <a:xfrm>
            <a:off x="10378440" y="2331720"/>
            <a:ext cx="1005840" cy="749808"/>
          </a:xfrm>
          <a:prstGeom prst="rect">
            <a:avLst/>
          </a:prstGeom>
          <a:noFill/>
          <a:ln/>
        </p:spPr>
        <p:txBody>
          <a:bodyPr wrap="square" lIns="0" tIns="0" rIns="0" bIns="0" rtlCol="0" anchor="ctr"/>
          <a:lstStyle/>
          <a:p>
            <a:pPr algn="r" indent="0" marL="0">
              <a:buNone/>
            </a:pPr>
            <a:r>
              <a:rPr lang="en-US" sz="1400" dirty="0">
                <a:solidFill>
                  <a:schemeClr val="accent1"/>
                </a:solidFill>
              </a:rPr>
              <a:t>4 min</a:t>
            </a:r>
            <a:endParaRPr lang="en-US" sz="1400" dirty="0"/>
          </a:p>
        </p:txBody>
      </p:sp>
      <p:sp>
        <p:nvSpPr>
          <p:cNvPr id="13" name="Shape 11"/>
          <p:cNvSpPr/>
          <p:nvPr/>
        </p:nvSpPr>
        <p:spPr>
          <a:xfrm>
            <a:off x="548640" y="3246120"/>
            <a:ext cx="11064240" cy="749808"/>
          </a:xfrm>
          <a:prstGeom prst="roundRect">
            <a:avLst>
              <a:gd name="adj" fmla="val 9756"/>
            </a:avLst>
          </a:prstGeom>
          <a:solidFill>
            <a:schemeClr val="bg2"/>
          </a:solidFill>
          <a:ln/>
        </p:spPr>
      </p:sp>
      <p:sp>
        <p:nvSpPr>
          <p:cNvPr id="14" name="Text 12"/>
          <p:cNvSpPr txBox="1"/>
          <p:nvPr/>
        </p:nvSpPr>
        <p:spPr>
          <a:xfrm>
            <a:off x="822960" y="3246120"/>
            <a:ext cx="822960" cy="749808"/>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03</a:t>
            </a:r>
            <a:endParaRPr lang="en-US" sz="2800" dirty="0"/>
          </a:p>
        </p:txBody>
      </p:sp>
      <p:sp>
        <p:nvSpPr>
          <p:cNvPr id="15" name="Text 13"/>
          <p:cNvSpPr txBox="1"/>
          <p:nvPr/>
        </p:nvSpPr>
        <p:spPr>
          <a:xfrm>
            <a:off x="1783080" y="3246120"/>
            <a:ext cx="3840480" cy="749808"/>
          </a:xfrm>
          <a:prstGeom prst="rect">
            <a:avLst/>
          </a:prstGeom>
          <a:noFill/>
          <a:ln/>
        </p:spPr>
        <p:txBody>
          <a:bodyPr wrap="square" lIns="0" tIns="0" rIns="0" bIns="0" rtlCol="0" anchor="ctr"/>
          <a:lstStyle/>
          <a:p>
            <a:pPr indent="0" marL="0">
              <a:buNone/>
            </a:pPr>
            <a:r>
              <a:rPr lang="en-US" sz="2000" b="1" dirty="0">
                <a:solidFill>
                  <a:schemeClr val="tx1"/>
                </a:solidFill>
                <a:latin typeface="+mj-lt" pitchFamily="34" charset="0"/>
                <a:ea typeface="+mj-lt" pitchFamily="34" charset="-122"/>
                <a:cs typeface="+mj-lt" pitchFamily="34" charset="-120"/>
              </a:rPr>
              <a:t>INVESTERINGSBANKEN</a:t>
            </a:r>
            <a:endParaRPr lang="en-US" sz="2000" dirty="0"/>
          </a:p>
        </p:txBody>
      </p:sp>
      <p:sp>
        <p:nvSpPr>
          <p:cNvPr id="16" name="Text 14"/>
          <p:cNvSpPr txBox="1"/>
          <p:nvPr/>
        </p:nvSpPr>
        <p:spPr>
          <a:xfrm>
            <a:off x="5669280" y="3246120"/>
            <a:ext cx="4754880" cy="749808"/>
          </a:xfrm>
          <a:prstGeom prst="rect">
            <a:avLst/>
          </a:prstGeom>
          <a:noFill/>
          <a:ln/>
        </p:spPr>
        <p:txBody>
          <a:bodyPr wrap="square" lIns="0" tIns="0" rIns="0" bIns="0" rtlCol="0" anchor="ctr"/>
          <a:lstStyle/>
          <a:p>
            <a:pPr indent="0" marL="0">
              <a:buNone/>
            </a:pPr>
            <a:r>
              <a:rPr lang="en-US" sz="1500" dirty="0">
                <a:solidFill>
                  <a:schemeClr val="tx2"/>
                </a:solidFill>
              </a:rPr>
              <a:t>IB, ECM, DCM, M&amp;A og analytikeren</a:t>
            </a:r>
            <a:endParaRPr lang="en-US" sz="1500" dirty="0"/>
          </a:p>
        </p:txBody>
      </p:sp>
      <p:sp>
        <p:nvSpPr>
          <p:cNvPr id="17" name="Text 15"/>
          <p:cNvSpPr txBox="1"/>
          <p:nvPr/>
        </p:nvSpPr>
        <p:spPr>
          <a:xfrm>
            <a:off x="10378440" y="3246120"/>
            <a:ext cx="1005840" cy="749808"/>
          </a:xfrm>
          <a:prstGeom prst="rect">
            <a:avLst/>
          </a:prstGeom>
          <a:noFill/>
          <a:ln/>
        </p:spPr>
        <p:txBody>
          <a:bodyPr wrap="square" lIns="0" tIns="0" rIns="0" bIns="0" rtlCol="0" anchor="ctr"/>
          <a:lstStyle/>
          <a:p>
            <a:pPr algn="r" indent="0" marL="0">
              <a:buNone/>
            </a:pPr>
            <a:r>
              <a:rPr lang="en-US" sz="1400" dirty="0">
                <a:solidFill>
                  <a:schemeClr val="accent1"/>
                </a:solidFill>
              </a:rPr>
              <a:t>8 min</a:t>
            </a:r>
            <a:endParaRPr lang="en-US" sz="1400" dirty="0"/>
          </a:p>
        </p:txBody>
      </p:sp>
      <p:sp>
        <p:nvSpPr>
          <p:cNvPr id="18" name="Shape 16"/>
          <p:cNvSpPr/>
          <p:nvPr/>
        </p:nvSpPr>
        <p:spPr>
          <a:xfrm>
            <a:off x="548640" y="4160520"/>
            <a:ext cx="11064240" cy="749808"/>
          </a:xfrm>
          <a:prstGeom prst="roundRect">
            <a:avLst>
              <a:gd name="adj" fmla="val 9756"/>
            </a:avLst>
          </a:prstGeom>
          <a:solidFill>
            <a:schemeClr val="bg2"/>
          </a:solidFill>
          <a:ln/>
        </p:spPr>
      </p:sp>
      <p:sp>
        <p:nvSpPr>
          <p:cNvPr id="19" name="Text 17"/>
          <p:cNvSpPr txBox="1"/>
          <p:nvPr/>
        </p:nvSpPr>
        <p:spPr>
          <a:xfrm>
            <a:off x="822960" y="4160520"/>
            <a:ext cx="822960" cy="749808"/>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04</a:t>
            </a:r>
            <a:endParaRPr lang="en-US" sz="2800" dirty="0"/>
          </a:p>
        </p:txBody>
      </p:sp>
      <p:sp>
        <p:nvSpPr>
          <p:cNvPr id="20" name="Text 18"/>
          <p:cNvSpPr txBox="1"/>
          <p:nvPr/>
        </p:nvSpPr>
        <p:spPr>
          <a:xfrm>
            <a:off x="1783080" y="4160520"/>
            <a:ext cx="3840480" cy="749808"/>
          </a:xfrm>
          <a:prstGeom prst="rect">
            <a:avLst/>
          </a:prstGeom>
          <a:noFill/>
          <a:ln/>
        </p:spPr>
        <p:txBody>
          <a:bodyPr wrap="square" lIns="0" tIns="0" rIns="0" bIns="0" rtlCol="0" anchor="ctr"/>
          <a:lstStyle/>
          <a:p>
            <a:pPr indent="0" marL="0">
              <a:buNone/>
            </a:pPr>
            <a:r>
              <a:rPr lang="en-US" sz="2000" b="1" dirty="0">
                <a:solidFill>
                  <a:schemeClr val="tx1"/>
                </a:solidFill>
                <a:latin typeface="+mj-lt" pitchFamily="34" charset="0"/>
                <a:ea typeface="+mj-lt" pitchFamily="34" charset="-122"/>
                <a:cs typeface="+mj-lt" pitchFamily="34" charset="-120"/>
              </a:rPr>
              <a:t>VERDSETTELSE</a:t>
            </a:r>
            <a:endParaRPr lang="en-US" sz="2000" dirty="0"/>
          </a:p>
        </p:txBody>
      </p:sp>
      <p:sp>
        <p:nvSpPr>
          <p:cNvPr id="21" name="Text 19"/>
          <p:cNvSpPr txBox="1"/>
          <p:nvPr/>
        </p:nvSpPr>
        <p:spPr>
          <a:xfrm>
            <a:off x="5669280" y="4160520"/>
            <a:ext cx="4754880" cy="749808"/>
          </a:xfrm>
          <a:prstGeom prst="rect">
            <a:avLst/>
          </a:prstGeom>
          <a:noFill/>
          <a:ln/>
        </p:spPr>
        <p:txBody>
          <a:bodyPr wrap="square" lIns="0" tIns="0" rIns="0" bIns="0" rtlCol="0" anchor="ctr"/>
          <a:lstStyle/>
          <a:p>
            <a:pPr indent="0" marL="0">
              <a:buNone/>
            </a:pPr>
            <a:r>
              <a:rPr lang="en-US" sz="1500" dirty="0">
                <a:solidFill>
                  <a:schemeClr val="tx2"/>
                </a:solidFill>
              </a:rPr>
              <a:t>Multipler og DCF – og hvorfor bankene trenger dem</a:t>
            </a:r>
            <a:endParaRPr lang="en-US" sz="1500" dirty="0"/>
          </a:p>
        </p:txBody>
      </p:sp>
      <p:sp>
        <p:nvSpPr>
          <p:cNvPr id="22" name="Text 20"/>
          <p:cNvSpPr txBox="1"/>
          <p:nvPr/>
        </p:nvSpPr>
        <p:spPr>
          <a:xfrm>
            <a:off x="10378440" y="4160520"/>
            <a:ext cx="1005840" cy="749808"/>
          </a:xfrm>
          <a:prstGeom prst="rect">
            <a:avLst/>
          </a:prstGeom>
          <a:noFill/>
          <a:ln/>
        </p:spPr>
        <p:txBody>
          <a:bodyPr wrap="square" lIns="0" tIns="0" rIns="0" bIns="0" rtlCol="0" anchor="ctr"/>
          <a:lstStyle/>
          <a:p>
            <a:pPr algn="r" indent="0" marL="0">
              <a:buNone/>
            </a:pPr>
            <a:r>
              <a:rPr lang="en-US" sz="1400" dirty="0">
                <a:solidFill>
                  <a:schemeClr val="accent1"/>
                </a:solidFill>
              </a:rPr>
              <a:t>7 min</a:t>
            </a:r>
            <a:endParaRPr lang="en-US" sz="1400" dirty="0"/>
          </a:p>
        </p:txBody>
      </p:sp>
      <p:sp>
        <p:nvSpPr>
          <p:cNvPr id="23" name="Shape 21"/>
          <p:cNvSpPr/>
          <p:nvPr/>
        </p:nvSpPr>
        <p:spPr>
          <a:xfrm>
            <a:off x="548640" y="5074920"/>
            <a:ext cx="11064240" cy="749808"/>
          </a:xfrm>
          <a:prstGeom prst="roundRect">
            <a:avLst>
              <a:gd name="adj" fmla="val 9756"/>
            </a:avLst>
          </a:prstGeom>
          <a:solidFill>
            <a:schemeClr val="bg2"/>
          </a:solidFill>
          <a:ln/>
        </p:spPr>
      </p:sp>
      <p:sp>
        <p:nvSpPr>
          <p:cNvPr id="24" name="Text 22"/>
          <p:cNvSpPr txBox="1"/>
          <p:nvPr/>
        </p:nvSpPr>
        <p:spPr>
          <a:xfrm>
            <a:off x="822960" y="5074920"/>
            <a:ext cx="822960" cy="749808"/>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05</a:t>
            </a:r>
            <a:endParaRPr lang="en-US" sz="2800" dirty="0"/>
          </a:p>
        </p:txBody>
      </p:sp>
      <p:sp>
        <p:nvSpPr>
          <p:cNvPr id="25" name="Text 23"/>
          <p:cNvSpPr txBox="1"/>
          <p:nvPr/>
        </p:nvSpPr>
        <p:spPr>
          <a:xfrm>
            <a:off x="1783080" y="5074920"/>
            <a:ext cx="3840480" cy="749808"/>
          </a:xfrm>
          <a:prstGeom prst="rect">
            <a:avLst/>
          </a:prstGeom>
          <a:noFill/>
          <a:ln/>
        </p:spPr>
        <p:txBody>
          <a:bodyPr wrap="square" lIns="0" tIns="0" rIns="0" bIns="0" rtlCol="0" anchor="ctr"/>
          <a:lstStyle/>
          <a:p>
            <a:pPr indent="0" marL="0">
              <a:buNone/>
            </a:pPr>
            <a:r>
              <a:rPr lang="en-US" sz="2000" b="1" dirty="0">
                <a:solidFill>
                  <a:schemeClr val="tx1"/>
                </a:solidFill>
                <a:latin typeface="+mj-lt" pitchFamily="34" charset="0"/>
                <a:ea typeface="+mj-lt" pitchFamily="34" charset="-122"/>
                <a:cs typeface="+mj-lt" pitchFamily="34" charset="-120"/>
              </a:rPr>
              <a:t>BUYSIDE</a:t>
            </a:r>
            <a:endParaRPr lang="en-US" sz="2000" dirty="0"/>
          </a:p>
        </p:txBody>
      </p:sp>
      <p:sp>
        <p:nvSpPr>
          <p:cNvPr id="26" name="Text 24"/>
          <p:cNvSpPr txBox="1"/>
          <p:nvPr/>
        </p:nvSpPr>
        <p:spPr>
          <a:xfrm>
            <a:off x="5669280" y="5074920"/>
            <a:ext cx="4754880" cy="749808"/>
          </a:xfrm>
          <a:prstGeom prst="rect">
            <a:avLst/>
          </a:prstGeom>
          <a:noFill/>
          <a:ln/>
        </p:spPr>
        <p:txBody>
          <a:bodyPr wrap="square" lIns="0" tIns="0" rIns="0" bIns="0" rtlCol="0" anchor="ctr"/>
          <a:lstStyle/>
          <a:p>
            <a:pPr indent="0" marL="0">
              <a:buNone/>
            </a:pPr>
            <a:r>
              <a:rPr lang="en-US" sz="1500" dirty="0">
                <a:solidFill>
                  <a:schemeClr val="tx2"/>
                </a:solidFill>
              </a:rPr>
              <a:t>PE, VC og fond – og hvordan alt henger sammen</a:t>
            </a:r>
            <a:endParaRPr lang="en-US" sz="1500" dirty="0"/>
          </a:p>
        </p:txBody>
      </p:sp>
      <p:sp>
        <p:nvSpPr>
          <p:cNvPr id="27" name="Text 25"/>
          <p:cNvSpPr txBox="1"/>
          <p:nvPr/>
        </p:nvSpPr>
        <p:spPr>
          <a:xfrm>
            <a:off x="10378440" y="5074920"/>
            <a:ext cx="1005840" cy="749808"/>
          </a:xfrm>
          <a:prstGeom prst="rect">
            <a:avLst/>
          </a:prstGeom>
          <a:noFill/>
          <a:ln/>
        </p:spPr>
        <p:txBody>
          <a:bodyPr wrap="square" lIns="0" tIns="0" rIns="0" bIns="0" rtlCol="0" anchor="ctr"/>
          <a:lstStyle/>
          <a:p>
            <a:pPr algn="r" indent="0" marL="0">
              <a:buNone/>
            </a:pPr>
            <a:r>
              <a:rPr lang="en-US" sz="1400" dirty="0">
                <a:solidFill>
                  <a:schemeClr val="accent1"/>
                </a:solidFill>
              </a:rPr>
              <a:t>5 min</a:t>
            </a:r>
            <a:endParaRPr lang="en-US" sz="1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Foto" descr="/tmp/claude-0/-home-user-B-RS/bc29adb1-953f-55c2-bb90-b9f7aff29f66/scratchpad/assets/lecture.jpg">    </p:cNvPr>
          <p:cNvPicPr>
            <a:picLocks noChangeAspect="1"/>
          </p:cNvPicPr>
          <p:nvPr/>
        </p:nvPicPr>
        <p:blipFill>
          <a:blip r:embed="rId1"/>
          <a:srcRect l="0" r="0" t="0" b="0"/>
          <a:stretch/>
        </p:blipFill>
        <p:spPr>
          <a:xfrm>
            <a:off x="6675120" y="0"/>
            <a:ext cx="5516575" cy="6858000"/>
          </a:xfrm>
          <a:prstGeom prst="rect">
            <a:avLst/>
          </a:prstGeom>
        </p:spPr>
      </p:pic>
      <p:sp>
        <p:nvSpPr>
          <p:cNvPr id="3" name="Diagonal"/>
          <p:cNvSpPr/>
          <p:nvPr/>
        </p:nvSpPr>
        <p:spPr>
          <a:xfrm flipV="1">
            <a:off x="6665976" y="-9144"/>
            <a:ext cx="2743200" cy="6876288"/>
          </a:xfrm>
          <a:prstGeom prst="rtTriangle">
            <a:avLst/>
          </a:prstGeom>
          <a:solidFill>
            <a:schemeClr val="bg1"/>
          </a:solidFill>
          <a:ln/>
        </p:spPr>
      </p:sp>
      <p:sp>
        <p:nvSpPr>
          <p:cNvPr id="4" name="Gul linje"/>
          <p:cNvSpPr/>
          <p:nvPr/>
        </p:nvSpPr>
        <p:spPr>
          <a:xfrm flipH="1">
            <a:off x="6675120" y="0"/>
            <a:ext cx="2743200" cy="6858000"/>
          </a:xfrm>
          <a:prstGeom prst="line">
            <a:avLst/>
          </a:prstGeom>
          <a:noFill/>
          <a:ln w="38100">
            <a:solidFill>
              <a:schemeClr val="accent1"/>
            </a:solidFill>
            <a:prstDash val="solid"/>
          </a:ln>
        </p:spPr>
      </p:sp>
      <p:sp>
        <p:nvSpPr>
          <p:cNvPr id="5" name="Text 0"/>
          <p:cNvSpPr/>
          <p:nvPr>
            <p:ph idx="101" type="body" hasCustomPrompt="1"/>
          </p:nvPr>
        </p:nvSpPr>
        <p:spPr>
          <a:xfrm>
            <a:off x="548640" y="1783080"/>
            <a:ext cx="5486400" cy="411480"/>
          </a:xfrm>
          <a:prstGeom prst="rect">
            <a:avLst/>
          </a:prstGeom>
          <a:noFill/>
          <a:ln/>
        </p:spPr>
        <p:txBody>
          <a:bodyPr wrap="square" lIns="0" tIns="0" rIns="0" bIns="0" rtlCol="0"/>
          <a:lstStyle/>
          <a:p>
            <a:pPr algn="l" indent="0" marL="0">
              <a:buNone/>
            </a:pPr>
            <a:r>
              <a:rPr lang="en-US" sz="1600" b="1" spc="600" kern="0" dirty="0">
                <a:solidFill>
                  <a:schemeClr val="accent1"/>
                </a:solidFill>
                <a:latin typeface="+mj-lt" pitchFamily="34" charset="0"/>
                <a:ea typeface="+mj-lt" pitchFamily="34" charset="-122"/>
                <a:cs typeface="+mj-lt" pitchFamily="34" charset="-120"/>
              </a:rPr>
              <a:t>DEL 1</a:t>
            </a:r>
            <a:endParaRPr lang="en-US" sz="1600" dirty="0"/>
          </a:p>
        </p:txBody>
      </p:sp>
      <p:sp>
        <p:nvSpPr>
          <p:cNvPr id="6" name="Text 0"/>
          <p:cNvSpPr/>
          <p:nvPr>
            <p:ph idx="102" type="title" hasCustomPrompt="1"/>
          </p:nvPr>
        </p:nvSpPr>
        <p:spPr>
          <a:xfrm>
            <a:off x="548640" y="2286000"/>
            <a:ext cx="5760720" cy="1508760"/>
          </a:xfrm>
          <a:prstGeom prst="rect">
            <a:avLst/>
          </a:prstGeom>
          <a:noFill/>
          <a:ln/>
        </p:spPr>
        <p:txBody>
          <a:bodyPr wrap="square" lIns="0" tIns="0" rIns="0" bIns="0" rtlCol="0" anchor="t"/>
          <a:lstStyle/>
          <a:p>
            <a:pPr algn="l" indent="0" marL="0">
              <a:buNone/>
            </a:pPr>
            <a:r>
              <a:rPr lang="en-US" sz="4400" b="1" dirty="0">
                <a:solidFill>
                  <a:schemeClr val="tx1"/>
                </a:solidFill>
                <a:latin typeface="+mj-lt" pitchFamily="34" charset="0"/>
                <a:ea typeface="+mj-lt" pitchFamily="34" charset="-122"/>
                <a:cs typeface="+mj-lt" pitchFamily="34" charset="-120"/>
              </a:rPr>
              <a:t>GRUNNMUREN</a:t>
            </a:r>
            <a:endParaRPr lang="en-US" sz="4400" dirty="0"/>
          </a:p>
        </p:txBody>
      </p:sp>
      <p:sp>
        <p:nvSpPr>
          <p:cNvPr id="7" name="Text 0"/>
          <p:cNvSpPr/>
          <p:nvPr>
            <p:ph idx="103" type="body" hasCustomPrompt="1"/>
          </p:nvPr>
        </p:nvSpPr>
        <p:spPr>
          <a:xfrm>
            <a:off x="548640" y="3931920"/>
            <a:ext cx="5303520" cy="822960"/>
          </a:xfrm>
          <a:prstGeom prst="rect">
            <a:avLst/>
          </a:prstGeom>
          <a:noFill/>
          <a:ln/>
        </p:spPr>
        <p:txBody>
          <a:bodyPr wrap="square" lIns="0" tIns="0" rIns="0" bIns="0" rtlCol="0" anchor="t"/>
          <a:lstStyle/>
          <a:p>
            <a:pPr indent="0" marL="0">
              <a:buNone/>
            </a:pPr>
            <a:r>
              <a:rPr lang="en-US" sz="1800" dirty="0">
                <a:solidFill>
                  <a:schemeClr val="tx2"/>
                </a:solidFill>
              </a:rPr>
              <a:t>Hva er finans – og hva er egentlig en aksje og en obligasjon?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HVA ER FINANS?</a:t>
            </a:r>
            <a:endParaRPr lang="en-US" sz="3200" dirty="0"/>
          </a:p>
        </p:txBody>
      </p:sp>
      <p:sp>
        <p:nvSpPr>
          <p:cNvPr id="3" name="Text 1"/>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700" dirty="0">
                <a:solidFill>
                  <a:schemeClr val="tx2"/>
                </a:solidFill>
              </a:rPr>
              <a:t>Finans handler om å flytte penger fra de som har, til de som trenger dem – mot en pris for tid og risiko.</a:t>
            </a:r>
            <a:endParaRPr lang="en-US" sz="1700" dirty="0"/>
          </a:p>
        </p:txBody>
      </p:sp>
      <p:sp>
        <p:nvSpPr>
          <p:cNvPr id="4" name="Shape 2"/>
          <p:cNvSpPr/>
          <p:nvPr/>
        </p:nvSpPr>
        <p:spPr>
          <a:xfrm>
            <a:off x="548640" y="1920240"/>
            <a:ext cx="3383280" cy="2103120"/>
          </a:xfrm>
          <a:prstGeom prst="roundRect">
            <a:avLst>
              <a:gd name="adj" fmla="val 3478"/>
            </a:avLst>
          </a:prstGeom>
          <a:solidFill>
            <a:schemeClr val="bg2"/>
          </a:solidFill>
          <a:ln/>
        </p:spPr>
      </p:sp>
      <p:pic>
        <p:nvPicPr>
          <p:cNvPr id="5" name="Image 0" descr="preencoded.png">    </p:cNvPr>
          <p:cNvPicPr>
            <a:picLocks noChangeAspect="1"/>
          </p:cNvPicPr>
          <p:nvPr/>
        </p:nvPicPr>
        <p:blipFill>
          <a:blip r:embed="rId1"/>
          <a:stretch>
            <a:fillRect/>
          </a:stretch>
        </p:blipFill>
        <p:spPr>
          <a:xfrm>
            <a:off x="822960" y="2148840"/>
            <a:ext cx="502920" cy="502920"/>
          </a:xfrm>
          <a:prstGeom prst="rect">
            <a:avLst/>
          </a:prstGeom>
        </p:spPr>
      </p:pic>
      <p:sp>
        <p:nvSpPr>
          <p:cNvPr id="6" name="Text 3"/>
          <p:cNvSpPr txBox="1"/>
          <p:nvPr/>
        </p:nvSpPr>
        <p:spPr>
          <a:xfrm>
            <a:off x="822960" y="2788920"/>
            <a:ext cx="292608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SPARERE OG INVESTORER</a:t>
            </a:r>
            <a:endParaRPr lang="en-US" sz="1700" dirty="0"/>
          </a:p>
        </p:txBody>
      </p:sp>
      <p:sp>
        <p:nvSpPr>
          <p:cNvPr id="7" name="Text 4"/>
          <p:cNvSpPr txBox="1"/>
          <p:nvPr/>
        </p:nvSpPr>
        <p:spPr>
          <a:xfrm>
            <a:off x="822960" y="3154680"/>
            <a:ext cx="2926080" cy="822960"/>
          </a:xfrm>
          <a:prstGeom prst="rect">
            <a:avLst/>
          </a:prstGeom>
          <a:noFill/>
          <a:ln/>
        </p:spPr>
        <p:txBody>
          <a:bodyPr wrap="square" lIns="0" tIns="0" rIns="0" bIns="0" rtlCol="0" anchor="t"/>
          <a:lstStyle/>
          <a:p>
            <a:pPr indent="0" marL="0">
              <a:buNone/>
            </a:pPr>
            <a:r>
              <a:rPr lang="en-US" sz="1300" dirty="0">
                <a:solidFill>
                  <a:schemeClr val="tx2"/>
                </a:solidFill>
              </a:rPr>
              <a:t>Har penger de vil ha avkastning på.</a:t>
            </a:r>
            <a:endParaRPr lang="en-US" sz="1300" dirty="0"/>
          </a:p>
          <a:p>
            <a:pPr indent="0" marL="0">
              <a:buNone/>
            </a:pPr>
            <a:r>
              <a:rPr lang="en-US" sz="1300" dirty="0">
                <a:solidFill>
                  <a:schemeClr val="tx2"/>
                </a:solidFill>
              </a:rPr>
              <a:t>Deg med BSU, pensjonsfond, Oljefondet.</a:t>
            </a:r>
            <a:endParaRPr lang="en-US" sz="1300" dirty="0"/>
          </a:p>
        </p:txBody>
      </p:sp>
      <p:sp>
        <p:nvSpPr>
          <p:cNvPr id="8" name="Shape 5"/>
          <p:cNvSpPr/>
          <p:nvPr/>
        </p:nvSpPr>
        <p:spPr>
          <a:xfrm>
            <a:off x="4389120" y="1920240"/>
            <a:ext cx="3383280" cy="2103120"/>
          </a:xfrm>
          <a:prstGeom prst="roundRect">
            <a:avLst>
              <a:gd name="adj" fmla="val 3478"/>
            </a:avLst>
          </a:prstGeom>
          <a:solidFill>
            <a:schemeClr val="bg2"/>
          </a:solidFill>
          <a:ln/>
        </p:spPr>
      </p:sp>
      <p:pic>
        <p:nvPicPr>
          <p:cNvPr id="9" name="Image 1" descr="preencoded.png">    </p:cNvPr>
          <p:cNvPicPr>
            <a:picLocks noChangeAspect="1"/>
          </p:cNvPicPr>
          <p:nvPr/>
        </p:nvPicPr>
        <p:blipFill>
          <a:blip r:embed="rId2"/>
          <a:stretch>
            <a:fillRect/>
          </a:stretch>
        </p:blipFill>
        <p:spPr>
          <a:xfrm>
            <a:off x="4663440" y="2148840"/>
            <a:ext cx="502920" cy="502920"/>
          </a:xfrm>
          <a:prstGeom prst="rect">
            <a:avLst/>
          </a:prstGeom>
        </p:spPr>
      </p:pic>
      <p:sp>
        <p:nvSpPr>
          <p:cNvPr id="10" name="Text 6"/>
          <p:cNvSpPr txBox="1"/>
          <p:nvPr/>
        </p:nvSpPr>
        <p:spPr>
          <a:xfrm>
            <a:off x="4663440" y="2788920"/>
            <a:ext cx="292608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FINANSMARKEDET</a:t>
            </a:r>
            <a:endParaRPr lang="en-US" sz="1700" dirty="0"/>
          </a:p>
        </p:txBody>
      </p:sp>
      <p:sp>
        <p:nvSpPr>
          <p:cNvPr id="11" name="Text 7"/>
          <p:cNvSpPr txBox="1"/>
          <p:nvPr/>
        </p:nvSpPr>
        <p:spPr>
          <a:xfrm>
            <a:off x="4663440" y="3154680"/>
            <a:ext cx="2926080" cy="822960"/>
          </a:xfrm>
          <a:prstGeom prst="rect">
            <a:avLst/>
          </a:prstGeom>
          <a:noFill/>
          <a:ln/>
        </p:spPr>
        <p:txBody>
          <a:bodyPr wrap="square" lIns="0" tIns="0" rIns="0" bIns="0" rtlCol="0" anchor="t"/>
          <a:lstStyle/>
          <a:p>
            <a:pPr indent="0" marL="0">
              <a:buNone/>
            </a:pPr>
            <a:r>
              <a:rPr lang="en-US" sz="1300" dirty="0">
                <a:solidFill>
                  <a:schemeClr val="tx2"/>
                </a:solidFill>
              </a:rPr>
              <a:t>Kobler de to sidene sammen.</a:t>
            </a:r>
            <a:endParaRPr lang="en-US" sz="1300" dirty="0"/>
          </a:p>
          <a:p>
            <a:pPr indent="0" marL="0">
              <a:buNone/>
            </a:pPr>
            <a:r>
              <a:rPr lang="en-US" sz="1300" dirty="0">
                <a:solidFill>
                  <a:schemeClr val="tx2"/>
                </a:solidFill>
              </a:rPr>
              <a:t>Banker, meglerhus og børsen.</a:t>
            </a:r>
            <a:endParaRPr lang="en-US" sz="1300" dirty="0"/>
          </a:p>
        </p:txBody>
      </p:sp>
      <p:sp>
        <p:nvSpPr>
          <p:cNvPr id="12" name="Shape 8"/>
          <p:cNvSpPr/>
          <p:nvPr/>
        </p:nvSpPr>
        <p:spPr>
          <a:xfrm>
            <a:off x="8229600" y="1920240"/>
            <a:ext cx="3383280" cy="2103120"/>
          </a:xfrm>
          <a:prstGeom prst="roundRect">
            <a:avLst>
              <a:gd name="adj" fmla="val 3478"/>
            </a:avLst>
          </a:prstGeom>
          <a:solidFill>
            <a:schemeClr val="bg2"/>
          </a:solidFill>
          <a:ln/>
        </p:spPr>
      </p:sp>
      <p:pic>
        <p:nvPicPr>
          <p:cNvPr id="13" name="Image 2" descr="preencoded.png">    </p:cNvPr>
          <p:cNvPicPr>
            <a:picLocks noChangeAspect="1"/>
          </p:cNvPicPr>
          <p:nvPr/>
        </p:nvPicPr>
        <p:blipFill>
          <a:blip r:embed="rId3"/>
          <a:stretch>
            <a:fillRect/>
          </a:stretch>
        </p:blipFill>
        <p:spPr>
          <a:xfrm>
            <a:off x="8503920" y="2148840"/>
            <a:ext cx="502920" cy="502920"/>
          </a:xfrm>
          <a:prstGeom prst="rect">
            <a:avLst/>
          </a:prstGeom>
        </p:spPr>
      </p:pic>
      <p:sp>
        <p:nvSpPr>
          <p:cNvPr id="14" name="Text 9"/>
          <p:cNvSpPr txBox="1"/>
          <p:nvPr/>
        </p:nvSpPr>
        <p:spPr>
          <a:xfrm>
            <a:off x="8503920" y="2788920"/>
            <a:ext cx="292608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SELSKAPER</a:t>
            </a:r>
            <a:endParaRPr lang="en-US" sz="1700" dirty="0"/>
          </a:p>
        </p:txBody>
      </p:sp>
      <p:sp>
        <p:nvSpPr>
          <p:cNvPr id="15" name="Text 10"/>
          <p:cNvSpPr txBox="1"/>
          <p:nvPr/>
        </p:nvSpPr>
        <p:spPr>
          <a:xfrm>
            <a:off x="8503920" y="3154680"/>
            <a:ext cx="2926080" cy="822960"/>
          </a:xfrm>
          <a:prstGeom prst="rect">
            <a:avLst/>
          </a:prstGeom>
          <a:noFill/>
          <a:ln/>
        </p:spPr>
        <p:txBody>
          <a:bodyPr wrap="square" lIns="0" tIns="0" rIns="0" bIns="0" rtlCol="0" anchor="t"/>
          <a:lstStyle/>
          <a:p>
            <a:pPr indent="0" marL="0">
              <a:buNone/>
            </a:pPr>
            <a:r>
              <a:rPr lang="en-US" sz="1300" dirty="0">
                <a:solidFill>
                  <a:schemeClr val="tx2"/>
                </a:solidFill>
              </a:rPr>
              <a:t>Trenger penger for å vokse.</a:t>
            </a:r>
            <a:endParaRPr lang="en-US" sz="1300" dirty="0"/>
          </a:p>
          <a:p>
            <a:pPr indent="0" marL="0">
              <a:buNone/>
            </a:pPr>
            <a:r>
              <a:rPr lang="en-US" sz="1300" dirty="0">
                <a:solidFill>
                  <a:schemeClr val="tx2"/>
                </a:solidFill>
              </a:rPr>
              <a:t>En fabrikk, et havvindprosjekt, en startup.</a:t>
            </a:r>
            <a:endParaRPr lang="en-US" sz="1300" dirty="0"/>
          </a:p>
        </p:txBody>
      </p:sp>
      <p:sp>
        <p:nvSpPr>
          <p:cNvPr id="16" name="Shape 11"/>
          <p:cNvSpPr/>
          <p:nvPr/>
        </p:nvSpPr>
        <p:spPr>
          <a:xfrm>
            <a:off x="2194560" y="4526280"/>
            <a:ext cx="7772400" cy="0"/>
          </a:xfrm>
          <a:prstGeom prst="line">
            <a:avLst/>
          </a:prstGeom>
          <a:noFill/>
          <a:ln w="31750">
            <a:solidFill>
              <a:schemeClr val="accent1"/>
            </a:solidFill>
            <a:prstDash val="solid"/>
            <a:tailEnd type="triangle"/>
          </a:ln>
        </p:spPr>
      </p:sp>
      <p:sp>
        <p:nvSpPr>
          <p:cNvPr id="17" name="Text 12"/>
          <p:cNvSpPr txBox="1"/>
          <p:nvPr/>
        </p:nvSpPr>
        <p:spPr>
          <a:xfrm>
            <a:off x="4114800" y="4160520"/>
            <a:ext cx="3931920" cy="320040"/>
          </a:xfrm>
          <a:prstGeom prst="rect">
            <a:avLst/>
          </a:prstGeom>
          <a:noFill/>
          <a:ln/>
        </p:spPr>
        <p:txBody>
          <a:bodyPr wrap="square" lIns="0" tIns="0" rIns="0" bIns="0" rtlCol="0" anchor="t"/>
          <a:lstStyle/>
          <a:p>
            <a:pPr algn="ctr" indent="0" marL="0">
              <a:buNone/>
            </a:pPr>
            <a:r>
              <a:rPr lang="en-US" sz="1300" b="1" dirty="0">
                <a:solidFill>
                  <a:schemeClr val="accent1"/>
                </a:solidFill>
                <a:latin typeface="+mj-lt" pitchFamily="34" charset="0"/>
                <a:ea typeface="+mj-lt" pitchFamily="34" charset="-122"/>
                <a:cs typeface="+mj-lt" pitchFamily="34" charset="-120"/>
              </a:rPr>
              <a:t>KAPITAL (PENGER)</a:t>
            </a:r>
            <a:endParaRPr lang="en-US" sz="1300" dirty="0"/>
          </a:p>
        </p:txBody>
      </p:sp>
      <p:sp>
        <p:nvSpPr>
          <p:cNvPr id="18" name="Shape 13"/>
          <p:cNvSpPr/>
          <p:nvPr/>
        </p:nvSpPr>
        <p:spPr>
          <a:xfrm flipH="1">
            <a:off x="2194560" y="4846320"/>
            <a:ext cx="7772400" cy="0"/>
          </a:xfrm>
          <a:prstGeom prst="line">
            <a:avLst/>
          </a:prstGeom>
          <a:noFill/>
          <a:ln w="31750">
            <a:solidFill>
              <a:schemeClr val="tx2"/>
            </a:solidFill>
            <a:prstDash val="solid"/>
            <a:tailEnd type="triangle"/>
          </a:ln>
        </p:spPr>
      </p:sp>
      <p:sp>
        <p:nvSpPr>
          <p:cNvPr id="19" name="Text 14"/>
          <p:cNvSpPr txBox="1"/>
          <p:nvPr/>
        </p:nvSpPr>
        <p:spPr>
          <a:xfrm>
            <a:off x="3200400" y="4937760"/>
            <a:ext cx="5760720" cy="320040"/>
          </a:xfrm>
          <a:prstGeom prst="rect">
            <a:avLst/>
          </a:prstGeom>
          <a:noFill/>
          <a:ln/>
        </p:spPr>
        <p:txBody>
          <a:bodyPr wrap="square" lIns="0" tIns="0" rIns="0" bIns="0" rtlCol="0" anchor="t"/>
          <a:lstStyle/>
          <a:p>
            <a:pPr algn="ctr" indent="0" marL="0">
              <a:buNone/>
            </a:pPr>
            <a:r>
              <a:rPr lang="en-US" sz="1300" b="1" dirty="0">
                <a:solidFill>
                  <a:schemeClr val="tx2"/>
                </a:solidFill>
                <a:latin typeface="+mj-lt" pitchFamily="34" charset="0"/>
                <a:ea typeface="+mj-lt" pitchFamily="34" charset="-122"/>
                <a:cs typeface="+mj-lt" pitchFamily="34" charset="-120"/>
              </a:rPr>
              <a:t>AVKASTNING: RENTER, UTBYTTE, KURSGEVINST</a:t>
            </a:r>
            <a:endParaRPr lang="en-US" sz="1300" dirty="0"/>
          </a:p>
        </p:txBody>
      </p:sp>
      <p:sp>
        <p:nvSpPr>
          <p:cNvPr id="20" name="Shape 15"/>
          <p:cNvSpPr/>
          <p:nvPr/>
        </p:nvSpPr>
        <p:spPr>
          <a:xfrm>
            <a:off x="548640" y="5440680"/>
            <a:ext cx="5440680" cy="685800"/>
          </a:xfrm>
          <a:prstGeom prst="roundRect">
            <a:avLst>
              <a:gd name="adj" fmla="val 10667"/>
            </a:avLst>
          </a:prstGeom>
          <a:solidFill>
            <a:schemeClr val="accent3"/>
          </a:solidFill>
          <a:ln/>
        </p:spPr>
      </p:sp>
      <p:pic>
        <p:nvPicPr>
          <p:cNvPr id="21" name="Image 3" descr="preencoded.png">    </p:cNvPr>
          <p:cNvPicPr>
            <a:picLocks noChangeAspect="1"/>
          </p:cNvPicPr>
          <p:nvPr/>
        </p:nvPicPr>
        <p:blipFill>
          <a:blip r:embed="rId4"/>
          <a:stretch>
            <a:fillRect/>
          </a:stretch>
        </p:blipFill>
        <p:spPr>
          <a:xfrm>
            <a:off x="777240" y="5614416"/>
            <a:ext cx="338328" cy="338328"/>
          </a:xfrm>
          <a:prstGeom prst="rect">
            <a:avLst/>
          </a:prstGeom>
        </p:spPr>
      </p:pic>
      <p:sp>
        <p:nvSpPr>
          <p:cNvPr id="22" name="Text 16"/>
          <p:cNvSpPr txBox="1"/>
          <p:nvPr/>
        </p:nvSpPr>
        <p:spPr>
          <a:xfrm>
            <a:off x="1280160" y="5440680"/>
            <a:ext cx="4572000" cy="685800"/>
          </a:xfrm>
          <a:prstGeom prst="rect">
            <a:avLst/>
          </a:prstGeom>
          <a:noFill/>
          <a:ln/>
        </p:spPr>
        <p:txBody>
          <a:bodyPr wrap="square" lIns="0" tIns="0" rIns="0" bIns="0" rtlCol="0" anchor="ctr"/>
          <a:lstStyle/>
          <a:p>
            <a:pPr indent="0" marL="0">
              <a:buNone/>
            </a:pPr>
            <a:r>
              <a:rPr lang="en-US" sz="1400" dirty="0">
                <a:solidFill>
                  <a:schemeClr val="tx1"/>
                </a:solidFill>
              </a:rPr>
              <a:t>Tidsverdi: 1 krone i dag er verdt mer enn 1 krone om ett år</a:t>
            </a:r>
            <a:endParaRPr lang="en-US" sz="1400" dirty="0"/>
          </a:p>
        </p:txBody>
      </p:sp>
      <p:sp>
        <p:nvSpPr>
          <p:cNvPr id="23" name="Shape 17"/>
          <p:cNvSpPr/>
          <p:nvPr/>
        </p:nvSpPr>
        <p:spPr>
          <a:xfrm>
            <a:off x="6172200" y="5440680"/>
            <a:ext cx="5440680" cy="685800"/>
          </a:xfrm>
          <a:prstGeom prst="roundRect">
            <a:avLst>
              <a:gd name="adj" fmla="val 10667"/>
            </a:avLst>
          </a:prstGeom>
          <a:solidFill>
            <a:schemeClr val="accent3"/>
          </a:solidFill>
          <a:ln/>
        </p:spPr>
      </p:sp>
      <p:pic>
        <p:nvPicPr>
          <p:cNvPr id="24" name="Image 4" descr="preencoded.png">    </p:cNvPr>
          <p:cNvPicPr>
            <a:picLocks noChangeAspect="1"/>
          </p:cNvPicPr>
          <p:nvPr/>
        </p:nvPicPr>
        <p:blipFill>
          <a:blip r:embed="rId5"/>
          <a:stretch>
            <a:fillRect/>
          </a:stretch>
        </p:blipFill>
        <p:spPr>
          <a:xfrm>
            <a:off x="6400800" y="5614416"/>
            <a:ext cx="338328" cy="338328"/>
          </a:xfrm>
          <a:prstGeom prst="rect">
            <a:avLst/>
          </a:prstGeom>
        </p:spPr>
      </p:pic>
      <p:sp>
        <p:nvSpPr>
          <p:cNvPr id="25" name="Text 18"/>
          <p:cNvSpPr txBox="1"/>
          <p:nvPr/>
        </p:nvSpPr>
        <p:spPr>
          <a:xfrm>
            <a:off x="6903720" y="5440680"/>
            <a:ext cx="4572000" cy="685800"/>
          </a:xfrm>
          <a:prstGeom prst="rect">
            <a:avLst/>
          </a:prstGeom>
          <a:noFill/>
          <a:ln/>
        </p:spPr>
        <p:txBody>
          <a:bodyPr wrap="square" lIns="0" tIns="0" rIns="0" bIns="0" rtlCol="0" anchor="ctr"/>
          <a:lstStyle/>
          <a:p>
            <a:pPr indent="0" marL="0">
              <a:buNone/>
            </a:pPr>
            <a:r>
              <a:rPr lang="en-US" sz="1400" dirty="0">
                <a:solidFill>
                  <a:schemeClr val="tx1"/>
                </a:solidFill>
              </a:rPr>
              <a:t>Risiko: jo mer risiko, desto mer avkastning krever investorene</a:t>
            </a:r>
            <a:endParaRPr lang="en-US" sz="1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TO MÅTER Å HENTE PENGER PÅ</a:t>
            </a:r>
            <a:endParaRPr lang="en-US" sz="3200" dirty="0"/>
          </a:p>
        </p:txBody>
      </p:sp>
      <p:sp>
        <p:nvSpPr>
          <p:cNvPr id="3" name="Text 1"/>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700" dirty="0">
                <a:solidFill>
                  <a:schemeClr val="tx2"/>
                </a:solidFill>
              </a:rPr>
              <a:t>Et selskap som trenger penger kan enten selge en del av seg selv, eller låne.</a:t>
            </a:r>
            <a:endParaRPr lang="en-US" sz="1700" dirty="0"/>
          </a:p>
        </p:txBody>
      </p:sp>
      <p:sp>
        <p:nvSpPr>
          <p:cNvPr id="4" name="Shape 2"/>
          <p:cNvSpPr/>
          <p:nvPr/>
        </p:nvSpPr>
        <p:spPr>
          <a:xfrm>
            <a:off x="548640" y="1874520"/>
            <a:ext cx="5257800" cy="3429000"/>
          </a:xfrm>
          <a:prstGeom prst="roundRect">
            <a:avLst>
              <a:gd name="adj" fmla="val 2133"/>
            </a:avLst>
          </a:prstGeom>
          <a:solidFill>
            <a:schemeClr val="bg2"/>
          </a:solidFill>
          <a:ln/>
        </p:spPr>
      </p:sp>
      <p:pic>
        <p:nvPicPr>
          <p:cNvPr id="5" name="Image 0" descr="preencoded.png">    </p:cNvPr>
          <p:cNvPicPr>
            <a:picLocks noChangeAspect="1"/>
          </p:cNvPicPr>
          <p:nvPr/>
        </p:nvPicPr>
        <p:blipFill>
          <a:blip r:embed="rId1"/>
          <a:stretch>
            <a:fillRect/>
          </a:stretch>
        </p:blipFill>
        <p:spPr>
          <a:xfrm>
            <a:off x="868680" y="2148840"/>
            <a:ext cx="548640" cy="548640"/>
          </a:xfrm>
          <a:prstGeom prst="rect">
            <a:avLst/>
          </a:prstGeom>
        </p:spPr>
      </p:pic>
      <p:sp>
        <p:nvSpPr>
          <p:cNvPr id="6" name="Text 3"/>
          <p:cNvSpPr txBox="1"/>
          <p:nvPr/>
        </p:nvSpPr>
        <p:spPr>
          <a:xfrm>
            <a:off x="1600200" y="2103120"/>
            <a:ext cx="3931920" cy="41148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EGENKAPITAL</a:t>
            </a:r>
            <a:endParaRPr lang="en-US" sz="2400" dirty="0"/>
          </a:p>
        </p:txBody>
      </p:sp>
      <p:sp>
        <p:nvSpPr>
          <p:cNvPr id="7" name="Text 4"/>
          <p:cNvSpPr txBox="1"/>
          <p:nvPr/>
        </p:nvSpPr>
        <p:spPr>
          <a:xfrm>
            <a:off x="1600200" y="2514600"/>
            <a:ext cx="3931920" cy="320040"/>
          </a:xfrm>
          <a:prstGeom prst="rect">
            <a:avLst/>
          </a:prstGeom>
          <a:noFill/>
          <a:ln/>
        </p:spPr>
        <p:txBody>
          <a:bodyPr wrap="square" lIns="0" tIns="0" rIns="0" bIns="0" rtlCol="0" anchor="t"/>
          <a:lstStyle/>
          <a:p>
            <a:pPr indent="0" marL="0">
              <a:buNone/>
            </a:pPr>
            <a:r>
              <a:rPr lang="en-US" sz="1400" dirty="0">
                <a:solidFill>
                  <a:schemeClr val="tx2"/>
                </a:solidFill>
              </a:rPr>
              <a:t>Aksjer</a:t>
            </a:r>
            <a:endParaRPr lang="en-US" sz="1400" dirty="0"/>
          </a:p>
        </p:txBody>
      </p:sp>
      <p:sp>
        <p:nvSpPr>
          <p:cNvPr id="8" name="Text 5"/>
          <p:cNvSpPr txBox="1"/>
          <p:nvPr/>
        </p:nvSpPr>
        <p:spPr>
          <a:xfrm>
            <a:off x="868680" y="3063240"/>
            <a:ext cx="4663440" cy="411480"/>
          </a:xfrm>
          <a:prstGeom prst="rect">
            <a:avLst/>
          </a:prstGeom>
          <a:noFill/>
          <a:ln/>
        </p:spPr>
        <p:txBody>
          <a:bodyPr wrap="square" lIns="0" tIns="0" rIns="0" bIns="0" rtlCol="0" anchor="t"/>
          <a:lstStyle/>
          <a:p>
            <a:pPr indent="0" marL="0">
              <a:buNone/>
            </a:pPr>
            <a:r>
              <a:rPr lang="en-US" sz="1900" b="1" dirty="0">
                <a:solidFill>
                  <a:schemeClr val="accent1"/>
                </a:solidFill>
                <a:latin typeface="+mj-lt" pitchFamily="34" charset="0"/>
                <a:ea typeface="+mj-lt" pitchFamily="34" charset="-122"/>
                <a:cs typeface="+mj-lt" pitchFamily="34" charset="-120"/>
              </a:rPr>
              <a:t>Du blir medeier</a:t>
            </a:r>
            <a:endParaRPr lang="en-US" sz="1900" dirty="0"/>
          </a:p>
        </p:txBody>
      </p:sp>
      <p:sp>
        <p:nvSpPr>
          <p:cNvPr id="9" name="Text 6"/>
          <p:cNvSpPr txBox="1"/>
          <p:nvPr/>
        </p:nvSpPr>
        <p:spPr>
          <a:xfrm>
            <a:off x="868680" y="3566160"/>
            <a:ext cx="4663440" cy="14173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Får del av overskuddet (utbytte) og verdiøkningen</a:t>
            </a:r>
            <a:endParaRPr lang="en-US" sz="1400" dirty="0"/>
          </a:p>
          <a:p>
            <a:pPr marL="203200" indent="-203200">
              <a:spcAft>
                <a:spcPts val="600"/>
              </a:spcAft>
              <a:buSzPct val="100000"/>
              <a:buChar char="•"/>
            </a:pPr>
            <a:r>
              <a:rPr lang="en-US" sz="1400" dirty="0">
                <a:solidFill>
                  <a:schemeClr val="tx1"/>
                </a:solidFill>
              </a:rPr>
              <a:t>Ingen garanti – du kan tape alt</a:t>
            </a:r>
            <a:endParaRPr lang="en-US" sz="1400" dirty="0"/>
          </a:p>
          <a:p>
            <a:pPr marL="203200" indent="-203200">
              <a:spcAft>
                <a:spcPts val="600"/>
              </a:spcAft>
              <a:buSzPct val="100000"/>
              <a:buChar char="•"/>
            </a:pPr>
            <a:r>
              <a:rPr lang="en-US" sz="1400" dirty="0">
                <a:solidFill>
                  <a:schemeClr val="tx1"/>
                </a:solidFill>
              </a:rPr>
              <a:t>Sist i køen hvis selskapet går konkurs</a:t>
            </a:r>
            <a:endParaRPr lang="en-US" sz="1400" dirty="0"/>
          </a:p>
        </p:txBody>
      </p:sp>
      <p:sp>
        <p:nvSpPr>
          <p:cNvPr id="10" name="Text 7"/>
          <p:cNvSpPr txBox="1"/>
          <p:nvPr/>
        </p:nvSpPr>
        <p:spPr>
          <a:xfrm>
            <a:off x="868680" y="4754880"/>
            <a:ext cx="4663440" cy="365760"/>
          </a:xfrm>
          <a:prstGeom prst="rect">
            <a:avLst/>
          </a:prstGeom>
          <a:noFill/>
          <a:ln/>
        </p:spPr>
        <p:txBody>
          <a:bodyPr wrap="square" lIns="0" tIns="0" rIns="0" bIns="0" rtlCol="0" anchor="t"/>
          <a:lstStyle/>
          <a:p>
            <a:pPr indent="0" marL="0">
              <a:buNone/>
            </a:pPr>
            <a:r>
              <a:rPr lang="en-US" sz="1400" b="1" dirty="0">
                <a:solidFill>
                  <a:schemeClr val="tx2"/>
                </a:solidFill>
                <a:latin typeface="+mj-lt" pitchFamily="34" charset="0"/>
                <a:ea typeface="+mj-lt" pitchFamily="34" charset="-122"/>
                <a:cs typeface="+mj-lt" pitchFamily="34" charset="-120"/>
              </a:rPr>
              <a:t>Bankens avdeling: ECM</a:t>
            </a:r>
            <a:endParaRPr lang="en-US" sz="1400" dirty="0"/>
          </a:p>
        </p:txBody>
      </p:sp>
      <p:sp>
        <p:nvSpPr>
          <p:cNvPr id="11" name="Shape 8"/>
          <p:cNvSpPr/>
          <p:nvPr/>
        </p:nvSpPr>
        <p:spPr>
          <a:xfrm>
            <a:off x="6355080" y="1874520"/>
            <a:ext cx="5257800" cy="3429000"/>
          </a:xfrm>
          <a:prstGeom prst="roundRect">
            <a:avLst>
              <a:gd name="adj" fmla="val 2133"/>
            </a:avLst>
          </a:prstGeom>
          <a:solidFill>
            <a:schemeClr val="bg2"/>
          </a:solidFill>
          <a:ln/>
        </p:spPr>
      </p:sp>
      <p:pic>
        <p:nvPicPr>
          <p:cNvPr id="12" name="Image 1" descr="preencoded.png">    </p:cNvPr>
          <p:cNvPicPr>
            <a:picLocks noChangeAspect="1"/>
          </p:cNvPicPr>
          <p:nvPr/>
        </p:nvPicPr>
        <p:blipFill>
          <a:blip r:embed="rId2"/>
          <a:stretch>
            <a:fillRect/>
          </a:stretch>
        </p:blipFill>
        <p:spPr>
          <a:xfrm>
            <a:off x="6675120" y="2148840"/>
            <a:ext cx="548640" cy="548640"/>
          </a:xfrm>
          <a:prstGeom prst="rect">
            <a:avLst/>
          </a:prstGeom>
        </p:spPr>
      </p:pic>
      <p:sp>
        <p:nvSpPr>
          <p:cNvPr id="13" name="Text 9"/>
          <p:cNvSpPr txBox="1"/>
          <p:nvPr/>
        </p:nvSpPr>
        <p:spPr>
          <a:xfrm>
            <a:off x="7406640" y="2103120"/>
            <a:ext cx="3931920" cy="41148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GJELD</a:t>
            </a:r>
            <a:endParaRPr lang="en-US" sz="2400" dirty="0"/>
          </a:p>
        </p:txBody>
      </p:sp>
      <p:sp>
        <p:nvSpPr>
          <p:cNvPr id="14" name="Text 10"/>
          <p:cNvSpPr txBox="1"/>
          <p:nvPr/>
        </p:nvSpPr>
        <p:spPr>
          <a:xfrm>
            <a:off x="7406640" y="2514600"/>
            <a:ext cx="3931920" cy="320040"/>
          </a:xfrm>
          <a:prstGeom prst="rect">
            <a:avLst/>
          </a:prstGeom>
          <a:noFill/>
          <a:ln/>
        </p:spPr>
        <p:txBody>
          <a:bodyPr wrap="square" lIns="0" tIns="0" rIns="0" bIns="0" rtlCol="0" anchor="t"/>
          <a:lstStyle/>
          <a:p>
            <a:pPr indent="0" marL="0">
              <a:buNone/>
            </a:pPr>
            <a:r>
              <a:rPr lang="en-US" sz="1400" dirty="0">
                <a:solidFill>
                  <a:schemeClr val="tx2"/>
                </a:solidFill>
              </a:rPr>
              <a:t>Lån og obligasjoner</a:t>
            </a:r>
            <a:endParaRPr lang="en-US" sz="1400" dirty="0"/>
          </a:p>
        </p:txBody>
      </p:sp>
      <p:sp>
        <p:nvSpPr>
          <p:cNvPr id="15" name="Text 11"/>
          <p:cNvSpPr txBox="1"/>
          <p:nvPr/>
        </p:nvSpPr>
        <p:spPr>
          <a:xfrm>
            <a:off x="6675120" y="3063240"/>
            <a:ext cx="4663440" cy="411480"/>
          </a:xfrm>
          <a:prstGeom prst="rect">
            <a:avLst/>
          </a:prstGeom>
          <a:noFill/>
          <a:ln/>
        </p:spPr>
        <p:txBody>
          <a:bodyPr wrap="square" lIns="0" tIns="0" rIns="0" bIns="0" rtlCol="0" anchor="t"/>
          <a:lstStyle/>
          <a:p>
            <a:pPr indent="0" marL="0">
              <a:buNone/>
            </a:pPr>
            <a:r>
              <a:rPr lang="en-US" sz="1900" b="1" dirty="0">
                <a:solidFill>
                  <a:schemeClr val="accent1"/>
                </a:solidFill>
                <a:latin typeface="+mj-lt" pitchFamily="34" charset="0"/>
                <a:ea typeface="+mj-lt" pitchFamily="34" charset="-122"/>
                <a:cs typeface="+mj-lt" pitchFamily="34" charset="-120"/>
              </a:rPr>
              <a:t>Du blir långiver</a:t>
            </a:r>
            <a:endParaRPr lang="en-US" sz="1900" dirty="0"/>
          </a:p>
        </p:txBody>
      </p:sp>
      <p:sp>
        <p:nvSpPr>
          <p:cNvPr id="16" name="Text 12"/>
          <p:cNvSpPr txBox="1"/>
          <p:nvPr/>
        </p:nvSpPr>
        <p:spPr>
          <a:xfrm>
            <a:off x="6675120" y="3566160"/>
            <a:ext cx="4663440" cy="14173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Får fast rente og pengene tilbake til avtalt tid</a:t>
            </a:r>
            <a:endParaRPr lang="en-US" sz="1400" dirty="0"/>
          </a:p>
          <a:p>
            <a:pPr marL="203200" indent="-203200">
              <a:spcAft>
                <a:spcPts val="600"/>
              </a:spcAft>
              <a:buSzPct val="100000"/>
              <a:buChar char="•"/>
            </a:pPr>
            <a:r>
              <a:rPr lang="en-US" sz="1400" dirty="0">
                <a:solidFill>
                  <a:schemeClr val="tx1"/>
                </a:solidFill>
              </a:rPr>
              <a:t>Lavere risiko enn aksjer</a:t>
            </a:r>
            <a:endParaRPr lang="en-US" sz="1400" dirty="0"/>
          </a:p>
          <a:p>
            <a:pPr marL="203200" indent="-203200">
              <a:spcAft>
                <a:spcPts val="600"/>
              </a:spcAft>
              <a:buSzPct val="100000"/>
              <a:buChar char="•"/>
            </a:pPr>
            <a:r>
              <a:rPr lang="en-US" sz="1400" dirty="0">
                <a:solidFill>
                  <a:schemeClr val="tx1"/>
                </a:solidFill>
              </a:rPr>
              <a:t>Først i køen hvis selskapet går konkurs</a:t>
            </a:r>
            <a:endParaRPr lang="en-US" sz="1400" dirty="0"/>
          </a:p>
        </p:txBody>
      </p:sp>
      <p:sp>
        <p:nvSpPr>
          <p:cNvPr id="17" name="Text 13"/>
          <p:cNvSpPr txBox="1"/>
          <p:nvPr/>
        </p:nvSpPr>
        <p:spPr>
          <a:xfrm>
            <a:off x="6675120" y="4754880"/>
            <a:ext cx="4663440" cy="365760"/>
          </a:xfrm>
          <a:prstGeom prst="rect">
            <a:avLst/>
          </a:prstGeom>
          <a:noFill/>
          <a:ln/>
        </p:spPr>
        <p:txBody>
          <a:bodyPr wrap="square" lIns="0" tIns="0" rIns="0" bIns="0" rtlCol="0" anchor="t"/>
          <a:lstStyle/>
          <a:p>
            <a:pPr indent="0" marL="0">
              <a:buNone/>
            </a:pPr>
            <a:r>
              <a:rPr lang="en-US" sz="1400" b="1" dirty="0">
                <a:solidFill>
                  <a:schemeClr val="tx2"/>
                </a:solidFill>
                <a:latin typeface="+mj-lt" pitchFamily="34" charset="0"/>
                <a:ea typeface="+mj-lt" pitchFamily="34" charset="-122"/>
                <a:cs typeface="+mj-lt" pitchFamily="34" charset="-120"/>
              </a:rPr>
              <a:t>Bankens avdeling: DCM</a:t>
            </a:r>
            <a:endParaRPr lang="en-US" sz="1400" dirty="0"/>
          </a:p>
        </p:txBody>
      </p:sp>
      <p:sp>
        <p:nvSpPr>
          <p:cNvPr id="18" name="Shape 14"/>
          <p:cNvSpPr/>
          <p:nvPr/>
        </p:nvSpPr>
        <p:spPr>
          <a:xfrm>
            <a:off x="5678424" y="3182112"/>
            <a:ext cx="822960" cy="822960"/>
          </a:xfrm>
          <a:prstGeom prst="ellipse">
            <a:avLst/>
          </a:prstGeom>
          <a:solidFill>
            <a:schemeClr val="accent1"/>
          </a:solidFill>
          <a:ln w="50800">
            <a:solidFill>
              <a:schemeClr val="bg1"/>
            </a:solidFill>
            <a:prstDash val="solid"/>
          </a:ln>
        </p:spPr>
      </p:sp>
      <p:sp>
        <p:nvSpPr>
          <p:cNvPr id="19" name="Text 15"/>
          <p:cNvSpPr txBox="1"/>
          <p:nvPr/>
        </p:nvSpPr>
        <p:spPr>
          <a:xfrm>
            <a:off x="5678424" y="3182112"/>
            <a:ext cx="822960" cy="82296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VS</a:t>
            </a:r>
            <a:endParaRPr lang="en-US" sz="1800" dirty="0"/>
          </a:p>
        </p:txBody>
      </p:sp>
      <p:sp>
        <p:nvSpPr>
          <p:cNvPr id="20" name="Text 16"/>
          <p:cNvSpPr txBox="1"/>
          <p:nvPr/>
        </p:nvSpPr>
        <p:spPr>
          <a:xfrm>
            <a:off x="548640" y="5532120"/>
            <a:ext cx="10241280" cy="365760"/>
          </a:xfrm>
          <a:prstGeom prst="rect">
            <a:avLst/>
          </a:prstGeom>
          <a:noFill/>
          <a:ln/>
        </p:spPr>
        <p:txBody>
          <a:bodyPr wrap="square" lIns="0" tIns="0" rIns="0" bIns="0" rtlCol="0" anchor="t"/>
          <a:lstStyle/>
          <a:p>
            <a:pPr indent="0" marL="0">
              <a:buNone/>
            </a:pPr>
            <a:r>
              <a:rPr lang="en-US" sz="1600" i="1" dirty="0">
                <a:solidFill>
                  <a:schemeClr val="accent1"/>
                </a:solidFill>
              </a:rPr>
              <a:t>Høyere risiko  =  høyere forventet avkastning</a:t>
            </a:r>
            <a:endParaRPr lang="en-US" sz="16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HVA ER EN AKSJE?</a:t>
            </a:r>
            <a:endParaRPr lang="en-US" sz="3200" dirty="0"/>
          </a:p>
        </p:txBody>
      </p:sp>
      <p:sp>
        <p:nvSpPr>
          <p:cNvPr id="3" name="Text 1"/>
          <p:cNvSpPr txBox="1"/>
          <p:nvPr/>
        </p:nvSpPr>
        <p:spPr>
          <a:xfrm>
            <a:off x="548640" y="1234440"/>
            <a:ext cx="5486400" cy="457200"/>
          </a:xfrm>
          <a:prstGeom prst="rect">
            <a:avLst/>
          </a:prstGeom>
          <a:noFill/>
          <a:ln/>
        </p:spPr>
        <p:txBody>
          <a:bodyPr wrap="square" lIns="0" tIns="0" rIns="0" bIns="0" rtlCol="0" anchor="t"/>
          <a:lstStyle/>
          <a:p>
            <a:pPr indent="0" marL="0">
              <a:buNone/>
            </a:pPr>
            <a:r>
              <a:rPr lang="en-US" sz="1700" dirty="0">
                <a:solidFill>
                  <a:schemeClr val="tx2"/>
                </a:solidFill>
              </a:rPr>
              <a:t>En aksje er en liten eierbit av et selskap.</a:t>
            </a:r>
            <a:endParaRPr lang="en-US" sz="1700" dirty="0"/>
          </a:p>
        </p:txBody>
      </p:sp>
      <p:sp>
        <p:nvSpPr>
          <p:cNvPr id="4" name="Shape 2"/>
          <p:cNvSpPr/>
          <p:nvPr/>
        </p:nvSpPr>
        <p:spPr>
          <a:xfrm>
            <a:off x="548640" y="1874520"/>
            <a:ext cx="301752" cy="301752"/>
          </a:xfrm>
          <a:prstGeom prst="rect">
            <a:avLst/>
          </a:prstGeom>
          <a:solidFill>
            <a:schemeClr val="accent1"/>
          </a:solidFill>
          <a:ln/>
        </p:spPr>
      </p:sp>
      <p:sp>
        <p:nvSpPr>
          <p:cNvPr id="5" name="Shape 3"/>
          <p:cNvSpPr/>
          <p:nvPr/>
        </p:nvSpPr>
        <p:spPr>
          <a:xfrm>
            <a:off x="905256" y="1874520"/>
            <a:ext cx="301752" cy="301752"/>
          </a:xfrm>
          <a:prstGeom prst="rect">
            <a:avLst/>
          </a:prstGeom>
          <a:solidFill>
            <a:schemeClr val="bg2"/>
          </a:solidFill>
          <a:ln/>
        </p:spPr>
      </p:sp>
      <p:sp>
        <p:nvSpPr>
          <p:cNvPr id="6" name="Shape 4"/>
          <p:cNvSpPr/>
          <p:nvPr/>
        </p:nvSpPr>
        <p:spPr>
          <a:xfrm>
            <a:off x="1261872" y="1874520"/>
            <a:ext cx="301752" cy="301752"/>
          </a:xfrm>
          <a:prstGeom prst="rect">
            <a:avLst/>
          </a:prstGeom>
          <a:solidFill>
            <a:schemeClr val="bg2"/>
          </a:solidFill>
          <a:ln/>
        </p:spPr>
      </p:sp>
      <p:sp>
        <p:nvSpPr>
          <p:cNvPr id="7" name="Shape 5"/>
          <p:cNvSpPr/>
          <p:nvPr/>
        </p:nvSpPr>
        <p:spPr>
          <a:xfrm>
            <a:off x="1618488" y="1874520"/>
            <a:ext cx="301752" cy="301752"/>
          </a:xfrm>
          <a:prstGeom prst="rect">
            <a:avLst/>
          </a:prstGeom>
          <a:solidFill>
            <a:schemeClr val="bg2"/>
          </a:solidFill>
          <a:ln/>
        </p:spPr>
      </p:sp>
      <p:sp>
        <p:nvSpPr>
          <p:cNvPr id="8" name="Shape 6"/>
          <p:cNvSpPr/>
          <p:nvPr/>
        </p:nvSpPr>
        <p:spPr>
          <a:xfrm>
            <a:off x="1975104" y="1874520"/>
            <a:ext cx="301752" cy="301752"/>
          </a:xfrm>
          <a:prstGeom prst="rect">
            <a:avLst/>
          </a:prstGeom>
          <a:solidFill>
            <a:schemeClr val="bg2"/>
          </a:solidFill>
          <a:ln/>
        </p:spPr>
      </p:sp>
      <p:sp>
        <p:nvSpPr>
          <p:cNvPr id="9" name="Shape 7"/>
          <p:cNvSpPr/>
          <p:nvPr/>
        </p:nvSpPr>
        <p:spPr>
          <a:xfrm>
            <a:off x="2331720" y="1874520"/>
            <a:ext cx="301752" cy="301752"/>
          </a:xfrm>
          <a:prstGeom prst="rect">
            <a:avLst/>
          </a:prstGeom>
          <a:solidFill>
            <a:schemeClr val="bg2"/>
          </a:solidFill>
          <a:ln/>
        </p:spPr>
      </p:sp>
      <p:sp>
        <p:nvSpPr>
          <p:cNvPr id="10" name="Shape 8"/>
          <p:cNvSpPr/>
          <p:nvPr/>
        </p:nvSpPr>
        <p:spPr>
          <a:xfrm>
            <a:off x="2688336" y="1874520"/>
            <a:ext cx="301752" cy="301752"/>
          </a:xfrm>
          <a:prstGeom prst="rect">
            <a:avLst/>
          </a:prstGeom>
          <a:solidFill>
            <a:schemeClr val="bg2"/>
          </a:solidFill>
          <a:ln/>
        </p:spPr>
      </p:sp>
      <p:sp>
        <p:nvSpPr>
          <p:cNvPr id="11" name="Shape 9"/>
          <p:cNvSpPr/>
          <p:nvPr/>
        </p:nvSpPr>
        <p:spPr>
          <a:xfrm>
            <a:off x="3044952" y="1874520"/>
            <a:ext cx="301752" cy="301752"/>
          </a:xfrm>
          <a:prstGeom prst="rect">
            <a:avLst/>
          </a:prstGeom>
          <a:solidFill>
            <a:schemeClr val="bg2"/>
          </a:solidFill>
          <a:ln/>
        </p:spPr>
      </p:sp>
      <p:sp>
        <p:nvSpPr>
          <p:cNvPr id="12" name="Shape 10"/>
          <p:cNvSpPr/>
          <p:nvPr/>
        </p:nvSpPr>
        <p:spPr>
          <a:xfrm>
            <a:off x="3401568" y="1874520"/>
            <a:ext cx="301752" cy="301752"/>
          </a:xfrm>
          <a:prstGeom prst="rect">
            <a:avLst/>
          </a:prstGeom>
          <a:solidFill>
            <a:schemeClr val="bg2"/>
          </a:solidFill>
          <a:ln/>
        </p:spPr>
      </p:sp>
      <p:sp>
        <p:nvSpPr>
          <p:cNvPr id="13" name="Shape 11"/>
          <p:cNvSpPr/>
          <p:nvPr/>
        </p:nvSpPr>
        <p:spPr>
          <a:xfrm>
            <a:off x="3758184" y="1874520"/>
            <a:ext cx="301752" cy="301752"/>
          </a:xfrm>
          <a:prstGeom prst="rect">
            <a:avLst/>
          </a:prstGeom>
          <a:solidFill>
            <a:schemeClr val="bg2"/>
          </a:solidFill>
          <a:ln/>
        </p:spPr>
      </p:sp>
      <p:sp>
        <p:nvSpPr>
          <p:cNvPr id="14" name="Shape 12"/>
          <p:cNvSpPr/>
          <p:nvPr/>
        </p:nvSpPr>
        <p:spPr>
          <a:xfrm>
            <a:off x="548640" y="2231136"/>
            <a:ext cx="301752" cy="301752"/>
          </a:xfrm>
          <a:prstGeom prst="rect">
            <a:avLst/>
          </a:prstGeom>
          <a:solidFill>
            <a:schemeClr val="bg2"/>
          </a:solidFill>
          <a:ln/>
        </p:spPr>
      </p:sp>
      <p:sp>
        <p:nvSpPr>
          <p:cNvPr id="15" name="Shape 13"/>
          <p:cNvSpPr/>
          <p:nvPr/>
        </p:nvSpPr>
        <p:spPr>
          <a:xfrm>
            <a:off x="905256" y="2231136"/>
            <a:ext cx="301752" cy="301752"/>
          </a:xfrm>
          <a:prstGeom prst="rect">
            <a:avLst/>
          </a:prstGeom>
          <a:solidFill>
            <a:schemeClr val="bg2"/>
          </a:solidFill>
          <a:ln/>
        </p:spPr>
      </p:sp>
      <p:sp>
        <p:nvSpPr>
          <p:cNvPr id="16" name="Shape 14"/>
          <p:cNvSpPr/>
          <p:nvPr/>
        </p:nvSpPr>
        <p:spPr>
          <a:xfrm>
            <a:off x="1261872" y="2231136"/>
            <a:ext cx="301752" cy="301752"/>
          </a:xfrm>
          <a:prstGeom prst="rect">
            <a:avLst/>
          </a:prstGeom>
          <a:solidFill>
            <a:schemeClr val="bg2"/>
          </a:solidFill>
          <a:ln/>
        </p:spPr>
      </p:sp>
      <p:sp>
        <p:nvSpPr>
          <p:cNvPr id="17" name="Shape 15"/>
          <p:cNvSpPr/>
          <p:nvPr/>
        </p:nvSpPr>
        <p:spPr>
          <a:xfrm>
            <a:off x="1618488" y="2231136"/>
            <a:ext cx="301752" cy="301752"/>
          </a:xfrm>
          <a:prstGeom prst="rect">
            <a:avLst/>
          </a:prstGeom>
          <a:solidFill>
            <a:schemeClr val="bg2"/>
          </a:solidFill>
          <a:ln/>
        </p:spPr>
      </p:sp>
      <p:sp>
        <p:nvSpPr>
          <p:cNvPr id="18" name="Shape 16"/>
          <p:cNvSpPr/>
          <p:nvPr/>
        </p:nvSpPr>
        <p:spPr>
          <a:xfrm>
            <a:off x="1975104" y="2231136"/>
            <a:ext cx="301752" cy="301752"/>
          </a:xfrm>
          <a:prstGeom prst="rect">
            <a:avLst/>
          </a:prstGeom>
          <a:solidFill>
            <a:schemeClr val="bg2"/>
          </a:solidFill>
          <a:ln/>
        </p:spPr>
      </p:sp>
      <p:sp>
        <p:nvSpPr>
          <p:cNvPr id="19" name="Shape 17"/>
          <p:cNvSpPr/>
          <p:nvPr/>
        </p:nvSpPr>
        <p:spPr>
          <a:xfrm>
            <a:off x="2331720" y="2231136"/>
            <a:ext cx="301752" cy="301752"/>
          </a:xfrm>
          <a:prstGeom prst="rect">
            <a:avLst/>
          </a:prstGeom>
          <a:solidFill>
            <a:schemeClr val="bg2"/>
          </a:solidFill>
          <a:ln/>
        </p:spPr>
      </p:sp>
      <p:sp>
        <p:nvSpPr>
          <p:cNvPr id="20" name="Shape 18"/>
          <p:cNvSpPr/>
          <p:nvPr/>
        </p:nvSpPr>
        <p:spPr>
          <a:xfrm>
            <a:off x="2688336" y="2231136"/>
            <a:ext cx="301752" cy="301752"/>
          </a:xfrm>
          <a:prstGeom prst="rect">
            <a:avLst/>
          </a:prstGeom>
          <a:solidFill>
            <a:schemeClr val="bg2"/>
          </a:solidFill>
          <a:ln/>
        </p:spPr>
      </p:sp>
      <p:sp>
        <p:nvSpPr>
          <p:cNvPr id="21" name="Shape 19"/>
          <p:cNvSpPr/>
          <p:nvPr/>
        </p:nvSpPr>
        <p:spPr>
          <a:xfrm>
            <a:off x="3044952" y="2231136"/>
            <a:ext cx="301752" cy="301752"/>
          </a:xfrm>
          <a:prstGeom prst="rect">
            <a:avLst/>
          </a:prstGeom>
          <a:solidFill>
            <a:schemeClr val="bg2"/>
          </a:solidFill>
          <a:ln/>
        </p:spPr>
      </p:sp>
      <p:sp>
        <p:nvSpPr>
          <p:cNvPr id="22" name="Shape 20"/>
          <p:cNvSpPr/>
          <p:nvPr/>
        </p:nvSpPr>
        <p:spPr>
          <a:xfrm>
            <a:off x="3401568" y="2231136"/>
            <a:ext cx="301752" cy="301752"/>
          </a:xfrm>
          <a:prstGeom prst="rect">
            <a:avLst/>
          </a:prstGeom>
          <a:solidFill>
            <a:schemeClr val="bg2"/>
          </a:solidFill>
          <a:ln/>
        </p:spPr>
      </p:sp>
      <p:sp>
        <p:nvSpPr>
          <p:cNvPr id="23" name="Shape 21"/>
          <p:cNvSpPr/>
          <p:nvPr/>
        </p:nvSpPr>
        <p:spPr>
          <a:xfrm>
            <a:off x="3758184" y="2231136"/>
            <a:ext cx="301752" cy="301752"/>
          </a:xfrm>
          <a:prstGeom prst="rect">
            <a:avLst/>
          </a:prstGeom>
          <a:solidFill>
            <a:schemeClr val="bg2"/>
          </a:solidFill>
          <a:ln/>
        </p:spPr>
      </p:sp>
      <p:sp>
        <p:nvSpPr>
          <p:cNvPr id="24" name="Shape 22"/>
          <p:cNvSpPr/>
          <p:nvPr/>
        </p:nvSpPr>
        <p:spPr>
          <a:xfrm>
            <a:off x="548640" y="2587752"/>
            <a:ext cx="301752" cy="301752"/>
          </a:xfrm>
          <a:prstGeom prst="rect">
            <a:avLst/>
          </a:prstGeom>
          <a:solidFill>
            <a:schemeClr val="bg2"/>
          </a:solidFill>
          <a:ln/>
        </p:spPr>
      </p:sp>
      <p:sp>
        <p:nvSpPr>
          <p:cNvPr id="25" name="Shape 23"/>
          <p:cNvSpPr/>
          <p:nvPr/>
        </p:nvSpPr>
        <p:spPr>
          <a:xfrm>
            <a:off x="905256" y="2587752"/>
            <a:ext cx="301752" cy="301752"/>
          </a:xfrm>
          <a:prstGeom prst="rect">
            <a:avLst/>
          </a:prstGeom>
          <a:solidFill>
            <a:schemeClr val="bg2"/>
          </a:solidFill>
          <a:ln/>
        </p:spPr>
      </p:sp>
      <p:sp>
        <p:nvSpPr>
          <p:cNvPr id="26" name="Shape 24"/>
          <p:cNvSpPr/>
          <p:nvPr/>
        </p:nvSpPr>
        <p:spPr>
          <a:xfrm>
            <a:off x="1261872" y="2587752"/>
            <a:ext cx="301752" cy="301752"/>
          </a:xfrm>
          <a:prstGeom prst="rect">
            <a:avLst/>
          </a:prstGeom>
          <a:solidFill>
            <a:schemeClr val="bg2"/>
          </a:solidFill>
          <a:ln/>
        </p:spPr>
      </p:sp>
      <p:sp>
        <p:nvSpPr>
          <p:cNvPr id="27" name="Shape 25"/>
          <p:cNvSpPr/>
          <p:nvPr/>
        </p:nvSpPr>
        <p:spPr>
          <a:xfrm>
            <a:off x="1618488" y="2587752"/>
            <a:ext cx="301752" cy="301752"/>
          </a:xfrm>
          <a:prstGeom prst="rect">
            <a:avLst/>
          </a:prstGeom>
          <a:solidFill>
            <a:schemeClr val="bg2"/>
          </a:solidFill>
          <a:ln/>
        </p:spPr>
      </p:sp>
      <p:sp>
        <p:nvSpPr>
          <p:cNvPr id="28" name="Shape 26"/>
          <p:cNvSpPr/>
          <p:nvPr/>
        </p:nvSpPr>
        <p:spPr>
          <a:xfrm>
            <a:off x="1975104" y="2587752"/>
            <a:ext cx="301752" cy="301752"/>
          </a:xfrm>
          <a:prstGeom prst="rect">
            <a:avLst/>
          </a:prstGeom>
          <a:solidFill>
            <a:schemeClr val="bg2"/>
          </a:solidFill>
          <a:ln/>
        </p:spPr>
      </p:sp>
      <p:sp>
        <p:nvSpPr>
          <p:cNvPr id="29" name="Shape 27"/>
          <p:cNvSpPr/>
          <p:nvPr/>
        </p:nvSpPr>
        <p:spPr>
          <a:xfrm>
            <a:off x="2331720" y="2587752"/>
            <a:ext cx="301752" cy="301752"/>
          </a:xfrm>
          <a:prstGeom prst="rect">
            <a:avLst/>
          </a:prstGeom>
          <a:solidFill>
            <a:schemeClr val="bg2"/>
          </a:solidFill>
          <a:ln/>
        </p:spPr>
      </p:sp>
      <p:sp>
        <p:nvSpPr>
          <p:cNvPr id="30" name="Shape 28"/>
          <p:cNvSpPr/>
          <p:nvPr/>
        </p:nvSpPr>
        <p:spPr>
          <a:xfrm>
            <a:off x="2688336" y="2587752"/>
            <a:ext cx="301752" cy="301752"/>
          </a:xfrm>
          <a:prstGeom prst="rect">
            <a:avLst/>
          </a:prstGeom>
          <a:solidFill>
            <a:schemeClr val="bg2"/>
          </a:solidFill>
          <a:ln/>
        </p:spPr>
      </p:sp>
      <p:sp>
        <p:nvSpPr>
          <p:cNvPr id="31" name="Shape 29"/>
          <p:cNvSpPr/>
          <p:nvPr/>
        </p:nvSpPr>
        <p:spPr>
          <a:xfrm>
            <a:off x="3044952" y="2587752"/>
            <a:ext cx="301752" cy="301752"/>
          </a:xfrm>
          <a:prstGeom prst="rect">
            <a:avLst/>
          </a:prstGeom>
          <a:solidFill>
            <a:schemeClr val="bg2"/>
          </a:solidFill>
          <a:ln/>
        </p:spPr>
      </p:sp>
      <p:sp>
        <p:nvSpPr>
          <p:cNvPr id="32" name="Shape 30"/>
          <p:cNvSpPr/>
          <p:nvPr/>
        </p:nvSpPr>
        <p:spPr>
          <a:xfrm>
            <a:off x="3401568" y="2587752"/>
            <a:ext cx="301752" cy="301752"/>
          </a:xfrm>
          <a:prstGeom prst="rect">
            <a:avLst/>
          </a:prstGeom>
          <a:solidFill>
            <a:schemeClr val="bg2"/>
          </a:solidFill>
          <a:ln/>
        </p:spPr>
      </p:sp>
      <p:sp>
        <p:nvSpPr>
          <p:cNvPr id="33" name="Shape 31"/>
          <p:cNvSpPr/>
          <p:nvPr/>
        </p:nvSpPr>
        <p:spPr>
          <a:xfrm>
            <a:off x="3758184" y="2587752"/>
            <a:ext cx="301752" cy="301752"/>
          </a:xfrm>
          <a:prstGeom prst="rect">
            <a:avLst/>
          </a:prstGeom>
          <a:solidFill>
            <a:schemeClr val="bg2"/>
          </a:solidFill>
          <a:ln/>
        </p:spPr>
      </p:sp>
      <p:sp>
        <p:nvSpPr>
          <p:cNvPr id="34" name="Shape 32"/>
          <p:cNvSpPr/>
          <p:nvPr/>
        </p:nvSpPr>
        <p:spPr>
          <a:xfrm>
            <a:off x="548640" y="2944368"/>
            <a:ext cx="301752" cy="301752"/>
          </a:xfrm>
          <a:prstGeom prst="rect">
            <a:avLst/>
          </a:prstGeom>
          <a:solidFill>
            <a:schemeClr val="bg2"/>
          </a:solidFill>
          <a:ln/>
        </p:spPr>
      </p:sp>
      <p:sp>
        <p:nvSpPr>
          <p:cNvPr id="35" name="Shape 33"/>
          <p:cNvSpPr/>
          <p:nvPr/>
        </p:nvSpPr>
        <p:spPr>
          <a:xfrm>
            <a:off x="905256" y="2944368"/>
            <a:ext cx="301752" cy="301752"/>
          </a:xfrm>
          <a:prstGeom prst="rect">
            <a:avLst/>
          </a:prstGeom>
          <a:solidFill>
            <a:schemeClr val="bg2"/>
          </a:solidFill>
          <a:ln/>
        </p:spPr>
      </p:sp>
      <p:sp>
        <p:nvSpPr>
          <p:cNvPr id="36" name="Shape 34"/>
          <p:cNvSpPr/>
          <p:nvPr/>
        </p:nvSpPr>
        <p:spPr>
          <a:xfrm>
            <a:off x="1261872" y="2944368"/>
            <a:ext cx="301752" cy="301752"/>
          </a:xfrm>
          <a:prstGeom prst="rect">
            <a:avLst/>
          </a:prstGeom>
          <a:solidFill>
            <a:schemeClr val="bg2"/>
          </a:solidFill>
          <a:ln/>
        </p:spPr>
      </p:sp>
      <p:sp>
        <p:nvSpPr>
          <p:cNvPr id="37" name="Shape 35"/>
          <p:cNvSpPr/>
          <p:nvPr/>
        </p:nvSpPr>
        <p:spPr>
          <a:xfrm>
            <a:off x="1618488" y="2944368"/>
            <a:ext cx="301752" cy="301752"/>
          </a:xfrm>
          <a:prstGeom prst="rect">
            <a:avLst/>
          </a:prstGeom>
          <a:solidFill>
            <a:schemeClr val="bg2"/>
          </a:solidFill>
          <a:ln/>
        </p:spPr>
      </p:sp>
      <p:sp>
        <p:nvSpPr>
          <p:cNvPr id="38" name="Shape 36"/>
          <p:cNvSpPr/>
          <p:nvPr/>
        </p:nvSpPr>
        <p:spPr>
          <a:xfrm>
            <a:off x="1975104" y="2944368"/>
            <a:ext cx="301752" cy="301752"/>
          </a:xfrm>
          <a:prstGeom prst="rect">
            <a:avLst/>
          </a:prstGeom>
          <a:solidFill>
            <a:schemeClr val="bg2"/>
          </a:solidFill>
          <a:ln/>
        </p:spPr>
      </p:sp>
      <p:sp>
        <p:nvSpPr>
          <p:cNvPr id="39" name="Shape 37"/>
          <p:cNvSpPr/>
          <p:nvPr/>
        </p:nvSpPr>
        <p:spPr>
          <a:xfrm>
            <a:off x="2331720" y="2944368"/>
            <a:ext cx="301752" cy="301752"/>
          </a:xfrm>
          <a:prstGeom prst="rect">
            <a:avLst/>
          </a:prstGeom>
          <a:solidFill>
            <a:schemeClr val="bg2"/>
          </a:solidFill>
          <a:ln/>
        </p:spPr>
      </p:sp>
      <p:sp>
        <p:nvSpPr>
          <p:cNvPr id="40" name="Shape 38"/>
          <p:cNvSpPr/>
          <p:nvPr/>
        </p:nvSpPr>
        <p:spPr>
          <a:xfrm>
            <a:off x="2688336" y="2944368"/>
            <a:ext cx="301752" cy="301752"/>
          </a:xfrm>
          <a:prstGeom prst="rect">
            <a:avLst/>
          </a:prstGeom>
          <a:solidFill>
            <a:schemeClr val="bg2"/>
          </a:solidFill>
          <a:ln/>
        </p:spPr>
      </p:sp>
      <p:sp>
        <p:nvSpPr>
          <p:cNvPr id="41" name="Shape 39"/>
          <p:cNvSpPr/>
          <p:nvPr/>
        </p:nvSpPr>
        <p:spPr>
          <a:xfrm>
            <a:off x="3044952" y="2944368"/>
            <a:ext cx="301752" cy="301752"/>
          </a:xfrm>
          <a:prstGeom prst="rect">
            <a:avLst/>
          </a:prstGeom>
          <a:solidFill>
            <a:schemeClr val="bg2"/>
          </a:solidFill>
          <a:ln/>
        </p:spPr>
      </p:sp>
      <p:sp>
        <p:nvSpPr>
          <p:cNvPr id="42" name="Shape 40"/>
          <p:cNvSpPr/>
          <p:nvPr/>
        </p:nvSpPr>
        <p:spPr>
          <a:xfrm>
            <a:off x="3401568" y="2944368"/>
            <a:ext cx="301752" cy="301752"/>
          </a:xfrm>
          <a:prstGeom prst="rect">
            <a:avLst/>
          </a:prstGeom>
          <a:solidFill>
            <a:schemeClr val="bg2"/>
          </a:solidFill>
          <a:ln/>
        </p:spPr>
      </p:sp>
      <p:sp>
        <p:nvSpPr>
          <p:cNvPr id="43" name="Shape 41"/>
          <p:cNvSpPr/>
          <p:nvPr/>
        </p:nvSpPr>
        <p:spPr>
          <a:xfrm>
            <a:off x="3758184" y="2944368"/>
            <a:ext cx="301752" cy="301752"/>
          </a:xfrm>
          <a:prstGeom prst="rect">
            <a:avLst/>
          </a:prstGeom>
          <a:solidFill>
            <a:schemeClr val="bg2"/>
          </a:solidFill>
          <a:ln/>
        </p:spPr>
      </p:sp>
      <p:sp>
        <p:nvSpPr>
          <p:cNvPr id="44" name="Shape 42"/>
          <p:cNvSpPr/>
          <p:nvPr/>
        </p:nvSpPr>
        <p:spPr>
          <a:xfrm>
            <a:off x="548640" y="3300984"/>
            <a:ext cx="301752" cy="301752"/>
          </a:xfrm>
          <a:prstGeom prst="rect">
            <a:avLst/>
          </a:prstGeom>
          <a:solidFill>
            <a:schemeClr val="bg2"/>
          </a:solidFill>
          <a:ln/>
        </p:spPr>
      </p:sp>
      <p:sp>
        <p:nvSpPr>
          <p:cNvPr id="45" name="Shape 43"/>
          <p:cNvSpPr/>
          <p:nvPr/>
        </p:nvSpPr>
        <p:spPr>
          <a:xfrm>
            <a:off x="905256" y="3300984"/>
            <a:ext cx="301752" cy="301752"/>
          </a:xfrm>
          <a:prstGeom prst="rect">
            <a:avLst/>
          </a:prstGeom>
          <a:solidFill>
            <a:schemeClr val="bg2"/>
          </a:solidFill>
          <a:ln/>
        </p:spPr>
      </p:sp>
      <p:sp>
        <p:nvSpPr>
          <p:cNvPr id="46" name="Shape 44"/>
          <p:cNvSpPr/>
          <p:nvPr/>
        </p:nvSpPr>
        <p:spPr>
          <a:xfrm>
            <a:off x="1261872" y="3300984"/>
            <a:ext cx="301752" cy="301752"/>
          </a:xfrm>
          <a:prstGeom prst="rect">
            <a:avLst/>
          </a:prstGeom>
          <a:solidFill>
            <a:schemeClr val="bg2"/>
          </a:solidFill>
          <a:ln/>
        </p:spPr>
      </p:sp>
      <p:sp>
        <p:nvSpPr>
          <p:cNvPr id="47" name="Shape 45"/>
          <p:cNvSpPr/>
          <p:nvPr/>
        </p:nvSpPr>
        <p:spPr>
          <a:xfrm>
            <a:off x="1618488" y="3300984"/>
            <a:ext cx="301752" cy="301752"/>
          </a:xfrm>
          <a:prstGeom prst="rect">
            <a:avLst/>
          </a:prstGeom>
          <a:solidFill>
            <a:schemeClr val="bg2"/>
          </a:solidFill>
          <a:ln/>
        </p:spPr>
      </p:sp>
      <p:sp>
        <p:nvSpPr>
          <p:cNvPr id="48" name="Shape 46"/>
          <p:cNvSpPr/>
          <p:nvPr/>
        </p:nvSpPr>
        <p:spPr>
          <a:xfrm>
            <a:off x="1975104" y="3300984"/>
            <a:ext cx="301752" cy="301752"/>
          </a:xfrm>
          <a:prstGeom prst="rect">
            <a:avLst/>
          </a:prstGeom>
          <a:solidFill>
            <a:schemeClr val="bg2"/>
          </a:solidFill>
          <a:ln/>
        </p:spPr>
      </p:sp>
      <p:sp>
        <p:nvSpPr>
          <p:cNvPr id="49" name="Shape 47"/>
          <p:cNvSpPr/>
          <p:nvPr/>
        </p:nvSpPr>
        <p:spPr>
          <a:xfrm>
            <a:off x="2331720" y="3300984"/>
            <a:ext cx="301752" cy="301752"/>
          </a:xfrm>
          <a:prstGeom prst="rect">
            <a:avLst/>
          </a:prstGeom>
          <a:solidFill>
            <a:schemeClr val="bg2"/>
          </a:solidFill>
          <a:ln/>
        </p:spPr>
      </p:sp>
      <p:sp>
        <p:nvSpPr>
          <p:cNvPr id="50" name="Shape 48"/>
          <p:cNvSpPr/>
          <p:nvPr/>
        </p:nvSpPr>
        <p:spPr>
          <a:xfrm>
            <a:off x="2688336" y="3300984"/>
            <a:ext cx="301752" cy="301752"/>
          </a:xfrm>
          <a:prstGeom prst="rect">
            <a:avLst/>
          </a:prstGeom>
          <a:solidFill>
            <a:schemeClr val="bg2"/>
          </a:solidFill>
          <a:ln/>
        </p:spPr>
      </p:sp>
      <p:sp>
        <p:nvSpPr>
          <p:cNvPr id="51" name="Shape 49"/>
          <p:cNvSpPr/>
          <p:nvPr/>
        </p:nvSpPr>
        <p:spPr>
          <a:xfrm>
            <a:off x="3044952" y="3300984"/>
            <a:ext cx="301752" cy="301752"/>
          </a:xfrm>
          <a:prstGeom prst="rect">
            <a:avLst/>
          </a:prstGeom>
          <a:solidFill>
            <a:schemeClr val="bg2"/>
          </a:solidFill>
          <a:ln/>
        </p:spPr>
      </p:sp>
      <p:sp>
        <p:nvSpPr>
          <p:cNvPr id="52" name="Shape 50"/>
          <p:cNvSpPr/>
          <p:nvPr/>
        </p:nvSpPr>
        <p:spPr>
          <a:xfrm>
            <a:off x="3401568" y="3300984"/>
            <a:ext cx="301752" cy="301752"/>
          </a:xfrm>
          <a:prstGeom prst="rect">
            <a:avLst/>
          </a:prstGeom>
          <a:solidFill>
            <a:schemeClr val="bg2"/>
          </a:solidFill>
          <a:ln/>
        </p:spPr>
      </p:sp>
      <p:sp>
        <p:nvSpPr>
          <p:cNvPr id="53" name="Shape 51"/>
          <p:cNvSpPr/>
          <p:nvPr/>
        </p:nvSpPr>
        <p:spPr>
          <a:xfrm>
            <a:off x="3758184" y="3300984"/>
            <a:ext cx="301752" cy="301752"/>
          </a:xfrm>
          <a:prstGeom prst="rect">
            <a:avLst/>
          </a:prstGeom>
          <a:solidFill>
            <a:schemeClr val="bg2"/>
          </a:solidFill>
          <a:ln/>
        </p:spPr>
      </p:sp>
      <p:sp>
        <p:nvSpPr>
          <p:cNvPr id="54" name="Shape 52"/>
          <p:cNvSpPr/>
          <p:nvPr/>
        </p:nvSpPr>
        <p:spPr>
          <a:xfrm>
            <a:off x="548640" y="3657600"/>
            <a:ext cx="301752" cy="301752"/>
          </a:xfrm>
          <a:prstGeom prst="rect">
            <a:avLst/>
          </a:prstGeom>
          <a:solidFill>
            <a:schemeClr val="bg2"/>
          </a:solidFill>
          <a:ln/>
        </p:spPr>
      </p:sp>
      <p:sp>
        <p:nvSpPr>
          <p:cNvPr id="55" name="Shape 53"/>
          <p:cNvSpPr/>
          <p:nvPr/>
        </p:nvSpPr>
        <p:spPr>
          <a:xfrm>
            <a:off x="905256" y="3657600"/>
            <a:ext cx="301752" cy="301752"/>
          </a:xfrm>
          <a:prstGeom prst="rect">
            <a:avLst/>
          </a:prstGeom>
          <a:solidFill>
            <a:schemeClr val="bg2"/>
          </a:solidFill>
          <a:ln/>
        </p:spPr>
      </p:sp>
      <p:sp>
        <p:nvSpPr>
          <p:cNvPr id="56" name="Shape 54"/>
          <p:cNvSpPr/>
          <p:nvPr/>
        </p:nvSpPr>
        <p:spPr>
          <a:xfrm>
            <a:off x="1261872" y="3657600"/>
            <a:ext cx="301752" cy="301752"/>
          </a:xfrm>
          <a:prstGeom prst="rect">
            <a:avLst/>
          </a:prstGeom>
          <a:solidFill>
            <a:schemeClr val="bg2"/>
          </a:solidFill>
          <a:ln/>
        </p:spPr>
      </p:sp>
      <p:sp>
        <p:nvSpPr>
          <p:cNvPr id="57" name="Shape 55"/>
          <p:cNvSpPr/>
          <p:nvPr/>
        </p:nvSpPr>
        <p:spPr>
          <a:xfrm>
            <a:off x="1618488" y="3657600"/>
            <a:ext cx="301752" cy="301752"/>
          </a:xfrm>
          <a:prstGeom prst="rect">
            <a:avLst/>
          </a:prstGeom>
          <a:solidFill>
            <a:schemeClr val="bg2"/>
          </a:solidFill>
          <a:ln/>
        </p:spPr>
      </p:sp>
      <p:sp>
        <p:nvSpPr>
          <p:cNvPr id="58" name="Shape 56"/>
          <p:cNvSpPr/>
          <p:nvPr/>
        </p:nvSpPr>
        <p:spPr>
          <a:xfrm>
            <a:off x="1975104" y="3657600"/>
            <a:ext cx="301752" cy="301752"/>
          </a:xfrm>
          <a:prstGeom prst="rect">
            <a:avLst/>
          </a:prstGeom>
          <a:solidFill>
            <a:schemeClr val="bg2"/>
          </a:solidFill>
          <a:ln/>
        </p:spPr>
      </p:sp>
      <p:sp>
        <p:nvSpPr>
          <p:cNvPr id="59" name="Shape 57"/>
          <p:cNvSpPr/>
          <p:nvPr/>
        </p:nvSpPr>
        <p:spPr>
          <a:xfrm>
            <a:off x="2331720" y="3657600"/>
            <a:ext cx="301752" cy="301752"/>
          </a:xfrm>
          <a:prstGeom prst="rect">
            <a:avLst/>
          </a:prstGeom>
          <a:solidFill>
            <a:schemeClr val="bg2"/>
          </a:solidFill>
          <a:ln/>
        </p:spPr>
      </p:sp>
      <p:sp>
        <p:nvSpPr>
          <p:cNvPr id="60" name="Shape 58"/>
          <p:cNvSpPr/>
          <p:nvPr/>
        </p:nvSpPr>
        <p:spPr>
          <a:xfrm>
            <a:off x="2688336" y="3657600"/>
            <a:ext cx="301752" cy="301752"/>
          </a:xfrm>
          <a:prstGeom prst="rect">
            <a:avLst/>
          </a:prstGeom>
          <a:solidFill>
            <a:schemeClr val="bg2"/>
          </a:solidFill>
          <a:ln/>
        </p:spPr>
      </p:sp>
      <p:sp>
        <p:nvSpPr>
          <p:cNvPr id="61" name="Shape 59"/>
          <p:cNvSpPr/>
          <p:nvPr/>
        </p:nvSpPr>
        <p:spPr>
          <a:xfrm>
            <a:off x="3044952" y="3657600"/>
            <a:ext cx="301752" cy="301752"/>
          </a:xfrm>
          <a:prstGeom prst="rect">
            <a:avLst/>
          </a:prstGeom>
          <a:solidFill>
            <a:schemeClr val="bg2"/>
          </a:solidFill>
          <a:ln/>
        </p:spPr>
      </p:sp>
      <p:sp>
        <p:nvSpPr>
          <p:cNvPr id="62" name="Shape 60"/>
          <p:cNvSpPr/>
          <p:nvPr/>
        </p:nvSpPr>
        <p:spPr>
          <a:xfrm>
            <a:off x="3401568" y="3657600"/>
            <a:ext cx="301752" cy="301752"/>
          </a:xfrm>
          <a:prstGeom prst="rect">
            <a:avLst/>
          </a:prstGeom>
          <a:solidFill>
            <a:schemeClr val="bg2"/>
          </a:solidFill>
          <a:ln/>
        </p:spPr>
      </p:sp>
      <p:sp>
        <p:nvSpPr>
          <p:cNvPr id="63" name="Shape 61"/>
          <p:cNvSpPr/>
          <p:nvPr/>
        </p:nvSpPr>
        <p:spPr>
          <a:xfrm>
            <a:off x="3758184" y="3657600"/>
            <a:ext cx="301752" cy="301752"/>
          </a:xfrm>
          <a:prstGeom prst="rect">
            <a:avLst/>
          </a:prstGeom>
          <a:solidFill>
            <a:schemeClr val="bg2"/>
          </a:solidFill>
          <a:ln/>
        </p:spPr>
      </p:sp>
      <p:sp>
        <p:nvSpPr>
          <p:cNvPr id="64" name="Shape 62"/>
          <p:cNvSpPr/>
          <p:nvPr/>
        </p:nvSpPr>
        <p:spPr>
          <a:xfrm>
            <a:off x="548640" y="4014216"/>
            <a:ext cx="301752" cy="301752"/>
          </a:xfrm>
          <a:prstGeom prst="rect">
            <a:avLst/>
          </a:prstGeom>
          <a:solidFill>
            <a:schemeClr val="bg2"/>
          </a:solidFill>
          <a:ln/>
        </p:spPr>
      </p:sp>
      <p:sp>
        <p:nvSpPr>
          <p:cNvPr id="65" name="Shape 63"/>
          <p:cNvSpPr/>
          <p:nvPr/>
        </p:nvSpPr>
        <p:spPr>
          <a:xfrm>
            <a:off x="905256" y="4014216"/>
            <a:ext cx="301752" cy="301752"/>
          </a:xfrm>
          <a:prstGeom prst="rect">
            <a:avLst/>
          </a:prstGeom>
          <a:solidFill>
            <a:schemeClr val="bg2"/>
          </a:solidFill>
          <a:ln/>
        </p:spPr>
      </p:sp>
      <p:sp>
        <p:nvSpPr>
          <p:cNvPr id="66" name="Shape 64"/>
          <p:cNvSpPr/>
          <p:nvPr/>
        </p:nvSpPr>
        <p:spPr>
          <a:xfrm>
            <a:off x="1261872" y="4014216"/>
            <a:ext cx="301752" cy="301752"/>
          </a:xfrm>
          <a:prstGeom prst="rect">
            <a:avLst/>
          </a:prstGeom>
          <a:solidFill>
            <a:schemeClr val="bg2"/>
          </a:solidFill>
          <a:ln/>
        </p:spPr>
      </p:sp>
      <p:sp>
        <p:nvSpPr>
          <p:cNvPr id="67" name="Shape 65"/>
          <p:cNvSpPr/>
          <p:nvPr/>
        </p:nvSpPr>
        <p:spPr>
          <a:xfrm>
            <a:off x="1618488" y="4014216"/>
            <a:ext cx="301752" cy="301752"/>
          </a:xfrm>
          <a:prstGeom prst="rect">
            <a:avLst/>
          </a:prstGeom>
          <a:solidFill>
            <a:schemeClr val="bg2"/>
          </a:solidFill>
          <a:ln/>
        </p:spPr>
      </p:sp>
      <p:sp>
        <p:nvSpPr>
          <p:cNvPr id="68" name="Shape 66"/>
          <p:cNvSpPr/>
          <p:nvPr/>
        </p:nvSpPr>
        <p:spPr>
          <a:xfrm>
            <a:off x="1975104" y="4014216"/>
            <a:ext cx="301752" cy="301752"/>
          </a:xfrm>
          <a:prstGeom prst="rect">
            <a:avLst/>
          </a:prstGeom>
          <a:solidFill>
            <a:schemeClr val="bg2"/>
          </a:solidFill>
          <a:ln/>
        </p:spPr>
      </p:sp>
      <p:sp>
        <p:nvSpPr>
          <p:cNvPr id="69" name="Shape 67"/>
          <p:cNvSpPr/>
          <p:nvPr/>
        </p:nvSpPr>
        <p:spPr>
          <a:xfrm>
            <a:off x="2331720" y="4014216"/>
            <a:ext cx="301752" cy="301752"/>
          </a:xfrm>
          <a:prstGeom prst="rect">
            <a:avLst/>
          </a:prstGeom>
          <a:solidFill>
            <a:schemeClr val="bg2"/>
          </a:solidFill>
          <a:ln/>
        </p:spPr>
      </p:sp>
      <p:sp>
        <p:nvSpPr>
          <p:cNvPr id="70" name="Shape 68"/>
          <p:cNvSpPr/>
          <p:nvPr/>
        </p:nvSpPr>
        <p:spPr>
          <a:xfrm>
            <a:off x="2688336" y="4014216"/>
            <a:ext cx="301752" cy="301752"/>
          </a:xfrm>
          <a:prstGeom prst="rect">
            <a:avLst/>
          </a:prstGeom>
          <a:solidFill>
            <a:schemeClr val="bg2"/>
          </a:solidFill>
          <a:ln/>
        </p:spPr>
      </p:sp>
      <p:sp>
        <p:nvSpPr>
          <p:cNvPr id="71" name="Shape 69"/>
          <p:cNvSpPr/>
          <p:nvPr/>
        </p:nvSpPr>
        <p:spPr>
          <a:xfrm>
            <a:off x="3044952" y="4014216"/>
            <a:ext cx="301752" cy="301752"/>
          </a:xfrm>
          <a:prstGeom prst="rect">
            <a:avLst/>
          </a:prstGeom>
          <a:solidFill>
            <a:schemeClr val="bg2"/>
          </a:solidFill>
          <a:ln/>
        </p:spPr>
      </p:sp>
      <p:sp>
        <p:nvSpPr>
          <p:cNvPr id="72" name="Shape 70"/>
          <p:cNvSpPr/>
          <p:nvPr/>
        </p:nvSpPr>
        <p:spPr>
          <a:xfrm>
            <a:off x="3401568" y="4014216"/>
            <a:ext cx="301752" cy="301752"/>
          </a:xfrm>
          <a:prstGeom prst="rect">
            <a:avLst/>
          </a:prstGeom>
          <a:solidFill>
            <a:schemeClr val="bg2"/>
          </a:solidFill>
          <a:ln/>
        </p:spPr>
      </p:sp>
      <p:sp>
        <p:nvSpPr>
          <p:cNvPr id="73" name="Shape 71"/>
          <p:cNvSpPr/>
          <p:nvPr/>
        </p:nvSpPr>
        <p:spPr>
          <a:xfrm>
            <a:off x="3758184" y="4014216"/>
            <a:ext cx="301752" cy="301752"/>
          </a:xfrm>
          <a:prstGeom prst="rect">
            <a:avLst/>
          </a:prstGeom>
          <a:solidFill>
            <a:schemeClr val="bg2"/>
          </a:solidFill>
          <a:ln/>
        </p:spPr>
      </p:sp>
      <p:sp>
        <p:nvSpPr>
          <p:cNvPr id="74" name="Shape 72"/>
          <p:cNvSpPr/>
          <p:nvPr/>
        </p:nvSpPr>
        <p:spPr>
          <a:xfrm>
            <a:off x="548640" y="4370832"/>
            <a:ext cx="301752" cy="301752"/>
          </a:xfrm>
          <a:prstGeom prst="rect">
            <a:avLst/>
          </a:prstGeom>
          <a:solidFill>
            <a:schemeClr val="bg2"/>
          </a:solidFill>
          <a:ln/>
        </p:spPr>
      </p:sp>
      <p:sp>
        <p:nvSpPr>
          <p:cNvPr id="75" name="Shape 73"/>
          <p:cNvSpPr/>
          <p:nvPr/>
        </p:nvSpPr>
        <p:spPr>
          <a:xfrm>
            <a:off x="905256" y="4370832"/>
            <a:ext cx="301752" cy="301752"/>
          </a:xfrm>
          <a:prstGeom prst="rect">
            <a:avLst/>
          </a:prstGeom>
          <a:solidFill>
            <a:schemeClr val="bg2"/>
          </a:solidFill>
          <a:ln/>
        </p:spPr>
      </p:sp>
      <p:sp>
        <p:nvSpPr>
          <p:cNvPr id="76" name="Shape 74"/>
          <p:cNvSpPr/>
          <p:nvPr/>
        </p:nvSpPr>
        <p:spPr>
          <a:xfrm>
            <a:off x="1261872" y="4370832"/>
            <a:ext cx="301752" cy="301752"/>
          </a:xfrm>
          <a:prstGeom prst="rect">
            <a:avLst/>
          </a:prstGeom>
          <a:solidFill>
            <a:schemeClr val="bg2"/>
          </a:solidFill>
          <a:ln/>
        </p:spPr>
      </p:sp>
      <p:sp>
        <p:nvSpPr>
          <p:cNvPr id="77" name="Shape 75"/>
          <p:cNvSpPr/>
          <p:nvPr/>
        </p:nvSpPr>
        <p:spPr>
          <a:xfrm>
            <a:off x="1618488" y="4370832"/>
            <a:ext cx="301752" cy="301752"/>
          </a:xfrm>
          <a:prstGeom prst="rect">
            <a:avLst/>
          </a:prstGeom>
          <a:solidFill>
            <a:schemeClr val="bg2"/>
          </a:solidFill>
          <a:ln/>
        </p:spPr>
      </p:sp>
      <p:sp>
        <p:nvSpPr>
          <p:cNvPr id="78" name="Shape 76"/>
          <p:cNvSpPr/>
          <p:nvPr/>
        </p:nvSpPr>
        <p:spPr>
          <a:xfrm>
            <a:off x="1975104" y="4370832"/>
            <a:ext cx="301752" cy="301752"/>
          </a:xfrm>
          <a:prstGeom prst="rect">
            <a:avLst/>
          </a:prstGeom>
          <a:solidFill>
            <a:schemeClr val="bg2"/>
          </a:solidFill>
          <a:ln/>
        </p:spPr>
      </p:sp>
      <p:sp>
        <p:nvSpPr>
          <p:cNvPr id="79" name="Shape 77"/>
          <p:cNvSpPr/>
          <p:nvPr/>
        </p:nvSpPr>
        <p:spPr>
          <a:xfrm>
            <a:off x="2331720" y="4370832"/>
            <a:ext cx="301752" cy="301752"/>
          </a:xfrm>
          <a:prstGeom prst="rect">
            <a:avLst/>
          </a:prstGeom>
          <a:solidFill>
            <a:schemeClr val="bg2"/>
          </a:solidFill>
          <a:ln/>
        </p:spPr>
      </p:sp>
      <p:sp>
        <p:nvSpPr>
          <p:cNvPr id="80" name="Shape 78"/>
          <p:cNvSpPr/>
          <p:nvPr/>
        </p:nvSpPr>
        <p:spPr>
          <a:xfrm>
            <a:off x="2688336" y="4370832"/>
            <a:ext cx="301752" cy="301752"/>
          </a:xfrm>
          <a:prstGeom prst="rect">
            <a:avLst/>
          </a:prstGeom>
          <a:solidFill>
            <a:schemeClr val="bg2"/>
          </a:solidFill>
          <a:ln/>
        </p:spPr>
      </p:sp>
      <p:sp>
        <p:nvSpPr>
          <p:cNvPr id="81" name="Shape 79"/>
          <p:cNvSpPr/>
          <p:nvPr/>
        </p:nvSpPr>
        <p:spPr>
          <a:xfrm>
            <a:off x="3044952" y="4370832"/>
            <a:ext cx="301752" cy="301752"/>
          </a:xfrm>
          <a:prstGeom prst="rect">
            <a:avLst/>
          </a:prstGeom>
          <a:solidFill>
            <a:schemeClr val="bg2"/>
          </a:solidFill>
          <a:ln/>
        </p:spPr>
      </p:sp>
      <p:sp>
        <p:nvSpPr>
          <p:cNvPr id="82" name="Shape 80"/>
          <p:cNvSpPr/>
          <p:nvPr/>
        </p:nvSpPr>
        <p:spPr>
          <a:xfrm>
            <a:off x="3401568" y="4370832"/>
            <a:ext cx="301752" cy="301752"/>
          </a:xfrm>
          <a:prstGeom prst="rect">
            <a:avLst/>
          </a:prstGeom>
          <a:solidFill>
            <a:schemeClr val="bg2"/>
          </a:solidFill>
          <a:ln/>
        </p:spPr>
      </p:sp>
      <p:sp>
        <p:nvSpPr>
          <p:cNvPr id="83" name="Shape 81"/>
          <p:cNvSpPr/>
          <p:nvPr/>
        </p:nvSpPr>
        <p:spPr>
          <a:xfrm>
            <a:off x="3758184" y="4370832"/>
            <a:ext cx="301752" cy="301752"/>
          </a:xfrm>
          <a:prstGeom prst="rect">
            <a:avLst/>
          </a:prstGeom>
          <a:solidFill>
            <a:schemeClr val="bg2"/>
          </a:solidFill>
          <a:ln/>
        </p:spPr>
      </p:sp>
      <p:sp>
        <p:nvSpPr>
          <p:cNvPr id="84" name="Shape 82"/>
          <p:cNvSpPr/>
          <p:nvPr/>
        </p:nvSpPr>
        <p:spPr>
          <a:xfrm>
            <a:off x="548640" y="4727448"/>
            <a:ext cx="301752" cy="301752"/>
          </a:xfrm>
          <a:prstGeom prst="rect">
            <a:avLst/>
          </a:prstGeom>
          <a:solidFill>
            <a:schemeClr val="bg2"/>
          </a:solidFill>
          <a:ln/>
        </p:spPr>
      </p:sp>
      <p:sp>
        <p:nvSpPr>
          <p:cNvPr id="85" name="Shape 83"/>
          <p:cNvSpPr/>
          <p:nvPr/>
        </p:nvSpPr>
        <p:spPr>
          <a:xfrm>
            <a:off x="905256" y="4727448"/>
            <a:ext cx="301752" cy="301752"/>
          </a:xfrm>
          <a:prstGeom prst="rect">
            <a:avLst/>
          </a:prstGeom>
          <a:solidFill>
            <a:schemeClr val="bg2"/>
          </a:solidFill>
          <a:ln/>
        </p:spPr>
      </p:sp>
      <p:sp>
        <p:nvSpPr>
          <p:cNvPr id="86" name="Shape 84"/>
          <p:cNvSpPr/>
          <p:nvPr/>
        </p:nvSpPr>
        <p:spPr>
          <a:xfrm>
            <a:off x="1261872" y="4727448"/>
            <a:ext cx="301752" cy="301752"/>
          </a:xfrm>
          <a:prstGeom prst="rect">
            <a:avLst/>
          </a:prstGeom>
          <a:solidFill>
            <a:schemeClr val="bg2"/>
          </a:solidFill>
          <a:ln/>
        </p:spPr>
      </p:sp>
      <p:sp>
        <p:nvSpPr>
          <p:cNvPr id="87" name="Shape 85"/>
          <p:cNvSpPr/>
          <p:nvPr/>
        </p:nvSpPr>
        <p:spPr>
          <a:xfrm>
            <a:off x="1618488" y="4727448"/>
            <a:ext cx="301752" cy="301752"/>
          </a:xfrm>
          <a:prstGeom prst="rect">
            <a:avLst/>
          </a:prstGeom>
          <a:solidFill>
            <a:schemeClr val="bg2"/>
          </a:solidFill>
          <a:ln/>
        </p:spPr>
      </p:sp>
      <p:sp>
        <p:nvSpPr>
          <p:cNvPr id="88" name="Shape 86"/>
          <p:cNvSpPr/>
          <p:nvPr/>
        </p:nvSpPr>
        <p:spPr>
          <a:xfrm>
            <a:off x="1975104" y="4727448"/>
            <a:ext cx="301752" cy="301752"/>
          </a:xfrm>
          <a:prstGeom prst="rect">
            <a:avLst/>
          </a:prstGeom>
          <a:solidFill>
            <a:schemeClr val="bg2"/>
          </a:solidFill>
          <a:ln/>
        </p:spPr>
      </p:sp>
      <p:sp>
        <p:nvSpPr>
          <p:cNvPr id="89" name="Shape 87"/>
          <p:cNvSpPr/>
          <p:nvPr/>
        </p:nvSpPr>
        <p:spPr>
          <a:xfrm>
            <a:off x="2331720" y="4727448"/>
            <a:ext cx="301752" cy="301752"/>
          </a:xfrm>
          <a:prstGeom prst="rect">
            <a:avLst/>
          </a:prstGeom>
          <a:solidFill>
            <a:schemeClr val="bg2"/>
          </a:solidFill>
          <a:ln/>
        </p:spPr>
      </p:sp>
      <p:sp>
        <p:nvSpPr>
          <p:cNvPr id="90" name="Shape 88"/>
          <p:cNvSpPr/>
          <p:nvPr/>
        </p:nvSpPr>
        <p:spPr>
          <a:xfrm>
            <a:off x="2688336" y="4727448"/>
            <a:ext cx="301752" cy="301752"/>
          </a:xfrm>
          <a:prstGeom prst="rect">
            <a:avLst/>
          </a:prstGeom>
          <a:solidFill>
            <a:schemeClr val="bg2"/>
          </a:solidFill>
          <a:ln/>
        </p:spPr>
      </p:sp>
      <p:sp>
        <p:nvSpPr>
          <p:cNvPr id="91" name="Shape 89"/>
          <p:cNvSpPr/>
          <p:nvPr/>
        </p:nvSpPr>
        <p:spPr>
          <a:xfrm>
            <a:off x="3044952" y="4727448"/>
            <a:ext cx="301752" cy="301752"/>
          </a:xfrm>
          <a:prstGeom prst="rect">
            <a:avLst/>
          </a:prstGeom>
          <a:solidFill>
            <a:schemeClr val="bg2"/>
          </a:solidFill>
          <a:ln/>
        </p:spPr>
      </p:sp>
      <p:sp>
        <p:nvSpPr>
          <p:cNvPr id="92" name="Shape 90"/>
          <p:cNvSpPr/>
          <p:nvPr/>
        </p:nvSpPr>
        <p:spPr>
          <a:xfrm>
            <a:off x="3401568" y="4727448"/>
            <a:ext cx="301752" cy="301752"/>
          </a:xfrm>
          <a:prstGeom prst="rect">
            <a:avLst/>
          </a:prstGeom>
          <a:solidFill>
            <a:schemeClr val="bg2"/>
          </a:solidFill>
          <a:ln/>
        </p:spPr>
      </p:sp>
      <p:sp>
        <p:nvSpPr>
          <p:cNvPr id="93" name="Shape 91"/>
          <p:cNvSpPr/>
          <p:nvPr/>
        </p:nvSpPr>
        <p:spPr>
          <a:xfrm>
            <a:off x="3758184" y="4727448"/>
            <a:ext cx="301752" cy="301752"/>
          </a:xfrm>
          <a:prstGeom prst="rect">
            <a:avLst/>
          </a:prstGeom>
          <a:solidFill>
            <a:schemeClr val="bg2"/>
          </a:solidFill>
          <a:ln/>
        </p:spPr>
      </p:sp>
      <p:sp>
        <p:nvSpPr>
          <p:cNvPr id="94" name="Shape 92"/>
          <p:cNvSpPr/>
          <p:nvPr/>
        </p:nvSpPr>
        <p:spPr>
          <a:xfrm>
            <a:off x="548640" y="5084064"/>
            <a:ext cx="301752" cy="301752"/>
          </a:xfrm>
          <a:prstGeom prst="rect">
            <a:avLst/>
          </a:prstGeom>
          <a:solidFill>
            <a:schemeClr val="bg2"/>
          </a:solidFill>
          <a:ln/>
        </p:spPr>
      </p:sp>
      <p:sp>
        <p:nvSpPr>
          <p:cNvPr id="95" name="Shape 93"/>
          <p:cNvSpPr/>
          <p:nvPr/>
        </p:nvSpPr>
        <p:spPr>
          <a:xfrm>
            <a:off x="905256" y="5084064"/>
            <a:ext cx="301752" cy="301752"/>
          </a:xfrm>
          <a:prstGeom prst="rect">
            <a:avLst/>
          </a:prstGeom>
          <a:solidFill>
            <a:schemeClr val="bg2"/>
          </a:solidFill>
          <a:ln/>
        </p:spPr>
      </p:sp>
      <p:sp>
        <p:nvSpPr>
          <p:cNvPr id="96" name="Shape 94"/>
          <p:cNvSpPr/>
          <p:nvPr/>
        </p:nvSpPr>
        <p:spPr>
          <a:xfrm>
            <a:off x="1261872" y="5084064"/>
            <a:ext cx="301752" cy="301752"/>
          </a:xfrm>
          <a:prstGeom prst="rect">
            <a:avLst/>
          </a:prstGeom>
          <a:solidFill>
            <a:schemeClr val="bg2"/>
          </a:solidFill>
          <a:ln/>
        </p:spPr>
      </p:sp>
      <p:sp>
        <p:nvSpPr>
          <p:cNvPr id="97" name="Shape 95"/>
          <p:cNvSpPr/>
          <p:nvPr/>
        </p:nvSpPr>
        <p:spPr>
          <a:xfrm>
            <a:off x="1618488" y="5084064"/>
            <a:ext cx="301752" cy="301752"/>
          </a:xfrm>
          <a:prstGeom prst="rect">
            <a:avLst/>
          </a:prstGeom>
          <a:solidFill>
            <a:schemeClr val="bg2"/>
          </a:solidFill>
          <a:ln/>
        </p:spPr>
      </p:sp>
      <p:sp>
        <p:nvSpPr>
          <p:cNvPr id="98" name="Shape 96"/>
          <p:cNvSpPr/>
          <p:nvPr/>
        </p:nvSpPr>
        <p:spPr>
          <a:xfrm>
            <a:off x="1975104" y="5084064"/>
            <a:ext cx="301752" cy="301752"/>
          </a:xfrm>
          <a:prstGeom prst="rect">
            <a:avLst/>
          </a:prstGeom>
          <a:solidFill>
            <a:schemeClr val="bg2"/>
          </a:solidFill>
          <a:ln/>
        </p:spPr>
      </p:sp>
      <p:sp>
        <p:nvSpPr>
          <p:cNvPr id="99" name="Shape 97"/>
          <p:cNvSpPr/>
          <p:nvPr/>
        </p:nvSpPr>
        <p:spPr>
          <a:xfrm>
            <a:off x="2331720" y="5084064"/>
            <a:ext cx="301752" cy="301752"/>
          </a:xfrm>
          <a:prstGeom prst="rect">
            <a:avLst/>
          </a:prstGeom>
          <a:solidFill>
            <a:schemeClr val="bg2"/>
          </a:solidFill>
          <a:ln/>
        </p:spPr>
      </p:sp>
      <p:sp>
        <p:nvSpPr>
          <p:cNvPr id="100" name="Shape 98"/>
          <p:cNvSpPr/>
          <p:nvPr/>
        </p:nvSpPr>
        <p:spPr>
          <a:xfrm>
            <a:off x="2688336" y="5084064"/>
            <a:ext cx="301752" cy="301752"/>
          </a:xfrm>
          <a:prstGeom prst="rect">
            <a:avLst/>
          </a:prstGeom>
          <a:solidFill>
            <a:schemeClr val="bg2"/>
          </a:solidFill>
          <a:ln/>
        </p:spPr>
      </p:sp>
      <p:sp>
        <p:nvSpPr>
          <p:cNvPr id="101" name="Shape 99"/>
          <p:cNvSpPr/>
          <p:nvPr/>
        </p:nvSpPr>
        <p:spPr>
          <a:xfrm>
            <a:off x="3044952" y="5084064"/>
            <a:ext cx="301752" cy="301752"/>
          </a:xfrm>
          <a:prstGeom prst="rect">
            <a:avLst/>
          </a:prstGeom>
          <a:solidFill>
            <a:schemeClr val="bg2"/>
          </a:solidFill>
          <a:ln/>
        </p:spPr>
      </p:sp>
      <p:sp>
        <p:nvSpPr>
          <p:cNvPr id="102" name="Shape 100"/>
          <p:cNvSpPr/>
          <p:nvPr/>
        </p:nvSpPr>
        <p:spPr>
          <a:xfrm>
            <a:off x="3401568" y="5084064"/>
            <a:ext cx="301752" cy="301752"/>
          </a:xfrm>
          <a:prstGeom prst="rect">
            <a:avLst/>
          </a:prstGeom>
          <a:solidFill>
            <a:schemeClr val="bg2"/>
          </a:solidFill>
          <a:ln/>
        </p:spPr>
      </p:sp>
      <p:sp>
        <p:nvSpPr>
          <p:cNvPr id="103" name="Shape 101"/>
          <p:cNvSpPr/>
          <p:nvPr/>
        </p:nvSpPr>
        <p:spPr>
          <a:xfrm>
            <a:off x="3758184" y="5084064"/>
            <a:ext cx="301752" cy="301752"/>
          </a:xfrm>
          <a:prstGeom prst="rect">
            <a:avLst/>
          </a:prstGeom>
          <a:solidFill>
            <a:schemeClr val="bg2"/>
          </a:solidFill>
          <a:ln/>
        </p:spPr>
      </p:sp>
      <p:sp>
        <p:nvSpPr>
          <p:cNvPr id="104" name="Text 102"/>
          <p:cNvSpPr txBox="1"/>
          <p:nvPr/>
        </p:nvSpPr>
        <p:spPr>
          <a:xfrm>
            <a:off x="548640" y="5577840"/>
            <a:ext cx="4434840" cy="548640"/>
          </a:xfrm>
          <a:prstGeom prst="rect">
            <a:avLst/>
          </a:prstGeom>
          <a:noFill/>
          <a:ln/>
        </p:spPr>
        <p:txBody>
          <a:bodyPr wrap="square" lIns="0" tIns="0" rIns="0" bIns="0" rtlCol="0" anchor="t"/>
          <a:lstStyle/>
          <a:p>
            <a:pPr indent="0" marL="0">
              <a:buNone/>
            </a:pPr>
            <a:r>
              <a:rPr lang="en-US" sz="1200" dirty="0">
                <a:solidFill>
                  <a:schemeClr val="tx2"/>
                </a:solidFill>
              </a:rPr>
              <a:t>Selskapet delt i 100 aksjer.</a:t>
            </a:r>
            <a:endParaRPr lang="en-US" sz="1200" dirty="0"/>
          </a:p>
          <a:p>
            <a:pPr indent="0" marL="0">
              <a:buNone/>
            </a:pPr>
            <a:r>
              <a:rPr lang="en-US" sz="1200" dirty="0">
                <a:solidFill>
                  <a:schemeClr val="tx2"/>
                </a:solidFill>
              </a:rPr>
              <a:t>Eier du 1 aksje, eier du 1 % av selskapet – og har rett på 1 % av utbyttet.</a:t>
            </a:r>
            <a:endParaRPr lang="en-US" sz="1200" dirty="0"/>
          </a:p>
        </p:txBody>
      </p:sp>
      <p:sp>
        <p:nvSpPr>
          <p:cNvPr id="105" name="Shape 103"/>
          <p:cNvSpPr/>
          <p:nvPr/>
        </p:nvSpPr>
        <p:spPr>
          <a:xfrm>
            <a:off x="5120640" y="1874520"/>
            <a:ext cx="6492240" cy="1600200"/>
          </a:xfrm>
          <a:prstGeom prst="roundRect">
            <a:avLst>
              <a:gd name="adj" fmla="val 4571"/>
            </a:avLst>
          </a:prstGeom>
          <a:solidFill>
            <a:schemeClr val="accent3"/>
          </a:solidFill>
          <a:ln/>
        </p:spPr>
      </p:sp>
      <p:sp>
        <p:nvSpPr>
          <p:cNvPr id="106" name="Text 104"/>
          <p:cNvSpPr txBox="1"/>
          <p:nvPr/>
        </p:nvSpPr>
        <p:spPr>
          <a:xfrm>
            <a:off x="5440680" y="2057400"/>
            <a:ext cx="2743200" cy="274320"/>
          </a:xfrm>
          <a:prstGeom prst="rect">
            <a:avLst/>
          </a:prstGeom>
          <a:noFill/>
          <a:ln/>
        </p:spPr>
        <p:txBody>
          <a:bodyPr wrap="square" lIns="0" tIns="0" rIns="0" bIns="0" rtlCol="0" anchor="t"/>
          <a:lstStyle/>
          <a:p>
            <a:pPr indent="0" marL="0">
              <a:buNone/>
            </a:pPr>
            <a:r>
              <a:rPr lang="en-US" sz="1300" b="1" spc="300" kern="0" dirty="0">
                <a:solidFill>
                  <a:schemeClr val="accent1"/>
                </a:solidFill>
                <a:latin typeface="+mj-lt" pitchFamily="34" charset="0"/>
                <a:ea typeface="+mj-lt" pitchFamily="34" charset="-122"/>
                <a:cs typeface="+mj-lt" pitchFamily="34" charset="-120"/>
              </a:rPr>
              <a:t>FORMEL</a:t>
            </a:r>
            <a:endParaRPr lang="en-US" sz="1300" dirty="0"/>
          </a:p>
        </p:txBody>
      </p:sp>
      <p:sp>
        <p:nvSpPr>
          <p:cNvPr id="107" name="Text 105"/>
          <p:cNvSpPr txBox="1"/>
          <p:nvPr/>
        </p:nvSpPr>
        <p:spPr>
          <a:xfrm>
            <a:off x="5440680" y="2377440"/>
            <a:ext cx="5943600" cy="45720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Markedsverdi  =  aksjekurs  ×  antall aksjer</a:t>
            </a:r>
            <a:endParaRPr lang="en-US" sz="2200" dirty="0"/>
          </a:p>
        </p:txBody>
      </p:sp>
      <p:sp>
        <p:nvSpPr>
          <p:cNvPr id="108" name="Text 106"/>
          <p:cNvSpPr txBox="1"/>
          <p:nvPr/>
        </p:nvSpPr>
        <p:spPr>
          <a:xfrm>
            <a:off x="5440680" y="2880360"/>
            <a:ext cx="5943600" cy="365760"/>
          </a:xfrm>
          <a:prstGeom prst="rect">
            <a:avLst/>
          </a:prstGeom>
          <a:noFill/>
          <a:ln/>
        </p:spPr>
        <p:txBody>
          <a:bodyPr wrap="square" lIns="0" tIns="0" rIns="0" bIns="0" rtlCol="0" anchor="t"/>
          <a:lstStyle/>
          <a:p>
            <a:pPr indent="0" marL="0">
              <a:buNone/>
            </a:pPr>
            <a:r>
              <a:rPr lang="en-US" sz="1500" dirty="0">
                <a:solidFill>
                  <a:schemeClr val="tx2"/>
                </a:solidFill>
              </a:rPr>
              <a:t>Eksempel: 10 000 000 aksjer × 250 kr = 2,5 mrd. kr</a:t>
            </a:r>
            <a:endParaRPr lang="en-US" sz="1500" dirty="0"/>
          </a:p>
        </p:txBody>
      </p:sp>
      <p:pic>
        <p:nvPicPr>
          <p:cNvPr id="109" name="Image 0" descr="preencoded.png">    </p:cNvPr>
          <p:cNvPicPr>
            <a:picLocks noChangeAspect="1"/>
          </p:cNvPicPr>
          <p:nvPr/>
        </p:nvPicPr>
        <p:blipFill>
          <a:blip r:embed="rId1"/>
          <a:stretch>
            <a:fillRect/>
          </a:stretch>
        </p:blipFill>
        <p:spPr>
          <a:xfrm>
            <a:off x="5212080" y="3794760"/>
            <a:ext cx="384048" cy="384048"/>
          </a:xfrm>
          <a:prstGeom prst="rect">
            <a:avLst/>
          </a:prstGeom>
        </p:spPr>
      </p:pic>
      <p:sp>
        <p:nvSpPr>
          <p:cNvPr id="110" name="Text 107"/>
          <p:cNvSpPr txBox="1"/>
          <p:nvPr/>
        </p:nvSpPr>
        <p:spPr>
          <a:xfrm>
            <a:off x="5852160" y="3749040"/>
            <a:ext cx="566928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Hvorfor endres kursen?</a:t>
            </a:r>
            <a:endParaRPr lang="en-US" sz="1600" dirty="0"/>
          </a:p>
        </p:txBody>
      </p:sp>
      <p:sp>
        <p:nvSpPr>
          <p:cNvPr id="111" name="Text 108"/>
          <p:cNvSpPr txBox="1"/>
          <p:nvPr/>
        </p:nvSpPr>
        <p:spPr>
          <a:xfrm>
            <a:off x="5852160" y="4069080"/>
            <a:ext cx="5669280" cy="502920"/>
          </a:xfrm>
          <a:prstGeom prst="rect">
            <a:avLst/>
          </a:prstGeom>
          <a:noFill/>
          <a:ln/>
        </p:spPr>
        <p:txBody>
          <a:bodyPr wrap="square" lIns="0" tIns="0" rIns="0" bIns="0" rtlCol="0" anchor="t"/>
          <a:lstStyle/>
          <a:p>
            <a:pPr indent="0" marL="0">
              <a:buNone/>
            </a:pPr>
            <a:r>
              <a:rPr lang="en-US" sz="1300" dirty="0">
                <a:solidFill>
                  <a:schemeClr val="tx2"/>
                </a:solidFill>
              </a:rPr>
              <a:t>Kursen speiler forventninger om fremtiden: resultater, nyheter, renter og stemningen i markedet.</a:t>
            </a:r>
            <a:endParaRPr lang="en-US" sz="1300" dirty="0"/>
          </a:p>
        </p:txBody>
      </p:sp>
      <p:pic>
        <p:nvPicPr>
          <p:cNvPr id="112" name="Image 1" descr="preencoded.png">    </p:cNvPr>
          <p:cNvPicPr>
            <a:picLocks noChangeAspect="1"/>
          </p:cNvPicPr>
          <p:nvPr/>
        </p:nvPicPr>
        <p:blipFill>
          <a:blip r:embed="rId2"/>
          <a:stretch>
            <a:fillRect/>
          </a:stretch>
        </p:blipFill>
        <p:spPr>
          <a:xfrm>
            <a:off x="5212080" y="4663440"/>
            <a:ext cx="384048" cy="384048"/>
          </a:xfrm>
          <a:prstGeom prst="rect">
            <a:avLst/>
          </a:prstGeom>
        </p:spPr>
      </p:pic>
      <p:sp>
        <p:nvSpPr>
          <p:cNvPr id="113" name="Text 109"/>
          <p:cNvSpPr txBox="1"/>
          <p:nvPr/>
        </p:nvSpPr>
        <p:spPr>
          <a:xfrm>
            <a:off x="5852160" y="4617720"/>
            <a:ext cx="566928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Hvor handles aksjer?</a:t>
            </a:r>
            <a:endParaRPr lang="en-US" sz="1600" dirty="0"/>
          </a:p>
        </p:txBody>
      </p:sp>
      <p:sp>
        <p:nvSpPr>
          <p:cNvPr id="114" name="Text 110"/>
          <p:cNvSpPr txBox="1"/>
          <p:nvPr/>
        </p:nvSpPr>
        <p:spPr>
          <a:xfrm>
            <a:off x="5852160" y="4937760"/>
            <a:ext cx="5669280" cy="502920"/>
          </a:xfrm>
          <a:prstGeom prst="rect">
            <a:avLst/>
          </a:prstGeom>
          <a:noFill/>
          <a:ln/>
        </p:spPr>
        <p:txBody>
          <a:bodyPr wrap="square" lIns="0" tIns="0" rIns="0" bIns="0" rtlCol="0" anchor="t"/>
          <a:lstStyle/>
          <a:p>
            <a:pPr indent="0" marL="0">
              <a:buNone/>
            </a:pPr>
            <a:r>
              <a:rPr lang="en-US" sz="1300" dirty="0">
                <a:solidFill>
                  <a:schemeClr val="tx2"/>
                </a:solidFill>
              </a:rPr>
              <a:t>På børsen, f.eks. Oslo Børs. Der finner du blant annet Equinor, DNB og Kongsberg Gruppen.</a:t>
            </a:r>
            <a:endParaRPr lang="en-US" sz="1300" dirty="0"/>
          </a:p>
        </p:txBody>
      </p:sp>
      <p:pic>
        <p:nvPicPr>
          <p:cNvPr id="115" name="Image 2" descr="preencoded.png">    </p:cNvPr>
          <p:cNvPicPr>
            <a:picLocks noChangeAspect="1"/>
          </p:cNvPicPr>
          <p:nvPr/>
        </p:nvPicPr>
        <p:blipFill>
          <a:blip r:embed="rId3"/>
          <a:stretch>
            <a:fillRect/>
          </a:stretch>
        </p:blipFill>
        <p:spPr>
          <a:xfrm>
            <a:off x="5212080" y="5532120"/>
            <a:ext cx="384048" cy="384048"/>
          </a:xfrm>
          <a:prstGeom prst="rect">
            <a:avLst/>
          </a:prstGeom>
        </p:spPr>
      </p:pic>
      <p:sp>
        <p:nvSpPr>
          <p:cNvPr id="116" name="Text 111"/>
          <p:cNvSpPr txBox="1"/>
          <p:nvPr/>
        </p:nvSpPr>
        <p:spPr>
          <a:xfrm>
            <a:off x="5852160" y="5486400"/>
            <a:ext cx="5669280" cy="32004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Hvordan tjener du penger?</a:t>
            </a:r>
            <a:endParaRPr lang="en-US" sz="1600" dirty="0"/>
          </a:p>
        </p:txBody>
      </p:sp>
      <p:sp>
        <p:nvSpPr>
          <p:cNvPr id="117" name="Text 112"/>
          <p:cNvSpPr txBox="1"/>
          <p:nvPr/>
        </p:nvSpPr>
        <p:spPr>
          <a:xfrm>
            <a:off x="5852160" y="5806440"/>
            <a:ext cx="5669280" cy="502920"/>
          </a:xfrm>
          <a:prstGeom prst="rect">
            <a:avLst/>
          </a:prstGeom>
          <a:noFill/>
          <a:ln/>
        </p:spPr>
        <p:txBody>
          <a:bodyPr wrap="square" lIns="0" tIns="0" rIns="0" bIns="0" rtlCol="0" anchor="t"/>
          <a:lstStyle/>
          <a:p>
            <a:pPr indent="0" marL="0">
              <a:buNone/>
            </a:pPr>
            <a:r>
              <a:rPr lang="en-US" sz="1300" dirty="0">
                <a:solidFill>
                  <a:schemeClr val="tx2"/>
                </a:solidFill>
              </a:rPr>
              <a:t>Utbytte (selskapet deler ut overskudd) og kursgevinst (aksjen stiger i verdi).</a:t>
            </a:r>
            <a:endParaRPr lang="en-US" sz="13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Foto" descr="/tmp/claude-0/-home-user-B-RS/bc29adb1-953f-55c2-bb90-b9f7aff29f66/scratchpad/assets/stand.jpg">    </p:cNvPr>
          <p:cNvPicPr>
            <a:picLocks noChangeAspect="1"/>
          </p:cNvPicPr>
          <p:nvPr/>
        </p:nvPicPr>
        <p:blipFill>
          <a:blip r:embed="rId1"/>
          <a:srcRect l="0" r="0" t="0" b="0"/>
          <a:stretch/>
        </p:blipFill>
        <p:spPr>
          <a:xfrm>
            <a:off x="6675120" y="0"/>
            <a:ext cx="5516575" cy="6858000"/>
          </a:xfrm>
          <a:prstGeom prst="rect">
            <a:avLst/>
          </a:prstGeom>
        </p:spPr>
      </p:pic>
      <p:sp>
        <p:nvSpPr>
          <p:cNvPr id="3" name="Diagonal"/>
          <p:cNvSpPr/>
          <p:nvPr/>
        </p:nvSpPr>
        <p:spPr>
          <a:xfrm flipV="1">
            <a:off x="6665976" y="-9144"/>
            <a:ext cx="2743200" cy="6876288"/>
          </a:xfrm>
          <a:prstGeom prst="rtTriangle">
            <a:avLst/>
          </a:prstGeom>
          <a:solidFill>
            <a:schemeClr val="bg1"/>
          </a:solidFill>
          <a:ln/>
        </p:spPr>
      </p:sp>
      <p:sp>
        <p:nvSpPr>
          <p:cNvPr id="4" name="Gul linje"/>
          <p:cNvSpPr/>
          <p:nvPr/>
        </p:nvSpPr>
        <p:spPr>
          <a:xfrm flipH="1">
            <a:off x="6675120" y="0"/>
            <a:ext cx="2743200" cy="6858000"/>
          </a:xfrm>
          <a:prstGeom prst="line">
            <a:avLst/>
          </a:prstGeom>
          <a:noFill/>
          <a:ln w="38100">
            <a:solidFill>
              <a:schemeClr val="accent1"/>
            </a:solidFill>
            <a:prstDash val="solid"/>
          </a:ln>
        </p:spPr>
      </p:sp>
      <p:sp>
        <p:nvSpPr>
          <p:cNvPr id="5" name="Text 0"/>
          <p:cNvSpPr/>
          <p:nvPr>
            <p:ph idx="101" type="body" hasCustomPrompt="1"/>
          </p:nvPr>
        </p:nvSpPr>
        <p:spPr>
          <a:xfrm>
            <a:off x="548640" y="1783080"/>
            <a:ext cx="5486400" cy="411480"/>
          </a:xfrm>
          <a:prstGeom prst="rect">
            <a:avLst/>
          </a:prstGeom>
          <a:noFill/>
          <a:ln/>
        </p:spPr>
        <p:txBody>
          <a:bodyPr wrap="square" lIns="0" tIns="0" rIns="0" bIns="0" rtlCol="0"/>
          <a:lstStyle/>
          <a:p>
            <a:pPr algn="l" indent="0" marL="0">
              <a:buNone/>
            </a:pPr>
            <a:r>
              <a:rPr lang="en-US" sz="1600" b="1" spc="600" kern="0" dirty="0">
                <a:solidFill>
                  <a:schemeClr val="accent1"/>
                </a:solidFill>
                <a:latin typeface="+mj-lt" pitchFamily="34" charset="0"/>
                <a:ea typeface="+mj-lt" pitchFamily="34" charset="-122"/>
                <a:cs typeface="+mj-lt" pitchFamily="34" charset="-120"/>
              </a:rPr>
              <a:t>DEL 2</a:t>
            </a:r>
            <a:endParaRPr lang="en-US" sz="1600" dirty="0"/>
          </a:p>
        </p:txBody>
      </p:sp>
      <p:sp>
        <p:nvSpPr>
          <p:cNvPr id="6" name="Text 0"/>
          <p:cNvSpPr/>
          <p:nvPr>
            <p:ph idx="102" type="title" hasCustomPrompt="1"/>
          </p:nvPr>
        </p:nvSpPr>
        <p:spPr>
          <a:xfrm>
            <a:off x="548640" y="2286000"/>
            <a:ext cx="5760720" cy="1508760"/>
          </a:xfrm>
          <a:prstGeom prst="rect">
            <a:avLst/>
          </a:prstGeom>
          <a:noFill/>
          <a:ln/>
        </p:spPr>
        <p:txBody>
          <a:bodyPr wrap="square" lIns="0" tIns="0" rIns="0" bIns="0" rtlCol="0" anchor="t"/>
          <a:lstStyle/>
          <a:p>
            <a:pPr algn="l" indent="0" marL="0">
              <a:buNone/>
            </a:pPr>
            <a:r>
              <a:rPr lang="en-US" sz="4400" b="1" dirty="0">
                <a:solidFill>
                  <a:schemeClr val="tx1"/>
                </a:solidFill>
                <a:latin typeface="+mj-lt" pitchFamily="34" charset="0"/>
                <a:ea typeface="+mj-lt" pitchFamily="34" charset="-122"/>
                <a:cs typeface="+mj-lt" pitchFamily="34" charset="-120"/>
              </a:rPr>
              <a:t>KARTET OVER BRANSJEN</a:t>
            </a:r>
            <a:endParaRPr lang="en-US" sz="4400" dirty="0"/>
          </a:p>
        </p:txBody>
      </p:sp>
      <p:sp>
        <p:nvSpPr>
          <p:cNvPr id="7" name="Text 0"/>
          <p:cNvSpPr/>
          <p:nvPr>
            <p:ph idx="103" type="body" hasCustomPrompt="1"/>
          </p:nvPr>
        </p:nvSpPr>
        <p:spPr>
          <a:xfrm>
            <a:off x="548640" y="3931920"/>
            <a:ext cx="5303520" cy="822960"/>
          </a:xfrm>
          <a:prstGeom prst="rect">
            <a:avLst/>
          </a:prstGeom>
          <a:noFill/>
          <a:ln/>
        </p:spPr>
        <p:txBody>
          <a:bodyPr wrap="square" lIns="0" tIns="0" rIns="0" bIns="0" rtlCol="0" anchor="t"/>
          <a:lstStyle/>
          <a:p>
            <a:pPr indent="0" marL="0">
              <a:buNone/>
            </a:pPr>
            <a:r>
              <a:rPr lang="en-US" sz="1800" dirty="0">
                <a:solidFill>
                  <a:schemeClr val="tx2"/>
                </a:solidFill>
              </a:rPr>
              <a:t>Sellside og buyside – hvem gjør hva?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SELLSIDE OG BUYSIDE</a:t>
            </a:r>
            <a:endParaRPr lang="en-US" sz="3200" dirty="0"/>
          </a:p>
        </p:txBody>
      </p:sp>
      <p:sp>
        <p:nvSpPr>
          <p:cNvPr id="3" name="Shape 1"/>
          <p:cNvSpPr/>
          <p:nvPr/>
        </p:nvSpPr>
        <p:spPr>
          <a:xfrm>
            <a:off x="548640" y="1371600"/>
            <a:ext cx="4233672" cy="4343400"/>
          </a:xfrm>
          <a:prstGeom prst="roundRect">
            <a:avLst>
              <a:gd name="adj" fmla="val 1728"/>
            </a:avLst>
          </a:prstGeom>
          <a:solidFill>
            <a:schemeClr val="bg2"/>
          </a:solidFill>
          <a:ln/>
        </p:spPr>
      </p:sp>
      <p:sp>
        <p:nvSpPr>
          <p:cNvPr id="4" name="Text 2"/>
          <p:cNvSpPr txBox="1"/>
          <p:nvPr/>
        </p:nvSpPr>
        <p:spPr>
          <a:xfrm>
            <a:off x="822960" y="1600200"/>
            <a:ext cx="3657600" cy="45720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SELLSIDE</a:t>
            </a:r>
            <a:endParaRPr lang="en-US" sz="2400" dirty="0"/>
          </a:p>
        </p:txBody>
      </p:sp>
      <p:sp>
        <p:nvSpPr>
          <p:cNvPr id="5" name="Text 3"/>
          <p:cNvSpPr txBox="1"/>
          <p:nvPr/>
        </p:nvSpPr>
        <p:spPr>
          <a:xfrm>
            <a:off x="822960" y="2103120"/>
            <a:ext cx="3703320" cy="731520"/>
          </a:xfrm>
          <a:prstGeom prst="rect">
            <a:avLst/>
          </a:prstGeom>
          <a:noFill/>
          <a:ln/>
        </p:spPr>
        <p:txBody>
          <a:bodyPr wrap="square" lIns="0" tIns="0" rIns="0" bIns="0" rtlCol="0" anchor="t"/>
          <a:lstStyle/>
          <a:p>
            <a:pPr indent="0" marL="0">
              <a:buNone/>
            </a:pPr>
            <a:r>
              <a:rPr lang="en-US" sz="1400" dirty="0">
                <a:solidFill>
                  <a:schemeClr val="tx1"/>
                </a:solidFill>
              </a:rPr>
              <a:t>Selger tjenester: rådgivning, megling og analyse. Tjener på honorarer og kurtasje.</a:t>
            </a:r>
            <a:endParaRPr lang="en-US" sz="1400" dirty="0"/>
          </a:p>
        </p:txBody>
      </p:sp>
      <p:sp>
        <p:nvSpPr>
          <p:cNvPr id="6" name="Text 4"/>
          <p:cNvSpPr txBox="1"/>
          <p:nvPr/>
        </p:nvSpPr>
        <p:spPr>
          <a:xfrm>
            <a:off x="822960" y="2834640"/>
            <a:ext cx="3703320" cy="320040"/>
          </a:xfrm>
          <a:prstGeom prst="rect">
            <a:avLst/>
          </a:prstGeom>
          <a:noFill/>
          <a:ln/>
        </p:spPr>
        <p:txBody>
          <a:bodyPr wrap="square" lIns="0" tIns="0" rIns="0" bIns="0" rtlCol="0" anchor="t"/>
          <a:lstStyle/>
          <a:p>
            <a:pPr indent="0" marL="0">
              <a:buNone/>
            </a:pPr>
            <a:r>
              <a:rPr lang="en-US" sz="1300" i="1" dirty="0">
                <a:solidFill>
                  <a:schemeClr val="tx2"/>
                </a:solidFill>
              </a:rPr>
              <a:t>I Norge kalles de ofte meglerhus.</a:t>
            </a:r>
            <a:endParaRPr lang="en-US" sz="1300" dirty="0"/>
          </a:p>
        </p:txBody>
      </p:sp>
      <p:sp>
        <p:nvSpPr>
          <p:cNvPr id="7" name="Shape 5"/>
          <p:cNvSpPr/>
          <p:nvPr/>
        </p:nvSpPr>
        <p:spPr>
          <a:xfrm>
            <a:off x="822960" y="3337560"/>
            <a:ext cx="1783080" cy="411480"/>
          </a:xfrm>
          <a:prstGeom prst="roundRect">
            <a:avLst>
              <a:gd name="adj" fmla="val 48889"/>
            </a:avLst>
          </a:prstGeom>
          <a:solidFill>
            <a:schemeClr val="accent3"/>
          </a:solidFill>
          <a:ln/>
        </p:spPr>
      </p:sp>
      <p:sp>
        <p:nvSpPr>
          <p:cNvPr id="8" name="Text 6"/>
          <p:cNvSpPr txBox="1"/>
          <p:nvPr/>
        </p:nvSpPr>
        <p:spPr>
          <a:xfrm>
            <a:off x="822960" y="333756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DNB Carnegie</a:t>
            </a:r>
            <a:endParaRPr lang="en-US" sz="1100" dirty="0"/>
          </a:p>
        </p:txBody>
      </p:sp>
      <p:sp>
        <p:nvSpPr>
          <p:cNvPr id="9" name="Shape 7"/>
          <p:cNvSpPr/>
          <p:nvPr/>
        </p:nvSpPr>
        <p:spPr>
          <a:xfrm>
            <a:off x="2724912" y="3337560"/>
            <a:ext cx="1783080" cy="411480"/>
          </a:xfrm>
          <a:prstGeom prst="roundRect">
            <a:avLst>
              <a:gd name="adj" fmla="val 48889"/>
            </a:avLst>
          </a:prstGeom>
          <a:solidFill>
            <a:schemeClr val="accent3"/>
          </a:solidFill>
          <a:ln/>
        </p:spPr>
      </p:sp>
      <p:sp>
        <p:nvSpPr>
          <p:cNvPr id="10" name="Text 8"/>
          <p:cNvSpPr txBox="1"/>
          <p:nvPr/>
        </p:nvSpPr>
        <p:spPr>
          <a:xfrm>
            <a:off x="2724912" y="333756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Pareto Securities</a:t>
            </a:r>
            <a:endParaRPr lang="en-US" sz="1100" dirty="0"/>
          </a:p>
        </p:txBody>
      </p:sp>
      <p:sp>
        <p:nvSpPr>
          <p:cNvPr id="11" name="Shape 9"/>
          <p:cNvSpPr/>
          <p:nvPr/>
        </p:nvSpPr>
        <p:spPr>
          <a:xfrm>
            <a:off x="822960" y="3886200"/>
            <a:ext cx="1783080" cy="411480"/>
          </a:xfrm>
          <a:prstGeom prst="roundRect">
            <a:avLst>
              <a:gd name="adj" fmla="val 48889"/>
            </a:avLst>
          </a:prstGeom>
          <a:solidFill>
            <a:schemeClr val="accent3"/>
          </a:solidFill>
          <a:ln/>
        </p:spPr>
      </p:sp>
      <p:sp>
        <p:nvSpPr>
          <p:cNvPr id="12" name="Text 10"/>
          <p:cNvSpPr txBox="1"/>
          <p:nvPr/>
        </p:nvSpPr>
        <p:spPr>
          <a:xfrm>
            <a:off x="822960" y="388620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Arctic Securities</a:t>
            </a:r>
            <a:endParaRPr lang="en-US" sz="1100" dirty="0"/>
          </a:p>
        </p:txBody>
      </p:sp>
      <p:sp>
        <p:nvSpPr>
          <p:cNvPr id="13" name="Shape 11"/>
          <p:cNvSpPr/>
          <p:nvPr/>
        </p:nvSpPr>
        <p:spPr>
          <a:xfrm>
            <a:off x="2724912" y="3886200"/>
            <a:ext cx="1783080" cy="411480"/>
          </a:xfrm>
          <a:prstGeom prst="roundRect">
            <a:avLst>
              <a:gd name="adj" fmla="val 48889"/>
            </a:avLst>
          </a:prstGeom>
          <a:solidFill>
            <a:schemeClr val="accent3"/>
          </a:solidFill>
          <a:ln/>
        </p:spPr>
      </p:sp>
      <p:sp>
        <p:nvSpPr>
          <p:cNvPr id="14" name="Text 12"/>
          <p:cNvSpPr txBox="1"/>
          <p:nvPr/>
        </p:nvSpPr>
        <p:spPr>
          <a:xfrm>
            <a:off x="2724912" y="388620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ABG Sundal Collier</a:t>
            </a:r>
            <a:endParaRPr lang="en-US" sz="1100" dirty="0"/>
          </a:p>
        </p:txBody>
      </p:sp>
      <p:sp>
        <p:nvSpPr>
          <p:cNvPr id="15" name="Shape 13"/>
          <p:cNvSpPr/>
          <p:nvPr/>
        </p:nvSpPr>
        <p:spPr>
          <a:xfrm>
            <a:off x="822960" y="4434840"/>
            <a:ext cx="1783080" cy="411480"/>
          </a:xfrm>
          <a:prstGeom prst="roundRect">
            <a:avLst>
              <a:gd name="adj" fmla="val 48889"/>
            </a:avLst>
          </a:prstGeom>
          <a:solidFill>
            <a:schemeClr val="accent3"/>
          </a:solidFill>
          <a:ln/>
        </p:spPr>
      </p:sp>
      <p:sp>
        <p:nvSpPr>
          <p:cNvPr id="16" name="Text 14"/>
          <p:cNvSpPr txBox="1"/>
          <p:nvPr/>
        </p:nvSpPr>
        <p:spPr>
          <a:xfrm>
            <a:off x="822960" y="443484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SEB</a:t>
            </a:r>
            <a:endParaRPr lang="en-US" sz="1100" dirty="0"/>
          </a:p>
        </p:txBody>
      </p:sp>
      <p:sp>
        <p:nvSpPr>
          <p:cNvPr id="17" name="Shape 15"/>
          <p:cNvSpPr/>
          <p:nvPr/>
        </p:nvSpPr>
        <p:spPr>
          <a:xfrm>
            <a:off x="2724912" y="4434840"/>
            <a:ext cx="1783080" cy="411480"/>
          </a:xfrm>
          <a:prstGeom prst="roundRect">
            <a:avLst>
              <a:gd name="adj" fmla="val 48889"/>
            </a:avLst>
          </a:prstGeom>
          <a:solidFill>
            <a:schemeClr val="accent3"/>
          </a:solidFill>
          <a:ln/>
        </p:spPr>
      </p:sp>
      <p:sp>
        <p:nvSpPr>
          <p:cNvPr id="18" name="Text 16"/>
          <p:cNvSpPr txBox="1"/>
          <p:nvPr/>
        </p:nvSpPr>
        <p:spPr>
          <a:xfrm>
            <a:off x="2724912" y="443484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Nordea</a:t>
            </a:r>
            <a:endParaRPr lang="en-US" sz="1100" dirty="0"/>
          </a:p>
        </p:txBody>
      </p:sp>
      <p:sp>
        <p:nvSpPr>
          <p:cNvPr id="19" name="Shape 17"/>
          <p:cNvSpPr/>
          <p:nvPr/>
        </p:nvSpPr>
        <p:spPr>
          <a:xfrm>
            <a:off x="822960" y="4983480"/>
            <a:ext cx="1783080" cy="411480"/>
          </a:xfrm>
          <a:prstGeom prst="roundRect">
            <a:avLst>
              <a:gd name="adj" fmla="val 48889"/>
            </a:avLst>
          </a:prstGeom>
          <a:solidFill>
            <a:schemeClr val="accent3"/>
          </a:solidFill>
          <a:ln/>
        </p:spPr>
      </p:sp>
      <p:sp>
        <p:nvSpPr>
          <p:cNvPr id="20" name="Text 18"/>
          <p:cNvSpPr txBox="1"/>
          <p:nvPr/>
        </p:nvSpPr>
        <p:spPr>
          <a:xfrm>
            <a:off x="822960" y="498348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Fearnley Securities</a:t>
            </a:r>
            <a:endParaRPr lang="en-US" sz="1100" dirty="0"/>
          </a:p>
        </p:txBody>
      </p:sp>
      <p:sp>
        <p:nvSpPr>
          <p:cNvPr id="21" name="Shape 19"/>
          <p:cNvSpPr/>
          <p:nvPr/>
        </p:nvSpPr>
        <p:spPr>
          <a:xfrm>
            <a:off x="2724912" y="4983480"/>
            <a:ext cx="1783080" cy="411480"/>
          </a:xfrm>
          <a:prstGeom prst="roundRect">
            <a:avLst>
              <a:gd name="adj" fmla="val 48889"/>
            </a:avLst>
          </a:prstGeom>
          <a:solidFill>
            <a:schemeClr val="accent3"/>
          </a:solidFill>
          <a:ln/>
        </p:spPr>
      </p:sp>
      <p:sp>
        <p:nvSpPr>
          <p:cNvPr id="22" name="Text 20"/>
          <p:cNvSpPr txBox="1"/>
          <p:nvPr/>
        </p:nvSpPr>
        <p:spPr>
          <a:xfrm>
            <a:off x="2724912" y="498348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Clarksons Securities</a:t>
            </a:r>
            <a:endParaRPr lang="en-US" sz="1100" dirty="0"/>
          </a:p>
        </p:txBody>
      </p:sp>
      <p:sp>
        <p:nvSpPr>
          <p:cNvPr id="23" name="Shape 21"/>
          <p:cNvSpPr/>
          <p:nvPr/>
        </p:nvSpPr>
        <p:spPr>
          <a:xfrm>
            <a:off x="7406640" y="1371600"/>
            <a:ext cx="4233672" cy="4343400"/>
          </a:xfrm>
          <a:prstGeom prst="roundRect">
            <a:avLst>
              <a:gd name="adj" fmla="val 1728"/>
            </a:avLst>
          </a:prstGeom>
          <a:solidFill>
            <a:schemeClr val="bg2"/>
          </a:solidFill>
          <a:ln/>
        </p:spPr>
      </p:sp>
      <p:sp>
        <p:nvSpPr>
          <p:cNvPr id="24" name="Text 22"/>
          <p:cNvSpPr txBox="1"/>
          <p:nvPr/>
        </p:nvSpPr>
        <p:spPr>
          <a:xfrm>
            <a:off x="7680960" y="1600200"/>
            <a:ext cx="3657600" cy="457200"/>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BUYSIDE</a:t>
            </a:r>
            <a:endParaRPr lang="en-US" sz="2400" dirty="0"/>
          </a:p>
        </p:txBody>
      </p:sp>
      <p:sp>
        <p:nvSpPr>
          <p:cNvPr id="25" name="Text 23"/>
          <p:cNvSpPr txBox="1"/>
          <p:nvPr/>
        </p:nvSpPr>
        <p:spPr>
          <a:xfrm>
            <a:off x="7680960" y="2103120"/>
            <a:ext cx="3703320" cy="731520"/>
          </a:xfrm>
          <a:prstGeom prst="rect">
            <a:avLst/>
          </a:prstGeom>
          <a:noFill/>
          <a:ln/>
        </p:spPr>
        <p:txBody>
          <a:bodyPr wrap="square" lIns="0" tIns="0" rIns="0" bIns="0" rtlCol="0" anchor="t"/>
          <a:lstStyle/>
          <a:p>
            <a:pPr indent="0" marL="0">
              <a:buNone/>
            </a:pPr>
            <a:r>
              <a:rPr lang="en-US" sz="1400" dirty="0">
                <a:solidFill>
                  <a:schemeClr val="tx1"/>
                </a:solidFill>
              </a:rPr>
              <a:t>Kjøper og eier: investerer penger i selskaper. Tjener på avkastningen.</a:t>
            </a:r>
            <a:endParaRPr lang="en-US" sz="1400" dirty="0"/>
          </a:p>
        </p:txBody>
      </p:sp>
      <p:sp>
        <p:nvSpPr>
          <p:cNvPr id="26" name="Text 24"/>
          <p:cNvSpPr txBox="1"/>
          <p:nvPr/>
        </p:nvSpPr>
        <p:spPr>
          <a:xfrm>
            <a:off x="7680960" y="2834640"/>
            <a:ext cx="3703320" cy="320040"/>
          </a:xfrm>
          <a:prstGeom prst="rect">
            <a:avLst/>
          </a:prstGeom>
          <a:noFill/>
          <a:ln/>
        </p:spPr>
        <p:txBody>
          <a:bodyPr wrap="square" lIns="0" tIns="0" rIns="0" bIns="0" rtlCol="0" anchor="t"/>
          <a:lstStyle/>
          <a:p>
            <a:pPr indent="0" marL="0">
              <a:buNone/>
            </a:pPr>
            <a:r>
              <a:rPr lang="en-US" sz="1300" i="1" dirty="0">
                <a:solidFill>
                  <a:schemeClr val="tx2"/>
                </a:solidFill>
              </a:rPr>
              <a:t>PE, VC, fond og pensjonskapital.</a:t>
            </a:r>
            <a:endParaRPr lang="en-US" sz="1300" dirty="0"/>
          </a:p>
        </p:txBody>
      </p:sp>
      <p:sp>
        <p:nvSpPr>
          <p:cNvPr id="27" name="Shape 25"/>
          <p:cNvSpPr/>
          <p:nvPr/>
        </p:nvSpPr>
        <p:spPr>
          <a:xfrm>
            <a:off x="7680960" y="3337560"/>
            <a:ext cx="1783080" cy="411480"/>
          </a:xfrm>
          <a:prstGeom prst="roundRect">
            <a:avLst>
              <a:gd name="adj" fmla="val 48889"/>
            </a:avLst>
          </a:prstGeom>
          <a:solidFill>
            <a:schemeClr val="accent3"/>
          </a:solidFill>
          <a:ln/>
        </p:spPr>
      </p:sp>
      <p:sp>
        <p:nvSpPr>
          <p:cNvPr id="28" name="Text 26"/>
          <p:cNvSpPr txBox="1"/>
          <p:nvPr/>
        </p:nvSpPr>
        <p:spPr>
          <a:xfrm>
            <a:off x="7680960" y="333756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FSN Capital</a:t>
            </a:r>
            <a:endParaRPr lang="en-US" sz="1100" dirty="0"/>
          </a:p>
        </p:txBody>
      </p:sp>
      <p:sp>
        <p:nvSpPr>
          <p:cNvPr id="29" name="Shape 27"/>
          <p:cNvSpPr/>
          <p:nvPr/>
        </p:nvSpPr>
        <p:spPr>
          <a:xfrm>
            <a:off x="9582912" y="3337560"/>
            <a:ext cx="1783080" cy="411480"/>
          </a:xfrm>
          <a:prstGeom prst="roundRect">
            <a:avLst>
              <a:gd name="adj" fmla="val 48889"/>
            </a:avLst>
          </a:prstGeom>
          <a:solidFill>
            <a:schemeClr val="accent3"/>
          </a:solidFill>
          <a:ln/>
        </p:spPr>
      </p:sp>
      <p:sp>
        <p:nvSpPr>
          <p:cNvPr id="30" name="Text 28"/>
          <p:cNvSpPr txBox="1"/>
          <p:nvPr/>
        </p:nvSpPr>
        <p:spPr>
          <a:xfrm>
            <a:off x="9582912" y="333756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Altor</a:t>
            </a:r>
            <a:endParaRPr lang="en-US" sz="1100" dirty="0"/>
          </a:p>
        </p:txBody>
      </p:sp>
      <p:sp>
        <p:nvSpPr>
          <p:cNvPr id="31" name="Shape 29"/>
          <p:cNvSpPr/>
          <p:nvPr/>
        </p:nvSpPr>
        <p:spPr>
          <a:xfrm>
            <a:off x="7680960" y="3886200"/>
            <a:ext cx="1783080" cy="411480"/>
          </a:xfrm>
          <a:prstGeom prst="roundRect">
            <a:avLst>
              <a:gd name="adj" fmla="val 48889"/>
            </a:avLst>
          </a:prstGeom>
          <a:solidFill>
            <a:schemeClr val="accent3"/>
          </a:solidFill>
          <a:ln/>
        </p:spPr>
      </p:sp>
      <p:sp>
        <p:nvSpPr>
          <p:cNvPr id="32" name="Text 30"/>
          <p:cNvSpPr txBox="1"/>
          <p:nvPr/>
        </p:nvSpPr>
        <p:spPr>
          <a:xfrm>
            <a:off x="7680960" y="388620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Summa Equity</a:t>
            </a:r>
            <a:endParaRPr lang="en-US" sz="1100" dirty="0"/>
          </a:p>
        </p:txBody>
      </p:sp>
      <p:sp>
        <p:nvSpPr>
          <p:cNvPr id="33" name="Shape 31"/>
          <p:cNvSpPr/>
          <p:nvPr/>
        </p:nvSpPr>
        <p:spPr>
          <a:xfrm>
            <a:off x="9582912" y="3886200"/>
            <a:ext cx="1783080" cy="411480"/>
          </a:xfrm>
          <a:prstGeom prst="roundRect">
            <a:avLst>
              <a:gd name="adj" fmla="val 48889"/>
            </a:avLst>
          </a:prstGeom>
          <a:solidFill>
            <a:schemeClr val="accent3"/>
          </a:solidFill>
          <a:ln/>
        </p:spPr>
      </p:sp>
      <p:sp>
        <p:nvSpPr>
          <p:cNvPr id="34" name="Text 32"/>
          <p:cNvSpPr txBox="1"/>
          <p:nvPr/>
        </p:nvSpPr>
        <p:spPr>
          <a:xfrm>
            <a:off x="9582912" y="388620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Herkules Capital</a:t>
            </a:r>
            <a:endParaRPr lang="en-US" sz="1100" dirty="0"/>
          </a:p>
        </p:txBody>
      </p:sp>
      <p:sp>
        <p:nvSpPr>
          <p:cNvPr id="35" name="Shape 33"/>
          <p:cNvSpPr/>
          <p:nvPr/>
        </p:nvSpPr>
        <p:spPr>
          <a:xfrm>
            <a:off x="7680960" y="4434840"/>
            <a:ext cx="1783080" cy="411480"/>
          </a:xfrm>
          <a:prstGeom prst="roundRect">
            <a:avLst>
              <a:gd name="adj" fmla="val 48889"/>
            </a:avLst>
          </a:prstGeom>
          <a:solidFill>
            <a:schemeClr val="accent3"/>
          </a:solidFill>
          <a:ln/>
        </p:spPr>
      </p:sp>
      <p:sp>
        <p:nvSpPr>
          <p:cNvPr id="36" name="Text 34"/>
          <p:cNvSpPr txBox="1"/>
          <p:nvPr/>
        </p:nvSpPr>
        <p:spPr>
          <a:xfrm>
            <a:off x="7680960" y="443484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Investinor</a:t>
            </a:r>
            <a:endParaRPr lang="en-US" sz="1100" dirty="0"/>
          </a:p>
        </p:txBody>
      </p:sp>
      <p:sp>
        <p:nvSpPr>
          <p:cNvPr id="37" name="Shape 35"/>
          <p:cNvSpPr/>
          <p:nvPr/>
        </p:nvSpPr>
        <p:spPr>
          <a:xfrm>
            <a:off x="9582912" y="4434840"/>
            <a:ext cx="1783080" cy="411480"/>
          </a:xfrm>
          <a:prstGeom prst="roundRect">
            <a:avLst>
              <a:gd name="adj" fmla="val 48889"/>
            </a:avLst>
          </a:prstGeom>
          <a:solidFill>
            <a:schemeClr val="accent3"/>
          </a:solidFill>
          <a:ln/>
        </p:spPr>
      </p:sp>
      <p:sp>
        <p:nvSpPr>
          <p:cNvPr id="38" name="Text 36"/>
          <p:cNvSpPr txBox="1"/>
          <p:nvPr/>
        </p:nvSpPr>
        <p:spPr>
          <a:xfrm>
            <a:off x="9582912" y="443484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NBIM (Oljefondet)</a:t>
            </a:r>
            <a:endParaRPr lang="en-US" sz="1100" dirty="0"/>
          </a:p>
        </p:txBody>
      </p:sp>
      <p:sp>
        <p:nvSpPr>
          <p:cNvPr id="39" name="Shape 37"/>
          <p:cNvSpPr/>
          <p:nvPr/>
        </p:nvSpPr>
        <p:spPr>
          <a:xfrm>
            <a:off x="7680960" y="4983480"/>
            <a:ext cx="1783080" cy="411480"/>
          </a:xfrm>
          <a:prstGeom prst="roundRect">
            <a:avLst>
              <a:gd name="adj" fmla="val 48889"/>
            </a:avLst>
          </a:prstGeom>
          <a:solidFill>
            <a:schemeClr val="accent3"/>
          </a:solidFill>
          <a:ln/>
        </p:spPr>
      </p:sp>
      <p:sp>
        <p:nvSpPr>
          <p:cNvPr id="40" name="Text 38"/>
          <p:cNvSpPr txBox="1"/>
          <p:nvPr/>
        </p:nvSpPr>
        <p:spPr>
          <a:xfrm>
            <a:off x="7680960" y="498348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Folketrygdfondet</a:t>
            </a:r>
            <a:endParaRPr lang="en-US" sz="1100" dirty="0"/>
          </a:p>
        </p:txBody>
      </p:sp>
      <p:sp>
        <p:nvSpPr>
          <p:cNvPr id="41" name="Shape 39"/>
          <p:cNvSpPr/>
          <p:nvPr/>
        </p:nvSpPr>
        <p:spPr>
          <a:xfrm>
            <a:off x="9582912" y="4983480"/>
            <a:ext cx="1783080" cy="411480"/>
          </a:xfrm>
          <a:prstGeom prst="roundRect">
            <a:avLst>
              <a:gd name="adj" fmla="val 48889"/>
            </a:avLst>
          </a:prstGeom>
          <a:solidFill>
            <a:schemeClr val="accent3"/>
          </a:solidFill>
          <a:ln/>
        </p:spPr>
      </p:sp>
      <p:sp>
        <p:nvSpPr>
          <p:cNvPr id="42" name="Text 40"/>
          <p:cNvSpPr txBox="1"/>
          <p:nvPr/>
        </p:nvSpPr>
        <p:spPr>
          <a:xfrm>
            <a:off x="9582912" y="4983480"/>
            <a:ext cx="1783080" cy="411480"/>
          </a:xfrm>
          <a:prstGeom prst="rect">
            <a:avLst/>
          </a:prstGeom>
          <a:noFill/>
          <a:ln/>
        </p:spPr>
        <p:txBody>
          <a:bodyPr wrap="square" lIns="0" tIns="0" rIns="0" bIns="0" rtlCol="0" anchor="ctr"/>
          <a:lstStyle/>
          <a:p>
            <a:pPr algn="ctr" indent="0" marL="0">
              <a:buNone/>
            </a:pPr>
            <a:r>
              <a:rPr lang="en-US" sz="1100" dirty="0">
                <a:solidFill>
                  <a:schemeClr val="tx1"/>
                </a:solidFill>
              </a:rPr>
              <a:t>ODIN Forvaltning</a:t>
            </a:r>
            <a:endParaRPr lang="en-US" sz="1100" dirty="0"/>
          </a:p>
        </p:txBody>
      </p:sp>
      <p:sp>
        <p:nvSpPr>
          <p:cNvPr id="43" name="Shape 41"/>
          <p:cNvSpPr/>
          <p:nvPr/>
        </p:nvSpPr>
        <p:spPr>
          <a:xfrm>
            <a:off x="5138928" y="2240280"/>
            <a:ext cx="1920240" cy="1920240"/>
          </a:xfrm>
          <a:prstGeom prst="ellipse">
            <a:avLst/>
          </a:prstGeom>
          <a:solidFill>
            <a:schemeClr val="accent1"/>
          </a:solidFill>
          <a:ln/>
        </p:spPr>
      </p:sp>
      <p:pic>
        <p:nvPicPr>
          <p:cNvPr id="44" name="Image 0" descr="preencoded.png">    </p:cNvPr>
          <p:cNvPicPr>
            <a:picLocks noChangeAspect="1"/>
          </p:cNvPicPr>
          <p:nvPr/>
        </p:nvPicPr>
        <p:blipFill>
          <a:blip r:embed="rId1"/>
          <a:stretch>
            <a:fillRect/>
          </a:stretch>
        </p:blipFill>
        <p:spPr>
          <a:xfrm>
            <a:off x="5824728" y="2514600"/>
            <a:ext cx="548640" cy="548640"/>
          </a:xfrm>
          <a:prstGeom prst="rect">
            <a:avLst/>
          </a:prstGeom>
        </p:spPr>
      </p:pic>
      <p:sp>
        <p:nvSpPr>
          <p:cNvPr id="45" name="Text 42"/>
          <p:cNvSpPr txBox="1"/>
          <p:nvPr/>
        </p:nvSpPr>
        <p:spPr>
          <a:xfrm>
            <a:off x="5138928" y="3154680"/>
            <a:ext cx="1920240" cy="365760"/>
          </a:xfrm>
          <a:prstGeom prst="rect">
            <a:avLst/>
          </a:prstGeom>
          <a:noFill/>
          <a:ln/>
        </p:spPr>
        <p:txBody>
          <a:bodyPr wrap="square" lIns="0" tIns="0" rIns="0" bIns="0" rtlCol="0" anchor="t"/>
          <a:lstStyle/>
          <a:p>
            <a:pPr algn="ctr" indent="0" marL="0">
              <a:buNone/>
            </a:pPr>
            <a:r>
              <a:rPr lang="en-US" sz="1500" b="1" dirty="0">
                <a:solidFill>
                  <a:schemeClr val="bg1"/>
                </a:solidFill>
                <a:latin typeface="+mj-lt" pitchFamily="34" charset="0"/>
                <a:ea typeface="+mj-lt" pitchFamily="34" charset="-122"/>
                <a:cs typeface="+mj-lt" pitchFamily="34" charset="-120"/>
              </a:rPr>
              <a:t>SELSKAPET</a:t>
            </a:r>
            <a:endParaRPr lang="en-US" sz="1500" dirty="0"/>
          </a:p>
        </p:txBody>
      </p:sp>
      <p:sp>
        <p:nvSpPr>
          <p:cNvPr id="46" name="Shape 43"/>
          <p:cNvSpPr/>
          <p:nvPr/>
        </p:nvSpPr>
        <p:spPr>
          <a:xfrm>
            <a:off x="4846320" y="3200400"/>
            <a:ext cx="274320" cy="0"/>
          </a:xfrm>
          <a:prstGeom prst="line">
            <a:avLst/>
          </a:prstGeom>
          <a:noFill/>
          <a:ln w="31750">
            <a:solidFill>
              <a:schemeClr val="accent1"/>
            </a:solidFill>
            <a:prstDash val="solid"/>
            <a:tailEnd type="triangle"/>
          </a:ln>
        </p:spPr>
      </p:sp>
      <p:sp>
        <p:nvSpPr>
          <p:cNvPr id="47" name="Shape 44"/>
          <p:cNvSpPr/>
          <p:nvPr/>
        </p:nvSpPr>
        <p:spPr>
          <a:xfrm flipH="1">
            <a:off x="7086600" y="3200400"/>
            <a:ext cx="274320" cy="0"/>
          </a:xfrm>
          <a:prstGeom prst="line">
            <a:avLst/>
          </a:prstGeom>
          <a:noFill/>
          <a:ln w="31750">
            <a:solidFill>
              <a:schemeClr val="accent1"/>
            </a:solidFill>
            <a:prstDash val="solid"/>
            <a:tailEnd type="triangle"/>
          </a:ln>
        </p:spPr>
      </p:sp>
      <p:sp>
        <p:nvSpPr>
          <p:cNvPr id="48" name="Text 45"/>
          <p:cNvSpPr txBox="1"/>
          <p:nvPr/>
        </p:nvSpPr>
        <p:spPr>
          <a:xfrm>
            <a:off x="4800600" y="4343400"/>
            <a:ext cx="1097280" cy="320040"/>
          </a:xfrm>
          <a:prstGeom prst="rect">
            <a:avLst/>
          </a:prstGeom>
          <a:noFill/>
          <a:ln/>
        </p:spPr>
        <p:txBody>
          <a:bodyPr wrap="square" lIns="0" tIns="0" rIns="0" bIns="0" rtlCol="0" anchor="t"/>
          <a:lstStyle/>
          <a:p>
            <a:pPr algn="ctr" indent="0" marL="0">
              <a:buNone/>
            </a:pPr>
            <a:r>
              <a:rPr lang="en-US" sz="1300" dirty="0">
                <a:solidFill>
                  <a:schemeClr val="tx2"/>
                </a:solidFill>
              </a:rPr>
              <a:t>rådgir</a:t>
            </a:r>
            <a:endParaRPr lang="en-US" sz="1300" dirty="0"/>
          </a:p>
        </p:txBody>
      </p:sp>
      <p:sp>
        <p:nvSpPr>
          <p:cNvPr id="49" name="Text 46"/>
          <p:cNvSpPr txBox="1"/>
          <p:nvPr/>
        </p:nvSpPr>
        <p:spPr>
          <a:xfrm>
            <a:off x="6263640" y="4343400"/>
            <a:ext cx="1188720" cy="320040"/>
          </a:xfrm>
          <a:prstGeom prst="rect">
            <a:avLst/>
          </a:prstGeom>
          <a:noFill/>
          <a:ln/>
        </p:spPr>
        <p:txBody>
          <a:bodyPr wrap="square" lIns="0" tIns="0" rIns="0" bIns="0" rtlCol="0" anchor="t"/>
          <a:lstStyle/>
          <a:p>
            <a:pPr algn="ctr" indent="0" marL="0">
              <a:buNone/>
            </a:pPr>
            <a:r>
              <a:rPr lang="en-US" sz="1300" dirty="0">
                <a:solidFill>
                  <a:schemeClr val="tx2"/>
                </a:solidFill>
              </a:rPr>
              <a:t>investerer</a:t>
            </a:r>
            <a:endParaRPr lang="en-US" sz="1300" dirty="0"/>
          </a:p>
        </p:txBody>
      </p:sp>
      <p:sp>
        <p:nvSpPr>
          <p:cNvPr id="50" name="Shape 47"/>
          <p:cNvSpPr/>
          <p:nvPr/>
        </p:nvSpPr>
        <p:spPr>
          <a:xfrm flipH="1" flipV="1">
            <a:off x="5120640" y="3931920"/>
            <a:ext cx="228600" cy="411480"/>
          </a:xfrm>
          <a:prstGeom prst="line">
            <a:avLst/>
          </a:prstGeom>
          <a:noFill/>
          <a:ln w="15875">
            <a:solidFill>
              <a:schemeClr val="tx2"/>
            </a:solidFill>
            <a:prstDash val="solid"/>
            <a:tailEnd type="triangle"/>
          </a:ln>
        </p:spPr>
      </p:sp>
      <p:sp>
        <p:nvSpPr>
          <p:cNvPr id="51" name="Shape 48"/>
          <p:cNvSpPr/>
          <p:nvPr/>
        </p:nvSpPr>
        <p:spPr>
          <a:xfrm flipV="1">
            <a:off x="6858000" y="3931920"/>
            <a:ext cx="228600" cy="411480"/>
          </a:xfrm>
          <a:prstGeom prst="line">
            <a:avLst/>
          </a:prstGeom>
          <a:noFill/>
          <a:ln w="15875">
            <a:solidFill>
              <a:schemeClr val="tx2"/>
            </a:solidFill>
            <a:prstDash val="solid"/>
            <a:tailEnd type="triangle"/>
          </a:ln>
        </p:spPr>
      </p:sp>
      <p:sp>
        <p:nvSpPr>
          <p:cNvPr id="52" name="Text 49"/>
          <p:cNvSpPr txBox="1"/>
          <p:nvPr/>
        </p:nvSpPr>
        <p:spPr>
          <a:xfrm>
            <a:off x="548640" y="5852160"/>
            <a:ext cx="10241280" cy="365760"/>
          </a:xfrm>
          <a:prstGeom prst="rect">
            <a:avLst/>
          </a:prstGeom>
          <a:noFill/>
          <a:ln/>
        </p:spPr>
        <p:txBody>
          <a:bodyPr wrap="square" lIns="0" tIns="0" rIns="0" bIns="0" rtlCol="0" anchor="t"/>
          <a:lstStyle/>
          <a:p>
            <a:pPr indent="0" marL="0">
              <a:buNone/>
            </a:pPr>
            <a:r>
              <a:rPr lang="en-US" sz="1200" dirty="0">
                <a:solidFill>
                  <a:schemeClr val="tx2"/>
                </a:solidFill>
              </a:rPr>
              <a:t>Også en del av bildet: Big 4 (f.eks. KPMG Deal Advisory), advokatfirmaer og konsulentselskaper som støtter transaksjonene.</a:t>
            </a:r>
            <a:endParaRPr lang="en-US" sz="12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Foto" descr="/tmp/claude-0/-home-user-B-RS/bc29adb1-953f-55c2-bb90-b9f7aff29f66/scratchpad/assets/stage.jpg">    </p:cNvPr>
          <p:cNvPicPr>
            <a:picLocks noChangeAspect="1"/>
          </p:cNvPicPr>
          <p:nvPr/>
        </p:nvPicPr>
        <p:blipFill>
          <a:blip r:embed="rId1"/>
          <a:srcRect l="0" r="0" t="0" b="0"/>
          <a:stretch/>
        </p:blipFill>
        <p:spPr>
          <a:xfrm>
            <a:off x="6675120" y="0"/>
            <a:ext cx="5516575" cy="6858000"/>
          </a:xfrm>
          <a:prstGeom prst="rect">
            <a:avLst/>
          </a:prstGeom>
        </p:spPr>
      </p:pic>
      <p:sp>
        <p:nvSpPr>
          <p:cNvPr id="3" name="Diagonal"/>
          <p:cNvSpPr/>
          <p:nvPr/>
        </p:nvSpPr>
        <p:spPr>
          <a:xfrm flipV="1">
            <a:off x="6665976" y="-9144"/>
            <a:ext cx="2743200" cy="6876288"/>
          </a:xfrm>
          <a:prstGeom prst="rtTriangle">
            <a:avLst/>
          </a:prstGeom>
          <a:solidFill>
            <a:schemeClr val="bg1"/>
          </a:solidFill>
          <a:ln/>
        </p:spPr>
      </p:sp>
      <p:sp>
        <p:nvSpPr>
          <p:cNvPr id="4" name="Gul linje"/>
          <p:cNvSpPr/>
          <p:nvPr/>
        </p:nvSpPr>
        <p:spPr>
          <a:xfrm flipH="1">
            <a:off x="6675120" y="0"/>
            <a:ext cx="2743200" cy="6858000"/>
          </a:xfrm>
          <a:prstGeom prst="line">
            <a:avLst/>
          </a:prstGeom>
          <a:noFill/>
          <a:ln w="38100">
            <a:solidFill>
              <a:schemeClr val="accent1"/>
            </a:solidFill>
            <a:prstDash val="solid"/>
          </a:ln>
        </p:spPr>
      </p:sp>
      <p:sp>
        <p:nvSpPr>
          <p:cNvPr id="5" name="Text 0"/>
          <p:cNvSpPr/>
          <p:nvPr>
            <p:ph idx="101" type="body" hasCustomPrompt="1"/>
          </p:nvPr>
        </p:nvSpPr>
        <p:spPr>
          <a:xfrm>
            <a:off x="548640" y="1783080"/>
            <a:ext cx="5486400" cy="411480"/>
          </a:xfrm>
          <a:prstGeom prst="rect">
            <a:avLst/>
          </a:prstGeom>
          <a:noFill/>
          <a:ln/>
        </p:spPr>
        <p:txBody>
          <a:bodyPr wrap="square" lIns="0" tIns="0" rIns="0" bIns="0" rtlCol="0"/>
          <a:lstStyle/>
          <a:p>
            <a:pPr algn="l" indent="0" marL="0">
              <a:buNone/>
            </a:pPr>
            <a:r>
              <a:rPr lang="en-US" sz="1600" b="1" spc="600" kern="0" dirty="0">
                <a:solidFill>
                  <a:schemeClr val="accent1"/>
                </a:solidFill>
                <a:latin typeface="+mj-lt" pitchFamily="34" charset="0"/>
                <a:ea typeface="+mj-lt" pitchFamily="34" charset="-122"/>
                <a:cs typeface="+mj-lt" pitchFamily="34" charset="-120"/>
              </a:rPr>
              <a:t>DEL 3</a:t>
            </a:r>
            <a:endParaRPr lang="en-US" sz="1600" dirty="0"/>
          </a:p>
        </p:txBody>
      </p:sp>
      <p:sp>
        <p:nvSpPr>
          <p:cNvPr id="6" name="Text 0"/>
          <p:cNvSpPr/>
          <p:nvPr>
            <p:ph idx="102" type="title" hasCustomPrompt="1"/>
          </p:nvPr>
        </p:nvSpPr>
        <p:spPr>
          <a:xfrm>
            <a:off x="548640" y="2286000"/>
            <a:ext cx="5760720" cy="1508760"/>
          </a:xfrm>
          <a:prstGeom prst="rect">
            <a:avLst/>
          </a:prstGeom>
          <a:noFill/>
          <a:ln/>
        </p:spPr>
        <p:txBody>
          <a:bodyPr wrap="square" lIns="0" tIns="0" rIns="0" bIns="0" rtlCol="0" anchor="t"/>
          <a:lstStyle/>
          <a:p>
            <a:pPr algn="l" indent="0" marL="0">
              <a:buNone/>
            </a:pPr>
            <a:r>
              <a:rPr lang="en-US" sz="4400" b="1" dirty="0">
                <a:solidFill>
                  <a:schemeClr val="tx1"/>
                </a:solidFill>
                <a:latin typeface="+mj-lt" pitchFamily="34" charset="0"/>
                <a:ea typeface="+mj-lt" pitchFamily="34" charset="-122"/>
                <a:cs typeface="+mj-lt" pitchFamily="34" charset="-120"/>
              </a:rPr>
              <a:t>INVESTERINGS-BANKEN</a:t>
            </a:r>
            <a:endParaRPr lang="en-US" sz="4400" dirty="0"/>
          </a:p>
        </p:txBody>
      </p:sp>
      <p:sp>
        <p:nvSpPr>
          <p:cNvPr id="7" name="Text 0"/>
          <p:cNvSpPr/>
          <p:nvPr>
            <p:ph idx="103" type="body" hasCustomPrompt="1"/>
          </p:nvPr>
        </p:nvSpPr>
        <p:spPr>
          <a:xfrm>
            <a:off x="548640" y="3931920"/>
            <a:ext cx="5303520" cy="822960"/>
          </a:xfrm>
          <a:prstGeom prst="rect">
            <a:avLst/>
          </a:prstGeom>
          <a:noFill/>
          <a:ln/>
        </p:spPr>
        <p:txBody>
          <a:bodyPr wrap="square" lIns="0" tIns="0" rIns="0" bIns="0" rtlCol="0" anchor="t"/>
          <a:lstStyle/>
          <a:p>
            <a:pPr indent="0" marL="0">
              <a:buNone/>
            </a:pPr>
            <a:r>
              <a:rPr lang="en-US" sz="1800" dirty="0">
                <a:solidFill>
                  <a:schemeClr val="tx2"/>
                </a:solidFill>
              </a:rPr>
              <a:t>IB, ECM, DCM, M&amp;A – og hva en analytiker gjør</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HVA GJØR EN INVESTERINGSBANK?</a:t>
            </a:r>
            <a:endParaRPr lang="en-US" sz="3200" dirty="0"/>
          </a:p>
        </p:txBody>
      </p:sp>
      <p:sp>
        <p:nvSpPr>
          <p:cNvPr id="3" name="Shape 1"/>
          <p:cNvSpPr/>
          <p:nvPr/>
        </p:nvSpPr>
        <p:spPr>
          <a:xfrm>
            <a:off x="4270248" y="1325880"/>
            <a:ext cx="3657600" cy="685800"/>
          </a:xfrm>
          <a:prstGeom prst="roundRect">
            <a:avLst>
              <a:gd name="adj" fmla="val 10667"/>
            </a:avLst>
          </a:prstGeom>
          <a:solidFill>
            <a:schemeClr val="accent1"/>
          </a:solidFill>
          <a:ln/>
        </p:spPr>
      </p:sp>
      <p:sp>
        <p:nvSpPr>
          <p:cNvPr id="4" name="Text 2"/>
          <p:cNvSpPr txBox="1"/>
          <p:nvPr/>
        </p:nvSpPr>
        <p:spPr>
          <a:xfrm>
            <a:off x="4270248" y="1325880"/>
            <a:ext cx="3657600" cy="6858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INVESTERINGSBANK / MEGLERHUS</a:t>
            </a:r>
            <a:endParaRPr lang="en-US" sz="1600" dirty="0"/>
          </a:p>
        </p:txBody>
      </p:sp>
      <p:sp>
        <p:nvSpPr>
          <p:cNvPr id="5" name="Shape 3"/>
          <p:cNvSpPr/>
          <p:nvPr/>
        </p:nvSpPr>
        <p:spPr>
          <a:xfrm>
            <a:off x="548640" y="2514600"/>
            <a:ext cx="5852160" cy="868680"/>
          </a:xfrm>
          <a:prstGeom prst="roundRect">
            <a:avLst>
              <a:gd name="adj" fmla="val 8421"/>
            </a:avLst>
          </a:prstGeom>
          <a:solidFill>
            <a:schemeClr val="accent3"/>
          </a:solidFill>
          <a:ln/>
        </p:spPr>
      </p:sp>
      <p:sp>
        <p:nvSpPr>
          <p:cNvPr id="6" name="Text 4"/>
          <p:cNvSpPr txBox="1"/>
          <p:nvPr/>
        </p:nvSpPr>
        <p:spPr>
          <a:xfrm>
            <a:off x="548640" y="2514600"/>
            <a:ext cx="5852160" cy="868680"/>
          </a:xfrm>
          <a:prstGeom prst="rect">
            <a:avLst/>
          </a:prstGeom>
          <a:noFill/>
          <a:ln/>
        </p:spPr>
        <p:txBody>
          <a:bodyPr wrap="square" lIns="0" tIns="0" rIns="0" bIns="0" rtlCol="0" anchor="ctr"/>
          <a:lstStyle/>
          <a:p>
            <a:pPr algn="ctr" indent="0" marL="0">
              <a:buNone/>
            </a:pPr>
            <a:r>
              <a:rPr lang="en-US" sz="1700" b="1" dirty="0">
                <a:solidFill>
                  <a:schemeClr val="tx1"/>
                </a:solidFill>
                <a:latin typeface="+mj-lt" pitchFamily="34" charset="0"/>
                <a:ea typeface="+mj-lt" pitchFamily="34" charset="-122"/>
                <a:cs typeface="+mj-lt" pitchFamily="34" charset="-120"/>
              </a:rPr>
              <a:t>CORPORATE FINANCE (IB)</a:t>
            </a:r>
            <a:endParaRPr lang="en-US" sz="1400" dirty="0"/>
          </a:p>
          <a:p>
            <a:pPr algn="ctr" indent="0" marL="0">
              <a:buNone/>
            </a:pPr>
            <a:r>
              <a:rPr lang="en-US" sz="1300" dirty="0">
                <a:solidFill>
                  <a:schemeClr val="tx2"/>
                </a:solidFill>
              </a:rPr>
              <a:t>Rådgir selskaper</a:t>
            </a:r>
            <a:endParaRPr lang="en-US" sz="1400" dirty="0"/>
          </a:p>
        </p:txBody>
      </p:sp>
      <p:sp>
        <p:nvSpPr>
          <p:cNvPr id="7" name="Shape 5"/>
          <p:cNvSpPr/>
          <p:nvPr/>
        </p:nvSpPr>
        <p:spPr>
          <a:xfrm>
            <a:off x="7223760" y="2514600"/>
            <a:ext cx="4389120" cy="868680"/>
          </a:xfrm>
          <a:prstGeom prst="roundRect">
            <a:avLst>
              <a:gd name="adj" fmla="val 8421"/>
            </a:avLst>
          </a:prstGeom>
          <a:solidFill>
            <a:schemeClr val="accent3"/>
          </a:solidFill>
          <a:ln/>
        </p:spPr>
      </p:sp>
      <p:sp>
        <p:nvSpPr>
          <p:cNvPr id="8" name="Text 6"/>
          <p:cNvSpPr txBox="1"/>
          <p:nvPr/>
        </p:nvSpPr>
        <p:spPr>
          <a:xfrm>
            <a:off x="7223760" y="2514600"/>
            <a:ext cx="4389120" cy="868680"/>
          </a:xfrm>
          <a:prstGeom prst="rect">
            <a:avLst/>
          </a:prstGeom>
          <a:noFill/>
          <a:ln/>
        </p:spPr>
        <p:txBody>
          <a:bodyPr wrap="square" lIns="0" tIns="0" rIns="0" bIns="0" rtlCol="0" anchor="ctr"/>
          <a:lstStyle/>
          <a:p>
            <a:pPr algn="ctr" indent="0" marL="0">
              <a:buNone/>
            </a:pPr>
            <a:r>
              <a:rPr lang="en-US" sz="1700" b="1" dirty="0">
                <a:solidFill>
                  <a:schemeClr val="tx1"/>
                </a:solidFill>
                <a:latin typeface="+mj-lt" pitchFamily="34" charset="0"/>
                <a:ea typeface="+mj-lt" pitchFamily="34" charset="-122"/>
                <a:cs typeface="+mj-lt" pitchFamily="34" charset="-120"/>
              </a:rPr>
              <a:t>MARKETS</a:t>
            </a:r>
            <a:endParaRPr lang="en-US" sz="1400" dirty="0"/>
          </a:p>
          <a:p>
            <a:pPr algn="ctr" indent="0" marL="0">
              <a:buNone/>
            </a:pPr>
            <a:r>
              <a:rPr lang="en-US" sz="1300" dirty="0">
                <a:solidFill>
                  <a:schemeClr val="tx2"/>
                </a:solidFill>
              </a:rPr>
              <a:t>Betjener investorer</a:t>
            </a:r>
            <a:endParaRPr lang="en-US" sz="1400" dirty="0"/>
          </a:p>
        </p:txBody>
      </p:sp>
      <p:sp>
        <p:nvSpPr>
          <p:cNvPr id="9" name="Shape 7"/>
          <p:cNvSpPr/>
          <p:nvPr/>
        </p:nvSpPr>
        <p:spPr>
          <a:xfrm>
            <a:off x="6099048" y="2011680"/>
            <a:ext cx="0" cy="246888"/>
          </a:xfrm>
          <a:prstGeom prst="line">
            <a:avLst/>
          </a:prstGeom>
          <a:noFill/>
          <a:ln w="15875">
            <a:solidFill>
              <a:schemeClr val="tx2"/>
            </a:solidFill>
            <a:prstDash val="solid"/>
          </a:ln>
        </p:spPr>
      </p:sp>
      <p:sp>
        <p:nvSpPr>
          <p:cNvPr id="10" name="Shape 8"/>
          <p:cNvSpPr/>
          <p:nvPr/>
        </p:nvSpPr>
        <p:spPr>
          <a:xfrm>
            <a:off x="3474720" y="2258568"/>
            <a:ext cx="5943600" cy="0"/>
          </a:xfrm>
          <a:prstGeom prst="line">
            <a:avLst/>
          </a:prstGeom>
          <a:noFill/>
          <a:ln w="15875">
            <a:solidFill>
              <a:schemeClr val="tx2"/>
            </a:solidFill>
            <a:prstDash val="solid"/>
          </a:ln>
        </p:spPr>
      </p:sp>
      <p:sp>
        <p:nvSpPr>
          <p:cNvPr id="11" name="Shape 9"/>
          <p:cNvSpPr/>
          <p:nvPr/>
        </p:nvSpPr>
        <p:spPr>
          <a:xfrm>
            <a:off x="3474720" y="2258568"/>
            <a:ext cx="0" cy="256032"/>
          </a:xfrm>
          <a:prstGeom prst="line">
            <a:avLst/>
          </a:prstGeom>
          <a:noFill/>
          <a:ln w="15875">
            <a:solidFill>
              <a:schemeClr val="tx2"/>
            </a:solidFill>
            <a:prstDash val="solid"/>
          </a:ln>
        </p:spPr>
      </p:sp>
      <p:sp>
        <p:nvSpPr>
          <p:cNvPr id="12" name="Shape 10"/>
          <p:cNvSpPr/>
          <p:nvPr/>
        </p:nvSpPr>
        <p:spPr>
          <a:xfrm>
            <a:off x="9418320" y="2258568"/>
            <a:ext cx="0" cy="256032"/>
          </a:xfrm>
          <a:prstGeom prst="line">
            <a:avLst/>
          </a:prstGeom>
          <a:noFill/>
          <a:ln w="15875">
            <a:solidFill>
              <a:schemeClr val="tx2"/>
            </a:solidFill>
            <a:prstDash val="solid"/>
          </a:ln>
        </p:spPr>
      </p:sp>
      <p:sp>
        <p:nvSpPr>
          <p:cNvPr id="13" name="Shape 11"/>
          <p:cNvSpPr/>
          <p:nvPr/>
        </p:nvSpPr>
        <p:spPr>
          <a:xfrm>
            <a:off x="548640" y="3794760"/>
            <a:ext cx="1828800" cy="1965960"/>
          </a:xfrm>
          <a:prstGeom prst="roundRect">
            <a:avLst>
              <a:gd name="adj" fmla="val 4000"/>
            </a:avLst>
          </a:prstGeom>
          <a:solidFill>
            <a:schemeClr val="bg2"/>
          </a:solidFill>
          <a:ln/>
        </p:spPr>
      </p:sp>
      <p:sp>
        <p:nvSpPr>
          <p:cNvPr id="14" name="Text 12"/>
          <p:cNvSpPr txBox="1"/>
          <p:nvPr/>
        </p:nvSpPr>
        <p:spPr>
          <a:xfrm>
            <a:off x="731520" y="3931920"/>
            <a:ext cx="1463040" cy="411480"/>
          </a:xfrm>
          <a:prstGeom prst="rect">
            <a:avLst/>
          </a:prstGeom>
          <a:noFill/>
          <a:ln/>
        </p:spPr>
        <p:txBody>
          <a:bodyPr wrap="square" lIns="0" tIns="0" rIns="0" bIns="0" rtlCol="0" anchor="t"/>
          <a:lstStyle/>
          <a:p>
            <a:pPr indent="0" marL="0">
              <a:buNone/>
            </a:pPr>
            <a:r>
              <a:rPr lang="en-US" sz="2000" b="1" dirty="0">
                <a:solidFill>
                  <a:schemeClr val="accent1"/>
                </a:solidFill>
                <a:latin typeface="+mj-lt" pitchFamily="34" charset="0"/>
                <a:ea typeface="+mj-lt" pitchFamily="34" charset="-122"/>
                <a:cs typeface="+mj-lt" pitchFamily="34" charset="-120"/>
              </a:rPr>
              <a:t>ECM</a:t>
            </a:r>
            <a:endParaRPr lang="en-US" sz="2000" dirty="0"/>
          </a:p>
        </p:txBody>
      </p:sp>
      <p:sp>
        <p:nvSpPr>
          <p:cNvPr id="15" name="Text 13"/>
          <p:cNvSpPr txBox="1"/>
          <p:nvPr/>
        </p:nvSpPr>
        <p:spPr>
          <a:xfrm>
            <a:off x="731520" y="4343400"/>
            <a:ext cx="1463040" cy="320040"/>
          </a:xfrm>
          <a:prstGeom prst="rect">
            <a:avLst/>
          </a:prstGeom>
          <a:noFill/>
          <a:ln/>
        </p:spPr>
        <p:txBody>
          <a:bodyPr wrap="square" lIns="0" tIns="0" rIns="0" bIns="0" rtlCol="0" anchor="t"/>
          <a:lstStyle/>
          <a:p>
            <a:pPr indent="0" marL="0">
              <a:buNone/>
            </a:pPr>
            <a:r>
              <a:rPr lang="en-US" sz="1100" i="1" dirty="0">
                <a:solidFill>
                  <a:schemeClr val="tx2"/>
                </a:solidFill>
              </a:rPr>
              <a:t>Equity Capital Markets</a:t>
            </a:r>
            <a:endParaRPr lang="en-US" sz="1100" dirty="0"/>
          </a:p>
        </p:txBody>
      </p:sp>
      <p:sp>
        <p:nvSpPr>
          <p:cNvPr id="16" name="Text 14"/>
          <p:cNvSpPr txBox="1"/>
          <p:nvPr/>
        </p:nvSpPr>
        <p:spPr>
          <a:xfrm>
            <a:off x="731520" y="4709160"/>
            <a:ext cx="1463040" cy="960120"/>
          </a:xfrm>
          <a:prstGeom prst="rect">
            <a:avLst/>
          </a:prstGeom>
          <a:noFill/>
          <a:ln/>
        </p:spPr>
        <p:txBody>
          <a:bodyPr wrap="square" lIns="0" tIns="0" rIns="0" bIns="0" rtlCol="0" anchor="t"/>
          <a:lstStyle/>
          <a:p>
            <a:pPr indent="0" marL="0">
              <a:buNone/>
            </a:pPr>
            <a:r>
              <a:rPr lang="en-US" sz="1300" dirty="0">
                <a:solidFill>
                  <a:schemeClr val="tx1"/>
                </a:solidFill>
              </a:rPr>
              <a:t>Henter egenkapital: børsnoteringer (IPO) og emisjoner</a:t>
            </a:r>
            <a:endParaRPr lang="en-US" sz="1300" dirty="0"/>
          </a:p>
        </p:txBody>
      </p:sp>
      <p:sp>
        <p:nvSpPr>
          <p:cNvPr id="17" name="Shape 15"/>
          <p:cNvSpPr/>
          <p:nvPr/>
        </p:nvSpPr>
        <p:spPr>
          <a:xfrm>
            <a:off x="2560320" y="3794760"/>
            <a:ext cx="1828800" cy="1965960"/>
          </a:xfrm>
          <a:prstGeom prst="roundRect">
            <a:avLst>
              <a:gd name="adj" fmla="val 4000"/>
            </a:avLst>
          </a:prstGeom>
          <a:solidFill>
            <a:schemeClr val="bg2"/>
          </a:solidFill>
          <a:ln/>
        </p:spPr>
      </p:sp>
      <p:sp>
        <p:nvSpPr>
          <p:cNvPr id="18" name="Text 16"/>
          <p:cNvSpPr txBox="1"/>
          <p:nvPr/>
        </p:nvSpPr>
        <p:spPr>
          <a:xfrm>
            <a:off x="2743200" y="3931920"/>
            <a:ext cx="1463040" cy="411480"/>
          </a:xfrm>
          <a:prstGeom prst="rect">
            <a:avLst/>
          </a:prstGeom>
          <a:noFill/>
          <a:ln/>
        </p:spPr>
        <p:txBody>
          <a:bodyPr wrap="square" lIns="0" tIns="0" rIns="0" bIns="0" rtlCol="0" anchor="t"/>
          <a:lstStyle/>
          <a:p>
            <a:pPr indent="0" marL="0">
              <a:buNone/>
            </a:pPr>
            <a:r>
              <a:rPr lang="en-US" sz="2000" b="1" dirty="0">
                <a:solidFill>
                  <a:schemeClr val="accent1"/>
                </a:solidFill>
                <a:latin typeface="+mj-lt" pitchFamily="34" charset="0"/>
                <a:ea typeface="+mj-lt" pitchFamily="34" charset="-122"/>
                <a:cs typeface="+mj-lt" pitchFamily="34" charset="-120"/>
              </a:rPr>
              <a:t>DCM</a:t>
            </a:r>
            <a:endParaRPr lang="en-US" sz="2000" dirty="0"/>
          </a:p>
        </p:txBody>
      </p:sp>
      <p:sp>
        <p:nvSpPr>
          <p:cNvPr id="19" name="Text 17"/>
          <p:cNvSpPr txBox="1"/>
          <p:nvPr/>
        </p:nvSpPr>
        <p:spPr>
          <a:xfrm>
            <a:off x="2743200" y="4343400"/>
            <a:ext cx="1463040" cy="320040"/>
          </a:xfrm>
          <a:prstGeom prst="rect">
            <a:avLst/>
          </a:prstGeom>
          <a:noFill/>
          <a:ln/>
        </p:spPr>
        <p:txBody>
          <a:bodyPr wrap="square" lIns="0" tIns="0" rIns="0" bIns="0" rtlCol="0" anchor="t"/>
          <a:lstStyle/>
          <a:p>
            <a:pPr indent="0" marL="0">
              <a:buNone/>
            </a:pPr>
            <a:r>
              <a:rPr lang="en-US" sz="1100" i="1" dirty="0">
                <a:solidFill>
                  <a:schemeClr val="tx2"/>
                </a:solidFill>
              </a:rPr>
              <a:t>Debt Capital Markets</a:t>
            </a:r>
            <a:endParaRPr lang="en-US" sz="1100" dirty="0"/>
          </a:p>
        </p:txBody>
      </p:sp>
      <p:sp>
        <p:nvSpPr>
          <p:cNvPr id="20" name="Text 18"/>
          <p:cNvSpPr txBox="1"/>
          <p:nvPr/>
        </p:nvSpPr>
        <p:spPr>
          <a:xfrm>
            <a:off x="2743200" y="4709160"/>
            <a:ext cx="1463040" cy="960120"/>
          </a:xfrm>
          <a:prstGeom prst="rect">
            <a:avLst/>
          </a:prstGeom>
          <a:noFill/>
          <a:ln/>
        </p:spPr>
        <p:txBody>
          <a:bodyPr wrap="square" lIns="0" tIns="0" rIns="0" bIns="0" rtlCol="0" anchor="t"/>
          <a:lstStyle/>
          <a:p>
            <a:pPr indent="0" marL="0">
              <a:buNone/>
            </a:pPr>
            <a:r>
              <a:rPr lang="en-US" sz="1300" dirty="0">
                <a:solidFill>
                  <a:schemeClr val="tx1"/>
                </a:solidFill>
              </a:rPr>
              <a:t>Henter gjeld: obligasjonslån</a:t>
            </a:r>
            <a:endParaRPr lang="en-US" sz="1300" dirty="0"/>
          </a:p>
        </p:txBody>
      </p:sp>
      <p:sp>
        <p:nvSpPr>
          <p:cNvPr id="21" name="Shape 19"/>
          <p:cNvSpPr/>
          <p:nvPr/>
        </p:nvSpPr>
        <p:spPr>
          <a:xfrm>
            <a:off x="4572000" y="3794760"/>
            <a:ext cx="1828800" cy="1965960"/>
          </a:xfrm>
          <a:prstGeom prst="roundRect">
            <a:avLst>
              <a:gd name="adj" fmla="val 4000"/>
            </a:avLst>
          </a:prstGeom>
          <a:solidFill>
            <a:schemeClr val="bg2"/>
          </a:solidFill>
          <a:ln/>
        </p:spPr>
      </p:sp>
      <p:sp>
        <p:nvSpPr>
          <p:cNvPr id="22" name="Text 20"/>
          <p:cNvSpPr txBox="1"/>
          <p:nvPr/>
        </p:nvSpPr>
        <p:spPr>
          <a:xfrm>
            <a:off x="4754880" y="3931920"/>
            <a:ext cx="1463040" cy="411480"/>
          </a:xfrm>
          <a:prstGeom prst="rect">
            <a:avLst/>
          </a:prstGeom>
          <a:noFill/>
          <a:ln/>
        </p:spPr>
        <p:txBody>
          <a:bodyPr wrap="square" lIns="0" tIns="0" rIns="0" bIns="0" rtlCol="0" anchor="t"/>
          <a:lstStyle/>
          <a:p>
            <a:pPr indent="0" marL="0">
              <a:buNone/>
            </a:pPr>
            <a:r>
              <a:rPr lang="en-US" sz="2000" b="1" dirty="0">
                <a:solidFill>
                  <a:schemeClr val="accent1"/>
                </a:solidFill>
                <a:latin typeface="+mj-lt" pitchFamily="34" charset="0"/>
                <a:ea typeface="+mj-lt" pitchFamily="34" charset="-122"/>
                <a:cs typeface="+mj-lt" pitchFamily="34" charset="-120"/>
              </a:rPr>
              <a:t>M&amp;A</a:t>
            </a:r>
            <a:endParaRPr lang="en-US" sz="2000" dirty="0"/>
          </a:p>
        </p:txBody>
      </p:sp>
      <p:sp>
        <p:nvSpPr>
          <p:cNvPr id="23" name="Text 21"/>
          <p:cNvSpPr txBox="1"/>
          <p:nvPr/>
        </p:nvSpPr>
        <p:spPr>
          <a:xfrm>
            <a:off x="4754880" y="4343400"/>
            <a:ext cx="1463040" cy="320040"/>
          </a:xfrm>
          <a:prstGeom prst="rect">
            <a:avLst/>
          </a:prstGeom>
          <a:noFill/>
          <a:ln/>
        </p:spPr>
        <p:txBody>
          <a:bodyPr wrap="square" lIns="0" tIns="0" rIns="0" bIns="0" rtlCol="0" anchor="t"/>
          <a:lstStyle/>
          <a:p>
            <a:pPr indent="0" marL="0">
              <a:buNone/>
            </a:pPr>
            <a:r>
              <a:rPr lang="en-US" sz="1100" i="1" dirty="0">
                <a:solidFill>
                  <a:schemeClr val="tx2"/>
                </a:solidFill>
              </a:rPr>
              <a:t>Mergers &amp; Acquisitions</a:t>
            </a:r>
            <a:endParaRPr lang="en-US" sz="1100" dirty="0"/>
          </a:p>
        </p:txBody>
      </p:sp>
      <p:sp>
        <p:nvSpPr>
          <p:cNvPr id="24" name="Text 22"/>
          <p:cNvSpPr txBox="1"/>
          <p:nvPr/>
        </p:nvSpPr>
        <p:spPr>
          <a:xfrm>
            <a:off x="4754880" y="4709160"/>
            <a:ext cx="1463040" cy="960120"/>
          </a:xfrm>
          <a:prstGeom prst="rect">
            <a:avLst/>
          </a:prstGeom>
          <a:noFill/>
          <a:ln/>
        </p:spPr>
        <p:txBody>
          <a:bodyPr wrap="square" lIns="0" tIns="0" rIns="0" bIns="0" rtlCol="0" anchor="t"/>
          <a:lstStyle/>
          <a:p>
            <a:pPr indent="0" marL="0">
              <a:buNone/>
            </a:pPr>
            <a:r>
              <a:rPr lang="en-US" sz="1300" dirty="0">
                <a:solidFill>
                  <a:schemeClr val="tx1"/>
                </a:solidFill>
              </a:rPr>
              <a:t>Rådgir ved kjøp, salg og sammenslåing av selskaper</a:t>
            </a:r>
            <a:endParaRPr lang="en-US" sz="1300" dirty="0"/>
          </a:p>
        </p:txBody>
      </p:sp>
      <p:sp>
        <p:nvSpPr>
          <p:cNvPr id="25" name="Shape 23"/>
          <p:cNvSpPr/>
          <p:nvPr/>
        </p:nvSpPr>
        <p:spPr>
          <a:xfrm>
            <a:off x="7223760" y="3794760"/>
            <a:ext cx="2103120" cy="1965960"/>
          </a:xfrm>
          <a:prstGeom prst="roundRect">
            <a:avLst>
              <a:gd name="adj" fmla="val 3721"/>
            </a:avLst>
          </a:prstGeom>
          <a:solidFill>
            <a:schemeClr val="bg2"/>
          </a:solidFill>
          <a:ln/>
        </p:spPr>
      </p:sp>
      <p:sp>
        <p:nvSpPr>
          <p:cNvPr id="26" name="Text 24"/>
          <p:cNvSpPr txBox="1"/>
          <p:nvPr/>
        </p:nvSpPr>
        <p:spPr>
          <a:xfrm>
            <a:off x="7406640" y="3931920"/>
            <a:ext cx="1737360" cy="411480"/>
          </a:xfrm>
          <a:prstGeom prst="rect">
            <a:avLst/>
          </a:prstGeom>
          <a:noFill/>
          <a:ln/>
        </p:spPr>
        <p:txBody>
          <a:bodyPr wrap="square" lIns="0" tIns="0" rIns="0" bIns="0" rtlCol="0" anchor="t"/>
          <a:lstStyle/>
          <a:p>
            <a:pPr indent="0" marL="0">
              <a:buNone/>
            </a:pPr>
            <a:r>
              <a:rPr lang="en-US" sz="2000" b="1" dirty="0">
                <a:solidFill>
                  <a:schemeClr val="accent1"/>
                </a:solidFill>
                <a:latin typeface="+mj-lt" pitchFamily="34" charset="0"/>
                <a:ea typeface="+mj-lt" pitchFamily="34" charset="-122"/>
                <a:cs typeface="+mj-lt" pitchFamily="34" charset="-120"/>
              </a:rPr>
              <a:t>S&amp;T</a:t>
            </a:r>
            <a:endParaRPr lang="en-US" sz="2000" dirty="0"/>
          </a:p>
        </p:txBody>
      </p:sp>
      <p:sp>
        <p:nvSpPr>
          <p:cNvPr id="27" name="Text 25"/>
          <p:cNvSpPr txBox="1"/>
          <p:nvPr/>
        </p:nvSpPr>
        <p:spPr>
          <a:xfrm>
            <a:off x="7406640" y="4343400"/>
            <a:ext cx="1737360" cy="320040"/>
          </a:xfrm>
          <a:prstGeom prst="rect">
            <a:avLst/>
          </a:prstGeom>
          <a:noFill/>
          <a:ln/>
        </p:spPr>
        <p:txBody>
          <a:bodyPr wrap="square" lIns="0" tIns="0" rIns="0" bIns="0" rtlCol="0" anchor="t"/>
          <a:lstStyle/>
          <a:p>
            <a:pPr indent="0" marL="0">
              <a:buNone/>
            </a:pPr>
            <a:r>
              <a:rPr lang="en-US" sz="1100" i="1" dirty="0">
                <a:solidFill>
                  <a:schemeClr val="tx2"/>
                </a:solidFill>
              </a:rPr>
              <a:t>Sales &amp; Trading</a:t>
            </a:r>
            <a:endParaRPr lang="en-US" sz="1100" dirty="0"/>
          </a:p>
        </p:txBody>
      </p:sp>
      <p:sp>
        <p:nvSpPr>
          <p:cNvPr id="28" name="Text 26"/>
          <p:cNvSpPr txBox="1"/>
          <p:nvPr/>
        </p:nvSpPr>
        <p:spPr>
          <a:xfrm>
            <a:off x="7406640" y="4709160"/>
            <a:ext cx="1737360" cy="960120"/>
          </a:xfrm>
          <a:prstGeom prst="rect">
            <a:avLst/>
          </a:prstGeom>
          <a:noFill/>
          <a:ln/>
        </p:spPr>
        <p:txBody>
          <a:bodyPr wrap="square" lIns="0" tIns="0" rIns="0" bIns="0" rtlCol="0" anchor="t"/>
          <a:lstStyle/>
          <a:p>
            <a:pPr indent="0" marL="0">
              <a:buNone/>
            </a:pPr>
            <a:r>
              <a:rPr lang="en-US" sz="1300" dirty="0">
                <a:solidFill>
                  <a:schemeClr val="tx1"/>
                </a:solidFill>
              </a:rPr>
              <a:t>Kjøper og selger aksjer og obligasjoner for investorer</a:t>
            </a:r>
            <a:endParaRPr lang="en-US" sz="1300" dirty="0"/>
          </a:p>
        </p:txBody>
      </p:sp>
      <p:sp>
        <p:nvSpPr>
          <p:cNvPr id="29" name="Shape 27"/>
          <p:cNvSpPr/>
          <p:nvPr/>
        </p:nvSpPr>
        <p:spPr>
          <a:xfrm>
            <a:off x="9509760" y="3794760"/>
            <a:ext cx="2103120" cy="1965960"/>
          </a:xfrm>
          <a:prstGeom prst="roundRect">
            <a:avLst>
              <a:gd name="adj" fmla="val 3721"/>
            </a:avLst>
          </a:prstGeom>
          <a:solidFill>
            <a:schemeClr val="bg2"/>
          </a:solidFill>
          <a:ln/>
        </p:spPr>
      </p:sp>
      <p:sp>
        <p:nvSpPr>
          <p:cNvPr id="30" name="Text 28"/>
          <p:cNvSpPr txBox="1"/>
          <p:nvPr/>
        </p:nvSpPr>
        <p:spPr>
          <a:xfrm>
            <a:off x="9692640" y="3931920"/>
            <a:ext cx="1737360" cy="411480"/>
          </a:xfrm>
          <a:prstGeom prst="rect">
            <a:avLst/>
          </a:prstGeom>
          <a:noFill/>
          <a:ln/>
        </p:spPr>
        <p:txBody>
          <a:bodyPr wrap="square" lIns="0" tIns="0" rIns="0" bIns="0" rtlCol="0" anchor="t"/>
          <a:lstStyle/>
          <a:p>
            <a:pPr indent="0" marL="0">
              <a:buNone/>
            </a:pPr>
            <a:r>
              <a:rPr lang="en-US" sz="2000" b="1" dirty="0">
                <a:solidFill>
                  <a:schemeClr val="accent1"/>
                </a:solidFill>
                <a:latin typeface="+mj-lt" pitchFamily="34" charset="0"/>
                <a:ea typeface="+mj-lt" pitchFamily="34" charset="-122"/>
                <a:cs typeface="+mj-lt" pitchFamily="34" charset="-120"/>
              </a:rPr>
              <a:t>RESEARCH</a:t>
            </a:r>
            <a:endParaRPr lang="en-US" sz="2000" dirty="0"/>
          </a:p>
        </p:txBody>
      </p:sp>
      <p:sp>
        <p:nvSpPr>
          <p:cNvPr id="31" name="Text 29"/>
          <p:cNvSpPr txBox="1"/>
          <p:nvPr/>
        </p:nvSpPr>
        <p:spPr>
          <a:xfrm>
            <a:off x="9692640" y="4343400"/>
            <a:ext cx="1737360" cy="320040"/>
          </a:xfrm>
          <a:prstGeom prst="rect">
            <a:avLst/>
          </a:prstGeom>
          <a:noFill/>
          <a:ln/>
        </p:spPr>
        <p:txBody>
          <a:bodyPr wrap="square" lIns="0" tIns="0" rIns="0" bIns="0" rtlCol="0" anchor="t"/>
          <a:lstStyle/>
          <a:p>
            <a:pPr indent="0" marL="0">
              <a:buNone/>
            </a:pPr>
            <a:r>
              <a:rPr lang="en-US" sz="1100" i="1" dirty="0">
                <a:solidFill>
                  <a:schemeClr val="tx2"/>
                </a:solidFill>
              </a:rPr>
              <a:t>Equity Research</a:t>
            </a:r>
            <a:endParaRPr lang="en-US" sz="1100" dirty="0"/>
          </a:p>
        </p:txBody>
      </p:sp>
      <p:sp>
        <p:nvSpPr>
          <p:cNvPr id="32" name="Text 30"/>
          <p:cNvSpPr txBox="1"/>
          <p:nvPr/>
        </p:nvSpPr>
        <p:spPr>
          <a:xfrm>
            <a:off x="9692640" y="4709160"/>
            <a:ext cx="1737360" cy="960120"/>
          </a:xfrm>
          <a:prstGeom prst="rect">
            <a:avLst/>
          </a:prstGeom>
          <a:noFill/>
          <a:ln/>
        </p:spPr>
        <p:txBody>
          <a:bodyPr wrap="square" lIns="0" tIns="0" rIns="0" bIns="0" rtlCol="0" anchor="t"/>
          <a:lstStyle/>
          <a:p>
            <a:pPr indent="0" marL="0">
              <a:buNone/>
            </a:pPr>
            <a:r>
              <a:rPr lang="en-US" sz="1300" dirty="0">
                <a:solidFill>
                  <a:schemeClr val="tx1"/>
                </a:solidFill>
              </a:rPr>
              <a:t>Analyserer selskaper og gir kjøp/selg-anbefalinger</a:t>
            </a:r>
            <a:endParaRPr lang="en-US" sz="1300" dirty="0"/>
          </a:p>
        </p:txBody>
      </p:sp>
      <p:sp>
        <p:nvSpPr>
          <p:cNvPr id="33" name="Shape 31"/>
          <p:cNvSpPr/>
          <p:nvPr/>
        </p:nvSpPr>
        <p:spPr>
          <a:xfrm>
            <a:off x="1463040" y="3383280"/>
            <a:ext cx="0" cy="411480"/>
          </a:xfrm>
          <a:prstGeom prst="line">
            <a:avLst/>
          </a:prstGeom>
          <a:noFill/>
          <a:ln w="15875">
            <a:solidFill>
              <a:schemeClr val="tx2"/>
            </a:solidFill>
            <a:prstDash val="solid"/>
          </a:ln>
        </p:spPr>
      </p:sp>
      <p:sp>
        <p:nvSpPr>
          <p:cNvPr id="34" name="Shape 32"/>
          <p:cNvSpPr/>
          <p:nvPr/>
        </p:nvSpPr>
        <p:spPr>
          <a:xfrm>
            <a:off x="3474720" y="3383280"/>
            <a:ext cx="0" cy="411480"/>
          </a:xfrm>
          <a:prstGeom prst="line">
            <a:avLst/>
          </a:prstGeom>
          <a:noFill/>
          <a:ln w="15875">
            <a:solidFill>
              <a:schemeClr val="tx2"/>
            </a:solidFill>
            <a:prstDash val="solid"/>
          </a:ln>
        </p:spPr>
      </p:sp>
      <p:sp>
        <p:nvSpPr>
          <p:cNvPr id="35" name="Shape 33"/>
          <p:cNvSpPr/>
          <p:nvPr/>
        </p:nvSpPr>
        <p:spPr>
          <a:xfrm>
            <a:off x="5486400" y="3383280"/>
            <a:ext cx="0" cy="411480"/>
          </a:xfrm>
          <a:prstGeom prst="line">
            <a:avLst/>
          </a:prstGeom>
          <a:noFill/>
          <a:ln w="15875">
            <a:solidFill>
              <a:schemeClr val="tx2"/>
            </a:solidFill>
            <a:prstDash val="solid"/>
          </a:ln>
        </p:spPr>
      </p:sp>
      <p:sp>
        <p:nvSpPr>
          <p:cNvPr id="36" name="Shape 34"/>
          <p:cNvSpPr/>
          <p:nvPr/>
        </p:nvSpPr>
        <p:spPr>
          <a:xfrm>
            <a:off x="8275320" y="3383280"/>
            <a:ext cx="0" cy="411480"/>
          </a:xfrm>
          <a:prstGeom prst="line">
            <a:avLst/>
          </a:prstGeom>
          <a:noFill/>
          <a:ln w="15875">
            <a:solidFill>
              <a:schemeClr val="tx2"/>
            </a:solidFill>
            <a:prstDash val="solid"/>
          </a:ln>
        </p:spPr>
      </p:sp>
      <p:sp>
        <p:nvSpPr>
          <p:cNvPr id="37" name="Shape 35"/>
          <p:cNvSpPr/>
          <p:nvPr/>
        </p:nvSpPr>
        <p:spPr>
          <a:xfrm>
            <a:off x="10561320" y="3383280"/>
            <a:ext cx="0" cy="411480"/>
          </a:xfrm>
          <a:prstGeom prst="line">
            <a:avLst/>
          </a:prstGeom>
          <a:noFill/>
          <a:ln w="15875">
            <a:solidFill>
              <a:schemeClr val="tx2"/>
            </a:solidFill>
            <a:prstDash val="solid"/>
          </a:ln>
        </p:spPr>
      </p:sp>
      <p:sp>
        <p:nvSpPr>
          <p:cNvPr id="38" name="Shape 36"/>
          <p:cNvSpPr/>
          <p:nvPr/>
        </p:nvSpPr>
        <p:spPr>
          <a:xfrm>
            <a:off x="6812280" y="2514600"/>
            <a:ext cx="0" cy="3246120"/>
          </a:xfrm>
          <a:prstGeom prst="line">
            <a:avLst/>
          </a:prstGeom>
          <a:noFill/>
          <a:ln w="25400">
            <a:solidFill>
              <a:schemeClr val="accent1"/>
            </a:solidFill>
            <a:prstDash val="dash"/>
          </a:ln>
        </p:spPr>
      </p:sp>
      <p:sp>
        <p:nvSpPr>
          <p:cNvPr id="39" name="Text 37"/>
          <p:cNvSpPr txBox="1"/>
          <p:nvPr/>
        </p:nvSpPr>
        <p:spPr>
          <a:xfrm>
            <a:off x="4754880" y="5870448"/>
            <a:ext cx="4114800" cy="274320"/>
          </a:xfrm>
          <a:prstGeom prst="rect">
            <a:avLst/>
          </a:prstGeom>
          <a:noFill/>
          <a:ln/>
        </p:spPr>
        <p:txBody>
          <a:bodyPr wrap="square" lIns="0" tIns="0" rIns="0" bIns="0" rtlCol="0" anchor="t"/>
          <a:lstStyle/>
          <a:p>
            <a:pPr algn="ctr" indent="0" marL="0">
              <a:buNone/>
            </a:pPr>
            <a:r>
              <a:rPr lang="en-US" sz="1100" i="1" dirty="0">
                <a:solidFill>
                  <a:schemeClr val="accent1"/>
                </a:solidFill>
              </a:rPr>
              <a:t>Kinesisk mur: info deles ikke mellom sidene</a:t>
            </a:r>
            <a:endParaRPr lang="en-US" sz="11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ECM: HENTE EGENKAPITAL</a:t>
            </a:r>
            <a:endParaRPr lang="en-US" sz="3200" dirty="0"/>
          </a:p>
        </p:txBody>
      </p:sp>
      <p:sp>
        <p:nvSpPr>
          <p:cNvPr id="3" name="Text 1"/>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700" dirty="0">
                <a:solidFill>
                  <a:schemeClr val="tx2"/>
                </a:solidFill>
              </a:rPr>
              <a:t>Selskapet selger nye eierbiter (aksjer) til investorer for å få penger til vekst.</a:t>
            </a:r>
            <a:endParaRPr lang="en-US" sz="1700" dirty="0"/>
          </a:p>
        </p:txBody>
      </p:sp>
      <p:sp>
        <p:nvSpPr>
          <p:cNvPr id="4" name="Shape 2"/>
          <p:cNvSpPr/>
          <p:nvPr/>
        </p:nvSpPr>
        <p:spPr>
          <a:xfrm>
            <a:off x="548640" y="1874520"/>
            <a:ext cx="5120640" cy="1783080"/>
          </a:xfrm>
          <a:prstGeom prst="roundRect">
            <a:avLst>
              <a:gd name="adj" fmla="val 4103"/>
            </a:avLst>
          </a:prstGeom>
          <a:solidFill>
            <a:schemeClr val="bg2"/>
          </a:solidFill>
          <a:ln/>
        </p:spPr>
      </p:sp>
      <p:pic>
        <p:nvPicPr>
          <p:cNvPr id="5" name="Image 0" descr="preencoded.png">    </p:cNvPr>
          <p:cNvPicPr>
            <a:picLocks noChangeAspect="1"/>
          </p:cNvPicPr>
          <p:nvPr/>
        </p:nvPicPr>
        <p:blipFill>
          <a:blip r:embed="rId1"/>
          <a:stretch>
            <a:fillRect/>
          </a:stretch>
        </p:blipFill>
        <p:spPr>
          <a:xfrm>
            <a:off x="822960" y="2103120"/>
            <a:ext cx="411480" cy="411480"/>
          </a:xfrm>
          <a:prstGeom prst="rect">
            <a:avLst/>
          </a:prstGeom>
        </p:spPr>
      </p:pic>
      <p:sp>
        <p:nvSpPr>
          <p:cNvPr id="6" name="Text 3"/>
          <p:cNvSpPr txBox="1"/>
          <p:nvPr/>
        </p:nvSpPr>
        <p:spPr>
          <a:xfrm>
            <a:off x="1417320" y="2103120"/>
            <a:ext cx="4023360" cy="41148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IPO (BØRSNOTERING)</a:t>
            </a:r>
            <a:endParaRPr lang="en-US" sz="1800" dirty="0"/>
          </a:p>
        </p:txBody>
      </p:sp>
      <p:sp>
        <p:nvSpPr>
          <p:cNvPr id="7" name="Text 4"/>
          <p:cNvSpPr txBox="1"/>
          <p:nvPr/>
        </p:nvSpPr>
        <p:spPr>
          <a:xfrm>
            <a:off x="822960" y="2651760"/>
            <a:ext cx="4572000" cy="914400"/>
          </a:xfrm>
          <a:prstGeom prst="rect">
            <a:avLst/>
          </a:prstGeom>
          <a:noFill/>
          <a:ln/>
        </p:spPr>
        <p:txBody>
          <a:bodyPr wrap="square" lIns="0" tIns="0" rIns="0" bIns="0" rtlCol="0" anchor="t"/>
          <a:lstStyle/>
          <a:p>
            <a:pPr indent="0" marL="0">
              <a:buNone/>
            </a:pPr>
            <a:r>
              <a:rPr lang="en-US" sz="1300" dirty="0">
                <a:solidFill>
                  <a:schemeClr val="tx2"/>
                </a:solidFill>
              </a:rPr>
              <a:t>Første gang selskapets aksjer selges til allmennheten og blir notert på børs. Eksempel: Norconsult ble notert på Oslo Børs i 2023.</a:t>
            </a:r>
            <a:endParaRPr lang="en-US" sz="1300" dirty="0"/>
          </a:p>
        </p:txBody>
      </p:sp>
      <p:sp>
        <p:nvSpPr>
          <p:cNvPr id="8" name="Shape 5"/>
          <p:cNvSpPr/>
          <p:nvPr/>
        </p:nvSpPr>
        <p:spPr>
          <a:xfrm>
            <a:off x="548640" y="3840480"/>
            <a:ext cx="5120640" cy="1920240"/>
          </a:xfrm>
          <a:prstGeom prst="roundRect">
            <a:avLst>
              <a:gd name="adj" fmla="val 3810"/>
            </a:avLst>
          </a:prstGeom>
          <a:solidFill>
            <a:schemeClr val="bg2"/>
          </a:solidFill>
          <a:ln/>
        </p:spPr>
      </p:sp>
      <p:pic>
        <p:nvPicPr>
          <p:cNvPr id="9" name="Image 1" descr="preencoded.png">    </p:cNvPr>
          <p:cNvPicPr>
            <a:picLocks noChangeAspect="1"/>
          </p:cNvPicPr>
          <p:nvPr/>
        </p:nvPicPr>
        <p:blipFill>
          <a:blip r:embed="rId2"/>
          <a:stretch>
            <a:fillRect/>
          </a:stretch>
        </p:blipFill>
        <p:spPr>
          <a:xfrm>
            <a:off x="822960" y="4069080"/>
            <a:ext cx="411480" cy="411480"/>
          </a:xfrm>
          <a:prstGeom prst="rect">
            <a:avLst/>
          </a:prstGeom>
        </p:spPr>
      </p:pic>
      <p:sp>
        <p:nvSpPr>
          <p:cNvPr id="10" name="Text 6"/>
          <p:cNvSpPr txBox="1"/>
          <p:nvPr/>
        </p:nvSpPr>
        <p:spPr>
          <a:xfrm>
            <a:off x="1417320" y="4069080"/>
            <a:ext cx="4023360" cy="41148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EMISJON</a:t>
            </a:r>
            <a:endParaRPr lang="en-US" sz="1800" dirty="0"/>
          </a:p>
        </p:txBody>
      </p:sp>
      <p:sp>
        <p:nvSpPr>
          <p:cNvPr id="11" name="Text 7"/>
          <p:cNvSpPr txBox="1"/>
          <p:nvPr/>
        </p:nvSpPr>
        <p:spPr>
          <a:xfrm>
            <a:off x="822960" y="4617720"/>
            <a:ext cx="4572000" cy="1051560"/>
          </a:xfrm>
          <a:prstGeom prst="rect">
            <a:avLst/>
          </a:prstGeom>
          <a:noFill/>
          <a:ln/>
        </p:spPr>
        <p:txBody>
          <a:bodyPr wrap="square" lIns="0" tIns="0" rIns="0" bIns="0" rtlCol="0" anchor="t"/>
          <a:lstStyle/>
          <a:p>
            <a:pPr indent="0" marL="0">
              <a:buNone/>
            </a:pPr>
            <a:r>
              <a:rPr lang="en-US" sz="1300" dirty="0">
                <a:solidFill>
                  <a:schemeClr val="tx2"/>
                </a:solidFill>
              </a:rPr>
              <a:t>Et selskap som allerede er børsnotert henter mer penger ved å utstede nye aksjer. En rettet emisjon er et tilbud til utvalgte investorer, og er svært vanlig i Norge.</a:t>
            </a:r>
            <a:endParaRPr lang="en-US" sz="1300" dirty="0"/>
          </a:p>
        </p:txBody>
      </p:sp>
      <p:sp>
        <p:nvSpPr>
          <p:cNvPr id="12" name="Text 8"/>
          <p:cNvSpPr txBox="1"/>
          <p:nvPr/>
        </p:nvSpPr>
        <p:spPr>
          <a:xfrm>
            <a:off x="6309360" y="1874520"/>
            <a:ext cx="5303520" cy="365760"/>
          </a:xfrm>
          <a:prstGeom prst="rect">
            <a:avLst/>
          </a:prstGeom>
          <a:noFill/>
          <a:ln/>
        </p:spPr>
        <p:txBody>
          <a:bodyPr wrap="square" lIns="0" tIns="0" rIns="0" bIns="0" rtlCol="0" anchor="t"/>
          <a:lstStyle/>
          <a:p>
            <a:pPr indent="0" marL="0">
              <a:buNone/>
            </a:pPr>
            <a:r>
              <a:rPr lang="en-US" sz="1600" b="1" spc="200" kern="0" dirty="0">
                <a:solidFill>
                  <a:schemeClr val="accent1"/>
                </a:solidFill>
                <a:latin typeface="+mj-lt" pitchFamily="34" charset="0"/>
                <a:ea typeface="+mj-lt" pitchFamily="34" charset="-122"/>
                <a:cs typeface="+mj-lt" pitchFamily="34" charset="-120"/>
              </a:rPr>
              <a:t>SLIK FOREGÅR EN IPO</a:t>
            </a:r>
            <a:endParaRPr lang="en-US" sz="1600" dirty="0"/>
          </a:p>
        </p:txBody>
      </p:sp>
      <p:sp>
        <p:nvSpPr>
          <p:cNvPr id="13" name="Shape 9"/>
          <p:cNvSpPr/>
          <p:nvPr/>
        </p:nvSpPr>
        <p:spPr>
          <a:xfrm>
            <a:off x="6309360" y="2377440"/>
            <a:ext cx="384048" cy="384048"/>
          </a:xfrm>
          <a:prstGeom prst="ellipse">
            <a:avLst/>
          </a:prstGeom>
          <a:solidFill>
            <a:schemeClr val="accent1"/>
          </a:solidFill>
          <a:ln/>
        </p:spPr>
      </p:sp>
      <p:sp>
        <p:nvSpPr>
          <p:cNvPr id="14" name="Text 10"/>
          <p:cNvSpPr txBox="1"/>
          <p:nvPr/>
        </p:nvSpPr>
        <p:spPr>
          <a:xfrm>
            <a:off x="6309360" y="23774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1</a:t>
            </a:r>
            <a:endParaRPr lang="en-US" sz="1500" dirty="0"/>
          </a:p>
        </p:txBody>
      </p:sp>
      <p:sp>
        <p:nvSpPr>
          <p:cNvPr id="15" name="Text 11"/>
          <p:cNvSpPr txBox="1"/>
          <p:nvPr/>
        </p:nvSpPr>
        <p:spPr>
          <a:xfrm>
            <a:off x="6876288" y="2359152"/>
            <a:ext cx="4736592" cy="685800"/>
          </a:xfrm>
          <a:prstGeom prst="rect">
            <a:avLst/>
          </a:prstGeom>
          <a:noFill/>
          <a:ln/>
        </p:spPr>
        <p:txBody>
          <a:bodyPr wrap="square" lIns="0" tIns="0" rIns="0" bIns="0" rtlCol="0" anchor="t"/>
          <a:lstStyle/>
          <a:p>
            <a:pPr indent="0" marL="0">
              <a:buNone/>
            </a:pPr>
            <a:r>
              <a:rPr lang="en-US" sz="1400" dirty="0">
                <a:solidFill>
                  <a:schemeClr val="tx1"/>
                </a:solidFill>
              </a:rPr>
              <a:t>Forberedelse: banken gjennomgår selskapet (due diligence) og skriver prospekt</a:t>
            </a:r>
            <a:endParaRPr lang="en-US" sz="1400" dirty="0"/>
          </a:p>
        </p:txBody>
      </p:sp>
      <p:sp>
        <p:nvSpPr>
          <p:cNvPr id="16" name="Shape 12"/>
          <p:cNvSpPr/>
          <p:nvPr/>
        </p:nvSpPr>
        <p:spPr>
          <a:xfrm>
            <a:off x="6309360" y="3063240"/>
            <a:ext cx="384048" cy="384048"/>
          </a:xfrm>
          <a:prstGeom prst="ellipse">
            <a:avLst/>
          </a:prstGeom>
          <a:solidFill>
            <a:schemeClr val="accent1"/>
          </a:solidFill>
          <a:ln/>
        </p:spPr>
      </p:sp>
      <p:sp>
        <p:nvSpPr>
          <p:cNvPr id="17" name="Text 13"/>
          <p:cNvSpPr txBox="1"/>
          <p:nvPr/>
        </p:nvSpPr>
        <p:spPr>
          <a:xfrm>
            <a:off x="6309360" y="30632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2</a:t>
            </a:r>
            <a:endParaRPr lang="en-US" sz="1500" dirty="0"/>
          </a:p>
        </p:txBody>
      </p:sp>
      <p:sp>
        <p:nvSpPr>
          <p:cNvPr id="18" name="Text 14"/>
          <p:cNvSpPr txBox="1"/>
          <p:nvPr/>
        </p:nvSpPr>
        <p:spPr>
          <a:xfrm>
            <a:off x="6876288" y="3044952"/>
            <a:ext cx="4736592" cy="685800"/>
          </a:xfrm>
          <a:prstGeom prst="rect">
            <a:avLst/>
          </a:prstGeom>
          <a:noFill/>
          <a:ln/>
        </p:spPr>
        <p:txBody>
          <a:bodyPr wrap="square" lIns="0" tIns="0" rIns="0" bIns="0" rtlCol="0" anchor="t"/>
          <a:lstStyle/>
          <a:p>
            <a:pPr indent="0" marL="0">
              <a:buNone/>
            </a:pPr>
            <a:r>
              <a:rPr lang="en-US" sz="1400" dirty="0">
                <a:solidFill>
                  <a:schemeClr val="tx1"/>
                </a:solidFill>
              </a:rPr>
              <a:t>Verdsettelse: hva er selskapet verdt? Gir et prisintervall</a:t>
            </a:r>
            <a:endParaRPr lang="en-US" sz="1400" dirty="0"/>
          </a:p>
        </p:txBody>
      </p:sp>
      <p:sp>
        <p:nvSpPr>
          <p:cNvPr id="19" name="Shape 15"/>
          <p:cNvSpPr/>
          <p:nvPr/>
        </p:nvSpPr>
        <p:spPr>
          <a:xfrm>
            <a:off x="6309360" y="3749040"/>
            <a:ext cx="384048" cy="384048"/>
          </a:xfrm>
          <a:prstGeom prst="ellipse">
            <a:avLst/>
          </a:prstGeom>
          <a:solidFill>
            <a:schemeClr val="accent1"/>
          </a:solidFill>
          <a:ln/>
        </p:spPr>
      </p:sp>
      <p:sp>
        <p:nvSpPr>
          <p:cNvPr id="20" name="Text 16"/>
          <p:cNvSpPr txBox="1"/>
          <p:nvPr/>
        </p:nvSpPr>
        <p:spPr>
          <a:xfrm>
            <a:off x="6309360" y="37490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3</a:t>
            </a:r>
            <a:endParaRPr lang="en-US" sz="1500" dirty="0"/>
          </a:p>
        </p:txBody>
      </p:sp>
      <p:sp>
        <p:nvSpPr>
          <p:cNvPr id="21" name="Text 17"/>
          <p:cNvSpPr txBox="1"/>
          <p:nvPr/>
        </p:nvSpPr>
        <p:spPr>
          <a:xfrm>
            <a:off x="6876288" y="3730752"/>
            <a:ext cx="4736592" cy="685800"/>
          </a:xfrm>
          <a:prstGeom prst="rect">
            <a:avLst/>
          </a:prstGeom>
          <a:noFill/>
          <a:ln/>
        </p:spPr>
        <p:txBody>
          <a:bodyPr wrap="square" lIns="0" tIns="0" rIns="0" bIns="0" rtlCol="0" anchor="t"/>
          <a:lstStyle/>
          <a:p>
            <a:pPr indent="0" marL="0">
              <a:buNone/>
            </a:pPr>
            <a:r>
              <a:rPr lang="en-US" sz="1400" dirty="0">
                <a:solidFill>
                  <a:schemeClr val="tx1"/>
                </a:solidFill>
              </a:rPr>
              <a:t>Bookbuilding: investorene melder hvor mange aksjer de vil ha, og til hvilken pris</a:t>
            </a:r>
            <a:endParaRPr lang="en-US" sz="1400" dirty="0"/>
          </a:p>
        </p:txBody>
      </p:sp>
      <p:sp>
        <p:nvSpPr>
          <p:cNvPr id="22" name="Shape 18"/>
          <p:cNvSpPr/>
          <p:nvPr/>
        </p:nvSpPr>
        <p:spPr>
          <a:xfrm>
            <a:off x="6309360" y="4434840"/>
            <a:ext cx="384048" cy="384048"/>
          </a:xfrm>
          <a:prstGeom prst="ellipse">
            <a:avLst/>
          </a:prstGeom>
          <a:solidFill>
            <a:schemeClr val="accent1"/>
          </a:solidFill>
          <a:ln/>
        </p:spPr>
      </p:sp>
      <p:sp>
        <p:nvSpPr>
          <p:cNvPr id="23" name="Text 19"/>
          <p:cNvSpPr txBox="1"/>
          <p:nvPr/>
        </p:nvSpPr>
        <p:spPr>
          <a:xfrm>
            <a:off x="6309360" y="44348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4" name="Text 20"/>
          <p:cNvSpPr txBox="1"/>
          <p:nvPr/>
        </p:nvSpPr>
        <p:spPr>
          <a:xfrm>
            <a:off x="6876288" y="4416552"/>
            <a:ext cx="4736592" cy="685800"/>
          </a:xfrm>
          <a:prstGeom prst="rect">
            <a:avLst/>
          </a:prstGeom>
          <a:noFill/>
          <a:ln/>
        </p:spPr>
        <p:txBody>
          <a:bodyPr wrap="square" lIns="0" tIns="0" rIns="0" bIns="0" rtlCol="0" anchor="t"/>
          <a:lstStyle/>
          <a:p>
            <a:pPr indent="0" marL="0">
              <a:buNone/>
            </a:pPr>
            <a:r>
              <a:rPr lang="en-US" sz="1400" dirty="0">
                <a:solidFill>
                  <a:schemeClr val="tx1"/>
                </a:solidFill>
              </a:rPr>
              <a:t>Prising og tildeling: endelig pris settes, aksjene fordeles</a:t>
            </a:r>
            <a:endParaRPr lang="en-US" sz="1400" dirty="0"/>
          </a:p>
        </p:txBody>
      </p:sp>
      <p:sp>
        <p:nvSpPr>
          <p:cNvPr id="25" name="Shape 21"/>
          <p:cNvSpPr/>
          <p:nvPr/>
        </p:nvSpPr>
        <p:spPr>
          <a:xfrm>
            <a:off x="6309360" y="5120640"/>
            <a:ext cx="384048" cy="384048"/>
          </a:xfrm>
          <a:prstGeom prst="ellipse">
            <a:avLst/>
          </a:prstGeom>
          <a:solidFill>
            <a:schemeClr val="accent1"/>
          </a:solidFill>
          <a:ln/>
        </p:spPr>
      </p:sp>
      <p:sp>
        <p:nvSpPr>
          <p:cNvPr id="26" name="Text 22"/>
          <p:cNvSpPr txBox="1"/>
          <p:nvPr/>
        </p:nvSpPr>
        <p:spPr>
          <a:xfrm>
            <a:off x="6309360" y="51206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5</a:t>
            </a:r>
            <a:endParaRPr lang="en-US" sz="1500" dirty="0"/>
          </a:p>
        </p:txBody>
      </p:sp>
      <p:sp>
        <p:nvSpPr>
          <p:cNvPr id="27" name="Text 23"/>
          <p:cNvSpPr txBox="1"/>
          <p:nvPr/>
        </p:nvSpPr>
        <p:spPr>
          <a:xfrm>
            <a:off x="6876288" y="5102352"/>
            <a:ext cx="4736592" cy="685800"/>
          </a:xfrm>
          <a:prstGeom prst="rect">
            <a:avLst/>
          </a:prstGeom>
          <a:noFill/>
          <a:ln/>
        </p:spPr>
        <p:txBody>
          <a:bodyPr wrap="square" lIns="0" tIns="0" rIns="0" bIns="0" rtlCol="0" anchor="t"/>
          <a:lstStyle/>
          <a:p>
            <a:pPr indent="0" marL="0">
              <a:buNone/>
            </a:pPr>
            <a:r>
              <a:rPr lang="en-US" sz="1400" dirty="0">
                <a:solidFill>
                  <a:schemeClr val="tx1"/>
                </a:solidFill>
              </a:rPr>
              <a:t>Første handelsdag: aksjen handles på børsen</a:t>
            </a:r>
            <a:endParaRPr lang="en-US" sz="1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DCM: HENTE GJELD</a:t>
            </a:r>
            <a:endParaRPr lang="en-US" sz="3200" dirty="0"/>
          </a:p>
        </p:txBody>
      </p:sp>
      <p:sp>
        <p:nvSpPr>
          <p:cNvPr id="3" name="Text 1"/>
          <p:cNvSpPr txBox="1"/>
          <p:nvPr/>
        </p:nvSpPr>
        <p:spPr>
          <a:xfrm>
            <a:off x="548640" y="1234440"/>
            <a:ext cx="11064240" cy="640080"/>
          </a:xfrm>
          <a:prstGeom prst="rect">
            <a:avLst/>
          </a:prstGeom>
          <a:noFill/>
          <a:ln/>
        </p:spPr>
        <p:txBody>
          <a:bodyPr wrap="square" lIns="0" tIns="0" rIns="0" bIns="0" rtlCol="0" anchor="t"/>
          <a:lstStyle/>
          <a:p>
            <a:pPr indent="0" marL="0">
              <a:buNone/>
            </a:pPr>
            <a:r>
              <a:rPr lang="en-US" sz="1700" dirty="0">
                <a:solidFill>
                  <a:schemeClr val="tx2"/>
                </a:solidFill>
              </a:rPr>
              <a:t>Selskapet låner penger fra mange investorer på én gang ved å utstede obligasjoner – et lån delt opp i små biter som kan kjøpes og selges.</a:t>
            </a:r>
            <a:endParaRPr lang="en-US" sz="1700" dirty="0"/>
          </a:p>
        </p:txBody>
      </p:sp>
      <p:sp>
        <p:nvSpPr>
          <p:cNvPr id="4" name="Shape 2"/>
          <p:cNvSpPr/>
          <p:nvPr/>
        </p:nvSpPr>
        <p:spPr>
          <a:xfrm>
            <a:off x="548640" y="2057400"/>
            <a:ext cx="6309360" cy="3794760"/>
          </a:xfrm>
          <a:prstGeom prst="roundRect">
            <a:avLst>
              <a:gd name="adj" fmla="val 1928"/>
            </a:avLst>
          </a:prstGeom>
          <a:solidFill>
            <a:schemeClr val="bg2"/>
          </a:solidFill>
          <a:ln/>
        </p:spPr>
      </p:sp>
      <p:sp>
        <p:nvSpPr>
          <p:cNvPr id="5" name="Text 3"/>
          <p:cNvSpPr txBox="1"/>
          <p:nvPr/>
        </p:nvSpPr>
        <p:spPr>
          <a:xfrm>
            <a:off x="822960" y="2194560"/>
            <a:ext cx="5852160" cy="36576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EKSEMPEL: 500 MNOK, 5 ÅR, 8 % RENTE (KUPONG)</a:t>
            </a:r>
            <a:endParaRPr lang="en-US" sz="1500" dirty="0"/>
          </a:p>
        </p:txBody>
      </p:sp>
      <p:graphicFrame>
        <p:nvGraphicFramePr>
          <p:cNvPr id="6" name="Chart 0" descr=""/>
          <p:cNvGraphicFramePr/>
          <p:nvPr/>
        </p:nvGraphicFramePr>
        <p:xfrm>
          <a:off x="731520" y="2606040"/>
          <a:ext cx="5943600" cy="3154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178040" y="2057400"/>
            <a:ext cx="4389120" cy="365760"/>
          </a:xfrm>
          <a:prstGeom prst="rect">
            <a:avLst/>
          </a:prstGeom>
          <a:noFill/>
          <a:ln/>
        </p:spPr>
        <p:txBody>
          <a:bodyPr wrap="square" lIns="0" tIns="0" rIns="0" bIns="0" rtlCol="0" anchor="t"/>
          <a:lstStyle/>
          <a:p>
            <a:pPr indent="0" marL="0">
              <a:buNone/>
            </a:pPr>
            <a:r>
              <a:rPr lang="en-US" sz="1500" b="1" spc="200" kern="0" dirty="0">
                <a:solidFill>
                  <a:schemeClr val="accent1"/>
                </a:solidFill>
                <a:latin typeface="+mj-lt" pitchFamily="34" charset="0"/>
                <a:ea typeface="+mj-lt" pitchFamily="34" charset="-122"/>
                <a:cs typeface="+mj-lt" pitchFamily="34" charset="-120"/>
              </a:rPr>
              <a:t>STEG FOR STEG</a:t>
            </a:r>
            <a:endParaRPr lang="en-US" sz="1500" dirty="0"/>
          </a:p>
        </p:txBody>
      </p:sp>
      <p:sp>
        <p:nvSpPr>
          <p:cNvPr id="8" name="Shape 5"/>
          <p:cNvSpPr/>
          <p:nvPr/>
        </p:nvSpPr>
        <p:spPr>
          <a:xfrm>
            <a:off x="7178040" y="2560320"/>
            <a:ext cx="347472" cy="347472"/>
          </a:xfrm>
          <a:prstGeom prst="ellipse">
            <a:avLst/>
          </a:prstGeom>
          <a:solidFill>
            <a:schemeClr val="accent1"/>
          </a:solidFill>
          <a:ln/>
        </p:spPr>
      </p:sp>
      <p:sp>
        <p:nvSpPr>
          <p:cNvPr id="9" name="Text 6"/>
          <p:cNvSpPr txBox="1"/>
          <p:nvPr/>
        </p:nvSpPr>
        <p:spPr>
          <a:xfrm>
            <a:off x="7178040" y="2560320"/>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1</a:t>
            </a:r>
            <a:endParaRPr lang="en-US" sz="1500" dirty="0"/>
          </a:p>
        </p:txBody>
      </p:sp>
      <p:sp>
        <p:nvSpPr>
          <p:cNvPr id="10" name="Text 7"/>
          <p:cNvSpPr txBox="1"/>
          <p:nvPr/>
        </p:nvSpPr>
        <p:spPr>
          <a:xfrm>
            <a:off x="7708392" y="2542032"/>
            <a:ext cx="3904488" cy="566928"/>
          </a:xfrm>
          <a:prstGeom prst="rect">
            <a:avLst/>
          </a:prstGeom>
          <a:noFill/>
          <a:ln/>
        </p:spPr>
        <p:txBody>
          <a:bodyPr wrap="square" lIns="0" tIns="0" rIns="0" bIns="0" rtlCol="0" anchor="t"/>
          <a:lstStyle/>
          <a:p>
            <a:pPr indent="0" marL="0">
              <a:buNone/>
            </a:pPr>
            <a:r>
              <a:rPr lang="en-US" sz="1400" dirty="0">
                <a:solidFill>
                  <a:schemeClr val="tx1"/>
                </a:solidFill>
              </a:rPr>
              <a:t>Rente per år: 500 × 8 % = 40 MNOK</a:t>
            </a:r>
            <a:endParaRPr lang="en-US" sz="1400" dirty="0"/>
          </a:p>
        </p:txBody>
      </p:sp>
      <p:sp>
        <p:nvSpPr>
          <p:cNvPr id="11" name="Shape 8"/>
          <p:cNvSpPr/>
          <p:nvPr/>
        </p:nvSpPr>
        <p:spPr>
          <a:xfrm>
            <a:off x="7178040" y="3127248"/>
            <a:ext cx="347472" cy="347472"/>
          </a:xfrm>
          <a:prstGeom prst="ellipse">
            <a:avLst/>
          </a:prstGeom>
          <a:solidFill>
            <a:schemeClr val="accent1"/>
          </a:solidFill>
          <a:ln/>
        </p:spPr>
      </p:sp>
      <p:sp>
        <p:nvSpPr>
          <p:cNvPr id="12" name="Text 9"/>
          <p:cNvSpPr txBox="1"/>
          <p:nvPr/>
        </p:nvSpPr>
        <p:spPr>
          <a:xfrm>
            <a:off x="7178040" y="3127248"/>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2</a:t>
            </a:r>
            <a:endParaRPr lang="en-US" sz="1500" dirty="0"/>
          </a:p>
        </p:txBody>
      </p:sp>
      <p:sp>
        <p:nvSpPr>
          <p:cNvPr id="13" name="Text 10"/>
          <p:cNvSpPr txBox="1"/>
          <p:nvPr/>
        </p:nvSpPr>
        <p:spPr>
          <a:xfrm>
            <a:off x="7708392" y="3108960"/>
            <a:ext cx="3904488" cy="566928"/>
          </a:xfrm>
          <a:prstGeom prst="rect">
            <a:avLst/>
          </a:prstGeom>
          <a:noFill/>
          <a:ln/>
        </p:spPr>
        <p:txBody>
          <a:bodyPr wrap="square" lIns="0" tIns="0" rIns="0" bIns="0" rtlCol="0" anchor="t"/>
          <a:lstStyle/>
          <a:p>
            <a:pPr indent="0" marL="0">
              <a:buNone/>
            </a:pPr>
            <a:r>
              <a:rPr lang="en-US" sz="1400" dirty="0">
                <a:solidFill>
                  <a:schemeClr val="tx1"/>
                </a:solidFill>
              </a:rPr>
              <a:t>År 1–4: investorene får 40 MNOK i rente</a:t>
            </a:r>
            <a:endParaRPr lang="en-US" sz="1400" dirty="0"/>
          </a:p>
        </p:txBody>
      </p:sp>
      <p:sp>
        <p:nvSpPr>
          <p:cNvPr id="14" name="Shape 11"/>
          <p:cNvSpPr/>
          <p:nvPr/>
        </p:nvSpPr>
        <p:spPr>
          <a:xfrm>
            <a:off x="7178040" y="3694176"/>
            <a:ext cx="347472" cy="347472"/>
          </a:xfrm>
          <a:prstGeom prst="ellipse">
            <a:avLst/>
          </a:prstGeom>
          <a:solidFill>
            <a:schemeClr val="accent1"/>
          </a:solidFill>
          <a:ln/>
        </p:spPr>
      </p:sp>
      <p:sp>
        <p:nvSpPr>
          <p:cNvPr id="15" name="Text 12"/>
          <p:cNvSpPr txBox="1"/>
          <p:nvPr/>
        </p:nvSpPr>
        <p:spPr>
          <a:xfrm>
            <a:off x="7178040" y="3694176"/>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3</a:t>
            </a:r>
            <a:endParaRPr lang="en-US" sz="1500" dirty="0"/>
          </a:p>
        </p:txBody>
      </p:sp>
      <p:sp>
        <p:nvSpPr>
          <p:cNvPr id="16" name="Text 13"/>
          <p:cNvSpPr txBox="1"/>
          <p:nvPr/>
        </p:nvSpPr>
        <p:spPr>
          <a:xfrm>
            <a:off x="7708392" y="3675888"/>
            <a:ext cx="3904488" cy="566928"/>
          </a:xfrm>
          <a:prstGeom prst="rect">
            <a:avLst/>
          </a:prstGeom>
          <a:noFill/>
          <a:ln/>
        </p:spPr>
        <p:txBody>
          <a:bodyPr wrap="square" lIns="0" tIns="0" rIns="0" bIns="0" rtlCol="0" anchor="t"/>
          <a:lstStyle/>
          <a:p>
            <a:pPr indent="0" marL="0">
              <a:buNone/>
            </a:pPr>
            <a:r>
              <a:rPr lang="en-US" sz="1400" dirty="0">
                <a:solidFill>
                  <a:schemeClr val="tx1"/>
                </a:solidFill>
              </a:rPr>
              <a:t>År 5: 40 MNOK rente + 500 MNOK tilbake = 540</a:t>
            </a:r>
            <a:endParaRPr lang="en-US" sz="1400" dirty="0"/>
          </a:p>
        </p:txBody>
      </p:sp>
      <p:sp>
        <p:nvSpPr>
          <p:cNvPr id="17" name="Shape 14"/>
          <p:cNvSpPr/>
          <p:nvPr/>
        </p:nvSpPr>
        <p:spPr>
          <a:xfrm>
            <a:off x="7178040" y="4261104"/>
            <a:ext cx="347472" cy="347472"/>
          </a:xfrm>
          <a:prstGeom prst="ellipse">
            <a:avLst/>
          </a:prstGeom>
          <a:solidFill>
            <a:schemeClr val="accent1"/>
          </a:solidFill>
          <a:ln/>
        </p:spPr>
      </p:sp>
      <p:sp>
        <p:nvSpPr>
          <p:cNvPr id="18" name="Text 15"/>
          <p:cNvSpPr txBox="1"/>
          <p:nvPr/>
        </p:nvSpPr>
        <p:spPr>
          <a:xfrm>
            <a:off x="7178040" y="4261104"/>
            <a:ext cx="347472" cy="347472"/>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19" name="Text 16"/>
          <p:cNvSpPr txBox="1"/>
          <p:nvPr/>
        </p:nvSpPr>
        <p:spPr>
          <a:xfrm>
            <a:off x="7708392" y="4242816"/>
            <a:ext cx="3904488" cy="566928"/>
          </a:xfrm>
          <a:prstGeom prst="rect">
            <a:avLst/>
          </a:prstGeom>
          <a:noFill/>
          <a:ln/>
        </p:spPr>
        <p:txBody>
          <a:bodyPr wrap="square" lIns="0" tIns="0" rIns="0" bIns="0" rtlCol="0" anchor="t"/>
          <a:lstStyle/>
          <a:p>
            <a:pPr indent="0" marL="0">
              <a:buNone/>
            </a:pPr>
            <a:r>
              <a:rPr lang="en-US" sz="1400" dirty="0">
                <a:solidFill>
                  <a:schemeClr val="tx1"/>
                </a:solidFill>
              </a:rPr>
              <a:t>Totalt: 5 × 40 + 500 = 700 MNOK</a:t>
            </a:r>
            <a:endParaRPr lang="en-US" sz="1400" dirty="0"/>
          </a:p>
        </p:txBody>
      </p:sp>
      <p:sp>
        <p:nvSpPr>
          <p:cNvPr id="20" name="Shape 17"/>
          <p:cNvSpPr/>
          <p:nvPr/>
        </p:nvSpPr>
        <p:spPr>
          <a:xfrm>
            <a:off x="7178040" y="4892040"/>
            <a:ext cx="4434840" cy="960120"/>
          </a:xfrm>
          <a:prstGeom prst="roundRect">
            <a:avLst>
              <a:gd name="adj" fmla="val 7619"/>
            </a:avLst>
          </a:prstGeom>
          <a:solidFill>
            <a:schemeClr val="accent3"/>
          </a:solidFill>
          <a:ln/>
        </p:spPr>
      </p:sp>
      <p:sp>
        <p:nvSpPr>
          <p:cNvPr id="21" name="Text 18"/>
          <p:cNvSpPr txBox="1"/>
          <p:nvPr/>
        </p:nvSpPr>
        <p:spPr>
          <a:xfrm>
            <a:off x="7406640" y="4892040"/>
            <a:ext cx="4023360" cy="960120"/>
          </a:xfrm>
          <a:prstGeom prst="rect">
            <a:avLst/>
          </a:prstGeom>
          <a:noFill/>
          <a:ln/>
        </p:spPr>
        <p:txBody>
          <a:bodyPr wrap="square" lIns="0" tIns="0" rIns="0" bIns="0" rtlCol="0" anchor="ctr"/>
          <a:lstStyle/>
          <a:p>
            <a:pPr indent="0" marL="0">
              <a:buNone/>
            </a:pPr>
            <a:r>
              <a:rPr lang="en-US" sz="1300" b="1" dirty="0">
                <a:solidFill>
                  <a:schemeClr val="tx1"/>
                </a:solidFill>
              </a:rPr>
              <a:t>Norge har et stort high yield-marked: </a:t>
            </a:r>
            <a:pPr indent="0" marL="0">
              <a:buNone/>
            </a:pPr>
            <a:r>
              <a:rPr lang="en-US" sz="1300" dirty="0">
                <a:solidFill>
                  <a:schemeClr val="tx1"/>
                </a:solidFill>
              </a:rPr>
              <a:t>obligasjoner med høyere risiko og høyere rente, mye innen shipping og energi.</a:t>
            </a:r>
            <a:endParaRPr lang="en-US" sz="13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M&amp;A: KJØP OG SALG AV SELSKAPER</a:t>
            </a:r>
            <a:endParaRPr lang="en-US" sz="3200" dirty="0"/>
          </a:p>
        </p:txBody>
      </p:sp>
      <p:sp>
        <p:nvSpPr>
          <p:cNvPr id="3" name="Text 1"/>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700" dirty="0">
                <a:solidFill>
                  <a:schemeClr val="tx2"/>
                </a:solidFill>
              </a:rPr>
              <a:t>Tenk på banken som en eiendomsmegler – bare for hele selskaper.</a:t>
            </a:r>
            <a:endParaRPr lang="en-US" sz="1700" dirty="0"/>
          </a:p>
        </p:txBody>
      </p:sp>
      <p:sp>
        <p:nvSpPr>
          <p:cNvPr id="4" name="Shape 2"/>
          <p:cNvSpPr/>
          <p:nvPr/>
        </p:nvSpPr>
        <p:spPr>
          <a:xfrm>
            <a:off x="548640" y="1874520"/>
            <a:ext cx="5440680" cy="1600200"/>
          </a:xfrm>
          <a:prstGeom prst="roundRect">
            <a:avLst>
              <a:gd name="adj" fmla="val 4571"/>
            </a:avLst>
          </a:prstGeom>
          <a:solidFill>
            <a:schemeClr val="bg2"/>
          </a:solidFill>
          <a:ln/>
        </p:spPr>
      </p:sp>
      <p:pic>
        <p:nvPicPr>
          <p:cNvPr id="5" name="Image 0" descr="preencoded.png">    </p:cNvPr>
          <p:cNvPicPr>
            <a:picLocks noChangeAspect="1"/>
          </p:cNvPicPr>
          <p:nvPr/>
        </p:nvPicPr>
        <p:blipFill>
          <a:blip r:embed="rId1"/>
          <a:stretch>
            <a:fillRect/>
          </a:stretch>
        </p:blipFill>
        <p:spPr>
          <a:xfrm>
            <a:off x="822960" y="2103120"/>
            <a:ext cx="411480" cy="411480"/>
          </a:xfrm>
          <a:prstGeom prst="rect">
            <a:avLst/>
          </a:prstGeom>
        </p:spPr>
      </p:pic>
      <p:sp>
        <p:nvSpPr>
          <p:cNvPr id="6" name="Text 3"/>
          <p:cNvSpPr txBox="1"/>
          <p:nvPr/>
        </p:nvSpPr>
        <p:spPr>
          <a:xfrm>
            <a:off x="1417320" y="2103120"/>
            <a:ext cx="4389120" cy="41148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SALGSMANDAT (SELL-SIDE M&amp;A)</a:t>
            </a:r>
            <a:endParaRPr lang="en-US" sz="1700" dirty="0"/>
          </a:p>
        </p:txBody>
      </p:sp>
      <p:sp>
        <p:nvSpPr>
          <p:cNvPr id="7" name="Text 4"/>
          <p:cNvSpPr txBox="1"/>
          <p:nvPr/>
        </p:nvSpPr>
        <p:spPr>
          <a:xfrm>
            <a:off x="822960" y="2651760"/>
            <a:ext cx="4937760" cy="731520"/>
          </a:xfrm>
          <a:prstGeom prst="rect">
            <a:avLst/>
          </a:prstGeom>
          <a:noFill/>
          <a:ln/>
        </p:spPr>
        <p:txBody>
          <a:bodyPr wrap="square" lIns="0" tIns="0" rIns="0" bIns="0" rtlCol="0" anchor="t"/>
          <a:lstStyle/>
          <a:p>
            <a:pPr indent="0" marL="0">
              <a:buNone/>
            </a:pPr>
            <a:r>
              <a:rPr lang="en-US" sz="1300" dirty="0">
                <a:solidFill>
                  <a:schemeClr val="tx2"/>
                </a:solidFill>
              </a:rPr>
              <a:t>Banken hjelper eieren å selge selskapet til best mulig pris, f.eks. når et PE-fond vil selge.</a:t>
            </a:r>
            <a:endParaRPr lang="en-US" sz="1300" dirty="0"/>
          </a:p>
        </p:txBody>
      </p:sp>
      <p:sp>
        <p:nvSpPr>
          <p:cNvPr id="8" name="Shape 5"/>
          <p:cNvSpPr/>
          <p:nvPr/>
        </p:nvSpPr>
        <p:spPr>
          <a:xfrm>
            <a:off x="6172200" y="1874520"/>
            <a:ext cx="5440680" cy="1600200"/>
          </a:xfrm>
          <a:prstGeom prst="roundRect">
            <a:avLst>
              <a:gd name="adj" fmla="val 4571"/>
            </a:avLst>
          </a:prstGeom>
          <a:solidFill>
            <a:schemeClr val="bg2"/>
          </a:solidFill>
          <a:ln/>
        </p:spPr>
      </p:sp>
      <p:pic>
        <p:nvPicPr>
          <p:cNvPr id="9" name="Image 1" descr="preencoded.png">    </p:cNvPr>
          <p:cNvPicPr>
            <a:picLocks noChangeAspect="1"/>
          </p:cNvPicPr>
          <p:nvPr/>
        </p:nvPicPr>
        <p:blipFill>
          <a:blip r:embed="rId2"/>
          <a:stretch>
            <a:fillRect/>
          </a:stretch>
        </p:blipFill>
        <p:spPr>
          <a:xfrm>
            <a:off x="6446520" y="2103120"/>
            <a:ext cx="411480" cy="411480"/>
          </a:xfrm>
          <a:prstGeom prst="rect">
            <a:avLst/>
          </a:prstGeom>
        </p:spPr>
      </p:pic>
      <p:sp>
        <p:nvSpPr>
          <p:cNvPr id="10" name="Text 6"/>
          <p:cNvSpPr txBox="1"/>
          <p:nvPr/>
        </p:nvSpPr>
        <p:spPr>
          <a:xfrm>
            <a:off x="7040880" y="2103120"/>
            <a:ext cx="4389120" cy="41148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KJØPSMANDAT (BUY-SIDE M&amp;A)</a:t>
            </a:r>
            <a:endParaRPr lang="en-US" sz="1700" dirty="0"/>
          </a:p>
        </p:txBody>
      </p:sp>
      <p:sp>
        <p:nvSpPr>
          <p:cNvPr id="11" name="Text 7"/>
          <p:cNvSpPr txBox="1"/>
          <p:nvPr/>
        </p:nvSpPr>
        <p:spPr>
          <a:xfrm>
            <a:off x="6446520" y="2651760"/>
            <a:ext cx="4937760" cy="731520"/>
          </a:xfrm>
          <a:prstGeom prst="rect">
            <a:avLst/>
          </a:prstGeom>
          <a:noFill/>
          <a:ln/>
        </p:spPr>
        <p:txBody>
          <a:bodyPr wrap="square" lIns="0" tIns="0" rIns="0" bIns="0" rtlCol="0" anchor="t"/>
          <a:lstStyle/>
          <a:p>
            <a:pPr indent="0" marL="0">
              <a:buNone/>
            </a:pPr>
            <a:r>
              <a:rPr lang="en-US" sz="1300" dirty="0">
                <a:solidFill>
                  <a:schemeClr val="tx2"/>
                </a:solidFill>
              </a:rPr>
              <a:t>Banken hjelper en kjøper å finne riktig selskap, verdsette det og forhandle.</a:t>
            </a:r>
            <a:endParaRPr lang="en-US" sz="1300" dirty="0"/>
          </a:p>
        </p:txBody>
      </p:sp>
      <p:sp>
        <p:nvSpPr>
          <p:cNvPr id="12" name="Text 8"/>
          <p:cNvSpPr txBox="1"/>
          <p:nvPr/>
        </p:nvSpPr>
        <p:spPr>
          <a:xfrm>
            <a:off x="548640" y="3749040"/>
            <a:ext cx="5486400" cy="365760"/>
          </a:xfrm>
          <a:prstGeom prst="rect">
            <a:avLst/>
          </a:prstGeom>
          <a:noFill/>
          <a:ln/>
        </p:spPr>
        <p:txBody>
          <a:bodyPr wrap="square" lIns="0" tIns="0" rIns="0" bIns="0" rtlCol="0" anchor="t"/>
          <a:lstStyle/>
          <a:p>
            <a:pPr indent="0" marL="0">
              <a:buNone/>
            </a:pPr>
            <a:r>
              <a:rPr lang="en-US" sz="1500" b="1" spc="200" kern="0" dirty="0">
                <a:solidFill>
                  <a:schemeClr val="accent1"/>
                </a:solidFill>
                <a:latin typeface="+mj-lt" pitchFamily="34" charset="0"/>
                <a:ea typeface="+mj-lt" pitchFamily="34" charset="-122"/>
                <a:cs typeface="+mj-lt" pitchFamily="34" charset="-120"/>
              </a:rPr>
              <a:t>EN TYPISK SALGSPROSESS</a:t>
            </a:r>
            <a:endParaRPr lang="en-US" sz="1500" dirty="0"/>
          </a:p>
        </p:txBody>
      </p:sp>
      <p:sp>
        <p:nvSpPr>
          <p:cNvPr id="13" name="Shape 9"/>
          <p:cNvSpPr/>
          <p:nvPr/>
        </p:nvSpPr>
        <p:spPr>
          <a:xfrm>
            <a:off x="548640" y="4206240"/>
            <a:ext cx="2331720" cy="685800"/>
          </a:xfrm>
          <a:prstGeom prst="homePlate">
            <a:avLst/>
          </a:prstGeom>
          <a:solidFill>
            <a:schemeClr val="accent3"/>
          </a:solidFill>
          <a:ln/>
        </p:spPr>
      </p:sp>
      <p:sp>
        <p:nvSpPr>
          <p:cNvPr id="14" name="Text 10"/>
          <p:cNvSpPr txBox="1"/>
          <p:nvPr/>
        </p:nvSpPr>
        <p:spPr>
          <a:xfrm>
            <a:off x="685800" y="4206240"/>
            <a:ext cx="1737360" cy="685800"/>
          </a:xfrm>
          <a:prstGeom prst="rect">
            <a:avLst/>
          </a:prstGeom>
          <a:noFill/>
          <a:ln/>
        </p:spPr>
        <p:txBody>
          <a:bodyPr wrap="square" lIns="0" tIns="0" rIns="0" bIns="0" rtlCol="0" anchor="ctr"/>
          <a:lstStyle/>
          <a:p>
            <a:pPr algn="ctr" indent="0" marL="0">
              <a:buNone/>
            </a:pPr>
            <a:r>
              <a:rPr lang="en-US" sz="1400" b="1" dirty="0">
                <a:solidFill>
                  <a:schemeClr val="tx1"/>
                </a:solidFill>
                <a:latin typeface="+mj-lt" pitchFamily="34" charset="0"/>
                <a:ea typeface="+mj-lt" pitchFamily="34" charset="-122"/>
                <a:cs typeface="+mj-lt" pitchFamily="34" charset="-120"/>
              </a:rPr>
              <a:t>Forberedelse</a:t>
            </a:r>
            <a:endParaRPr lang="en-US" sz="1400" dirty="0"/>
          </a:p>
        </p:txBody>
      </p:sp>
      <p:sp>
        <p:nvSpPr>
          <p:cNvPr id="15" name="Text 11"/>
          <p:cNvSpPr txBox="1"/>
          <p:nvPr/>
        </p:nvSpPr>
        <p:spPr>
          <a:xfrm>
            <a:off x="685800" y="4983480"/>
            <a:ext cx="1965960" cy="640080"/>
          </a:xfrm>
          <a:prstGeom prst="rect">
            <a:avLst/>
          </a:prstGeom>
          <a:noFill/>
          <a:ln/>
        </p:spPr>
        <p:txBody>
          <a:bodyPr wrap="square" lIns="0" tIns="0" rIns="0" bIns="0" rtlCol="0" anchor="t"/>
          <a:lstStyle/>
          <a:p>
            <a:pPr algn="ctr" indent="0" marL="0">
              <a:buNone/>
            </a:pPr>
            <a:r>
              <a:rPr lang="en-US" sz="1200" dirty="0">
                <a:solidFill>
                  <a:schemeClr val="tx2"/>
                </a:solidFill>
              </a:rPr>
              <a:t>Informasjonsmemo og verdsettelse</a:t>
            </a:r>
            <a:endParaRPr lang="en-US" sz="1200" dirty="0"/>
          </a:p>
        </p:txBody>
      </p:sp>
      <p:sp>
        <p:nvSpPr>
          <p:cNvPr id="16" name="Shape 12"/>
          <p:cNvSpPr/>
          <p:nvPr/>
        </p:nvSpPr>
        <p:spPr>
          <a:xfrm>
            <a:off x="2788920" y="4206240"/>
            <a:ext cx="2331720" cy="685800"/>
          </a:xfrm>
          <a:prstGeom prst="chevron">
            <a:avLst/>
          </a:prstGeom>
          <a:solidFill>
            <a:schemeClr val="accent3"/>
          </a:solidFill>
          <a:ln/>
        </p:spPr>
      </p:sp>
      <p:sp>
        <p:nvSpPr>
          <p:cNvPr id="17" name="Text 13"/>
          <p:cNvSpPr txBox="1"/>
          <p:nvPr/>
        </p:nvSpPr>
        <p:spPr>
          <a:xfrm>
            <a:off x="3154680" y="4206240"/>
            <a:ext cx="1737360" cy="685800"/>
          </a:xfrm>
          <a:prstGeom prst="rect">
            <a:avLst/>
          </a:prstGeom>
          <a:noFill/>
          <a:ln/>
        </p:spPr>
        <p:txBody>
          <a:bodyPr wrap="square" lIns="0" tIns="0" rIns="0" bIns="0" rtlCol="0" anchor="ctr"/>
          <a:lstStyle/>
          <a:p>
            <a:pPr algn="ctr" indent="0" marL="0">
              <a:buNone/>
            </a:pPr>
            <a:r>
              <a:rPr lang="en-US" sz="1400" b="1" dirty="0">
                <a:solidFill>
                  <a:schemeClr val="tx1"/>
                </a:solidFill>
                <a:latin typeface="+mj-lt" pitchFamily="34" charset="0"/>
                <a:ea typeface="+mj-lt" pitchFamily="34" charset="-122"/>
                <a:cs typeface="+mj-lt" pitchFamily="34" charset="-120"/>
              </a:rPr>
              <a:t>Kontakt</a:t>
            </a:r>
            <a:endParaRPr lang="en-US" sz="1400" dirty="0"/>
          </a:p>
        </p:txBody>
      </p:sp>
      <p:sp>
        <p:nvSpPr>
          <p:cNvPr id="18" name="Text 14"/>
          <p:cNvSpPr txBox="1"/>
          <p:nvPr/>
        </p:nvSpPr>
        <p:spPr>
          <a:xfrm>
            <a:off x="2926080" y="4983480"/>
            <a:ext cx="1965960" cy="640080"/>
          </a:xfrm>
          <a:prstGeom prst="rect">
            <a:avLst/>
          </a:prstGeom>
          <a:noFill/>
          <a:ln/>
        </p:spPr>
        <p:txBody>
          <a:bodyPr wrap="square" lIns="0" tIns="0" rIns="0" bIns="0" rtlCol="0" anchor="t"/>
          <a:lstStyle/>
          <a:p>
            <a:pPr algn="ctr" indent="0" marL="0">
              <a:buNone/>
            </a:pPr>
            <a:r>
              <a:rPr lang="en-US" sz="1200" dirty="0">
                <a:solidFill>
                  <a:schemeClr val="tx2"/>
                </a:solidFill>
              </a:rPr>
              <a:t>Banken kontakter aktuelle kjøpere</a:t>
            </a:r>
            <a:endParaRPr lang="en-US" sz="1200" dirty="0"/>
          </a:p>
        </p:txBody>
      </p:sp>
      <p:sp>
        <p:nvSpPr>
          <p:cNvPr id="19" name="Shape 15"/>
          <p:cNvSpPr/>
          <p:nvPr/>
        </p:nvSpPr>
        <p:spPr>
          <a:xfrm>
            <a:off x="5029200" y="4206240"/>
            <a:ext cx="2331720" cy="685800"/>
          </a:xfrm>
          <a:prstGeom prst="chevron">
            <a:avLst/>
          </a:prstGeom>
          <a:solidFill>
            <a:schemeClr val="accent3"/>
          </a:solidFill>
          <a:ln/>
        </p:spPr>
      </p:sp>
      <p:sp>
        <p:nvSpPr>
          <p:cNvPr id="20" name="Text 16"/>
          <p:cNvSpPr txBox="1"/>
          <p:nvPr/>
        </p:nvSpPr>
        <p:spPr>
          <a:xfrm>
            <a:off x="5394960" y="4206240"/>
            <a:ext cx="1737360" cy="685800"/>
          </a:xfrm>
          <a:prstGeom prst="rect">
            <a:avLst/>
          </a:prstGeom>
          <a:noFill/>
          <a:ln/>
        </p:spPr>
        <p:txBody>
          <a:bodyPr wrap="square" lIns="0" tIns="0" rIns="0" bIns="0" rtlCol="0" anchor="ctr"/>
          <a:lstStyle/>
          <a:p>
            <a:pPr algn="ctr" indent="0" marL="0">
              <a:buNone/>
            </a:pPr>
            <a:r>
              <a:rPr lang="en-US" sz="1400" b="1" dirty="0">
                <a:solidFill>
                  <a:schemeClr val="tx1"/>
                </a:solidFill>
                <a:latin typeface="+mj-lt" pitchFamily="34" charset="0"/>
                <a:ea typeface="+mj-lt" pitchFamily="34" charset="-122"/>
                <a:cs typeface="+mj-lt" pitchFamily="34" charset="-120"/>
              </a:rPr>
              <a:t>Indikative bud</a:t>
            </a:r>
            <a:endParaRPr lang="en-US" sz="1400" dirty="0"/>
          </a:p>
        </p:txBody>
      </p:sp>
      <p:sp>
        <p:nvSpPr>
          <p:cNvPr id="21" name="Text 17"/>
          <p:cNvSpPr txBox="1"/>
          <p:nvPr/>
        </p:nvSpPr>
        <p:spPr>
          <a:xfrm>
            <a:off x="5166360" y="4983480"/>
            <a:ext cx="1965960" cy="640080"/>
          </a:xfrm>
          <a:prstGeom prst="rect">
            <a:avLst/>
          </a:prstGeom>
          <a:noFill/>
          <a:ln/>
        </p:spPr>
        <p:txBody>
          <a:bodyPr wrap="square" lIns="0" tIns="0" rIns="0" bIns="0" rtlCol="0" anchor="t"/>
          <a:lstStyle/>
          <a:p>
            <a:pPr algn="ctr" indent="0" marL="0">
              <a:buNone/>
            </a:pPr>
            <a:r>
              <a:rPr lang="en-US" sz="1200" dirty="0">
                <a:solidFill>
                  <a:schemeClr val="tx2"/>
                </a:solidFill>
              </a:rPr>
              <a:t>Kjøperne gir et første prisanslag</a:t>
            </a:r>
            <a:endParaRPr lang="en-US" sz="1200" dirty="0"/>
          </a:p>
        </p:txBody>
      </p:sp>
      <p:sp>
        <p:nvSpPr>
          <p:cNvPr id="22" name="Shape 18"/>
          <p:cNvSpPr/>
          <p:nvPr/>
        </p:nvSpPr>
        <p:spPr>
          <a:xfrm>
            <a:off x="7269480" y="4206240"/>
            <a:ext cx="2331720" cy="685800"/>
          </a:xfrm>
          <a:prstGeom prst="chevron">
            <a:avLst/>
          </a:prstGeom>
          <a:solidFill>
            <a:schemeClr val="accent3"/>
          </a:solidFill>
          <a:ln/>
        </p:spPr>
      </p:sp>
      <p:sp>
        <p:nvSpPr>
          <p:cNvPr id="23" name="Text 19"/>
          <p:cNvSpPr txBox="1"/>
          <p:nvPr/>
        </p:nvSpPr>
        <p:spPr>
          <a:xfrm>
            <a:off x="7635240" y="4206240"/>
            <a:ext cx="1737360" cy="685800"/>
          </a:xfrm>
          <a:prstGeom prst="rect">
            <a:avLst/>
          </a:prstGeom>
          <a:noFill/>
          <a:ln/>
        </p:spPr>
        <p:txBody>
          <a:bodyPr wrap="square" lIns="0" tIns="0" rIns="0" bIns="0" rtlCol="0" anchor="ctr"/>
          <a:lstStyle/>
          <a:p>
            <a:pPr algn="ctr" indent="0" marL="0">
              <a:buNone/>
            </a:pPr>
            <a:r>
              <a:rPr lang="en-US" sz="1400" b="1" dirty="0">
                <a:solidFill>
                  <a:schemeClr val="tx1"/>
                </a:solidFill>
                <a:latin typeface="+mj-lt" pitchFamily="34" charset="0"/>
                <a:ea typeface="+mj-lt" pitchFamily="34" charset="-122"/>
                <a:cs typeface="+mj-lt" pitchFamily="34" charset="-120"/>
              </a:rPr>
              <a:t>Due diligence</a:t>
            </a:r>
            <a:endParaRPr lang="en-US" sz="1400" dirty="0"/>
          </a:p>
        </p:txBody>
      </p:sp>
      <p:sp>
        <p:nvSpPr>
          <p:cNvPr id="24" name="Text 20"/>
          <p:cNvSpPr txBox="1"/>
          <p:nvPr/>
        </p:nvSpPr>
        <p:spPr>
          <a:xfrm>
            <a:off x="7406640" y="4983480"/>
            <a:ext cx="1965960" cy="640080"/>
          </a:xfrm>
          <a:prstGeom prst="rect">
            <a:avLst/>
          </a:prstGeom>
          <a:noFill/>
          <a:ln/>
        </p:spPr>
        <p:txBody>
          <a:bodyPr wrap="square" lIns="0" tIns="0" rIns="0" bIns="0" rtlCol="0" anchor="t"/>
          <a:lstStyle/>
          <a:p>
            <a:pPr algn="ctr" indent="0" marL="0">
              <a:buNone/>
            </a:pPr>
            <a:r>
              <a:rPr lang="en-US" sz="1200" dirty="0">
                <a:solidFill>
                  <a:schemeClr val="tx2"/>
                </a:solidFill>
              </a:rPr>
              <a:t>De beste får gå gjennom selskapet i detalj</a:t>
            </a:r>
            <a:endParaRPr lang="en-US" sz="1200" dirty="0"/>
          </a:p>
        </p:txBody>
      </p:sp>
      <p:sp>
        <p:nvSpPr>
          <p:cNvPr id="25" name="Shape 21"/>
          <p:cNvSpPr/>
          <p:nvPr/>
        </p:nvSpPr>
        <p:spPr>
          <a:xfrm>
            <a:off x="9509760" y="4206240"/>
            <a:ext cx="2331720" cy="685800"/>
          </a:xfrm>
          <a:prstGeom prst="chevron">
            <a:avLst/>
          </a:prstGeom>
          <a:solidFill>
            <a:schemeClr val="accent1"/>
          </a:solidFill>
          <a:ln/>
        </p:spPr>
      </p:sp>
      <p:sp>
        <p:nvSpPr>
          <p:cNvPr id="26" name="Text 22"/>
          <p:cNvSpPr txBox="1"/>
          <p:nvPr/>
        </p:nvSpPr>
        <p:spPr>
          <a:xfrm>
            <a:off x="9875520" y="4206240"/>
            <a:ext cx="1737360" cy="68580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Signering</a:t>
            </a:r>
            <a:endParaRPr lang="en-US" sz="1400" dirty="0"/>
          </a:p>
        </p:txBody>
      </p:sp>
      <p:sp>
        <p:nvSpPr>
          <p:cNvPr id="27" name="Text 23"/>
          <p:cNvSpPr txBox="1"/>
          <p:nvPr/>
        </p:nvSpPr>
        <p:spPr>
          <a:xfrm>
            <a:off x="9646920" y="4983480"/>
            <a:ext cx="1965960" cy="640080"/>
          </a:xfrm>
          <a:prstGeom prst="rect">
            <a:avLst/>
          </a:prstGeom>
          <a:noFill/>
          <a:ln/>
        </p:spPr>
        <p:txBody>
          <a:bodyPr wrap="square" lIns="0" tIns="0" rIns="0" bIns="0" rtlCol="0" anchor="t"/>
          <a:lstStyle/>
          <a:p>
            <a:pPr algn="ctr" indent="0" marL="0">
              <a:buNone/>
            </a:pPr>
            <a:r>
              <a:rPr lang="en-US" sz="1200" dirty="0">
                <a:solidFill>
                  <a:schemeClr val="tx2"/>
                </a:solidFill>
              </a:rPr>
              <a:t>Endelig bud, avtale og closing</a:t>
            </a:r>
            <a:endParaRPr lang="en-US" sz="1200" dirty="0"/>
          </a:p>
        </p:txBody>
      </p:sp>
      <p:sp>
        <p:nvSpPr>
          <p:cNvPr id="28" name="Shape 24"/>
          <p:cNvSpPr/>
          <p:nvPr/>
        </p:nvSpPr>
        <p:spPr>
          <a:xfrm>
            <a:off x="548640" y="5760720"/>
            <a:ext cx="8229600" cy="457200"/>
          </a:xfrm>
          <a:prstGeom prst="roundRect">
            <a:avLst>
              <a:gd name="adj" fmla="val 16000"/>
            </a:avLst>
          </a:prstGeom>
          <a:solidFill>
            <a:schemeClr val="accent1"/>
          </a:solidFill>
          <a:ln/>
        </p:spPr>
      </p:sp>
      <p:pic>
        <p:nvPicPr>
          <p:cNvPr id="29" name="Image 2" descr="preencoded.png">    </p:cNvPr>
          <p:cNvPicPr>
            <a:picLocks noChangeAspect="1"/>
          </p:cNvPicPr>
          <p:nvPr/>
        </p:nvPicPr>
        <p:blipFill>
          <a:blip r:embed="rId3"/>
          <a:stretch>
            <a:fillRect/>
          </a:stretch>
        </p:blipFill>
        <p:spPr>
          <a:xfrm>
            <a:off x="731520" y="5843016"/>
            <a:ext cx="292608" cy="292608"/>
          </a:xfrm>
          <a:prstGeom prst="rect">
            <a:avLst/>
          </a:prstGeom>
        </p:spPr>
      </p:pic>
      <p:sp>
        <p:nvSpPr>
          <p:cNvPr id="30" name="Text 25"/>
          <p:cNvSpPr txBox="1"/>
          <p:nvPr/>
        </p:nvSpPr>
        <p:spPr>
          <a:xfrm>
            <a:off x="1143000" y="5760720"/>
            <a:ext cx="7498080" cy="457200"/>
          </a:xfrm>
          <a:prstGeom prst="rect">
            <a:avLst/>
          </a:prstGeom>
          <a:noFill/>
          <a:ln/>
        </p:spPr>
        <p:txBody>
          <a:bodyPr wrap="square" lIns="0" tIns="0" rIns="0" bIns="0" rtlCol="0" anchor="ctr"/>
          <a:lstStyle/>
          <a:p>
            <a:pPr indent="0" marL="0">
              <a:buNone/>
            </a:pPr>
            <a:r>
              <a:rPr lang="en-US" sz="1300" b="1" dirty="0">
                <a:solidFill>
                  <a:schemeClr val="bg1"/>
                </a:solidFill>
              </a:rPr>
              <a:t>Obs: «sell-side» i M&amp;A betyr salgsmandat – ikke det samme som sellside-bransjen.</a:t>
            </a:r>
            <a:endParaRPr lang="en-US" sz="13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ANALYTIKER – TO BETYDNINGER</a:t>
            </a:r>
            <a:endParaRPr lang="en-US" sz="3200" dirty="0"/>
          </a:p>
        </p:txBody>
      </p:sp>
      <p:sp>
        <p:nvSpPr>
          <p:cNvPr id="3" name="Shape 1"/>
          <p:cNvSpPr/>
          <p:nvPr/>
        </p:nvSpPr>
        <p:spPr>
          <a:xfrm>
            <a:off x="548640" y="1371600"/>
            <a:ext cx="5394960" cy="4526280"/>
          </a:xfrm>
          <a:prstGeom prst="roundRect">
            <a:avLst>
              <a:gd name="adj" fmla="val 1616"/>
            </a:avLst>
          </a:prstGeom>
          <a:solidFill>
            <a:schemeClr val="bg2"/>
          </a:solidFill>
          <a:ln/>
        </p:spPr>
      </p:sp>
      <p:pic>
        <p:nvPicPr>
          <p:cNvPr id="4" name="Image 0" descr="preencoded.png">    </p:cNvPr>
          <p:cNvPicPr>
            <a:picLocks noChangeAspect="1"/>
          </p:cNvPicPr>
          <p:nvPr/>
        </p:nvPicPr>
        <p:blipFill>
          <a:blip r:embed="rId1"/>
          <a:stretch>
            <a:fillRect/>
          </a:stretch>
        </p:blipFill>
        <p:spPr>
          <a:xfrm>
            <a:off x="822960" y="1600200"/>
            <a:ext cx="457200" cy="457200"/>
          </a:xfrm>
          <a:prstGeom prst="rect">
            <a:avLst/>
          </a:prstGeom>
        </p:spPr>
      </p:pic>
      <p:sp>
        <p:nvSpPr>
          <p:cNvPr id="5" name="Text 2"/>
          <p:cNvSpPr txBox="1"/>
          <p:nvPr/>
        </p:nvSpPr>
        <p:spPr>
          <a:xfrm>
            <a:off x="1463040" y="1572768"/>
            <a:ext cx="4206240" cy="41148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ANALYST I IB</a:t>
            </a:r>
            <a:endParaRPr lang="en-US" sz="2000" dirty="0"/>
          </a:p>
        </p:txBody>
      </p:sp>
      <p:sp>
        <p:nvSpPr>
          <p:cNvPr id="6" name="Text 3"/>
          <p:cNvSpPr txBox="1"/>
          <p:nvPr/>
        </p:nvSpPr>
        <p:spPr>
          <a:xfrm>
            <a:off x="1463040" y="1965960"/>
            <a:ext cx="4297680" cy="320040"/>
          </a:xfrm>
          <a:prstGeom prst="rect">
            <a:avLst/>
          </a:prstGeom>
          <a:noFill/>
          <a:ln/>
        </p:spPr>
        <p:txBody>
          <a:bodyPr wrap="square" lIns="0" tIns="0" rIns="0" bIns="0" rtlCol="0" anchor="t"/>
          <a:lstStyle/>
          <a:p>
            <a:pPr indent="0" marL="0">
              <a:buNone/>
            </a:pPr>
            <a:r>
              <a:rPr lang="en-US" sz="1200" i="1" dirty="0">
                <a:solidFill>
                  <a:schemeClr val="tx2"/>
                </a:solidFill>
              </a:rPr>
              <a:t>Stillingstittel – første trinn på karrierestigen</a:t>
            </a:r>
            <a:endParaRPr lang="en-US" sz="1200" dirty="0"/>
          </a:p>
        </p:txBody>
      </p:sp>
      <p:sp>
        <p:nvSpPr>
          <p:cNvPr id="7" name="Text 4"/>
          <p:cNvSpPr txBox="1"/>
          <p:nvPr/>
        </p:nvSpPr>
        <p:spPr>
          <a:xfrm>
            <a:off x="822960" y="2468880"/>
            <a:ext cx="4846320" cy="14630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Bygger finansielle modeller i Excel</a:t>
            </a:r>
            <a:endParaRPr lang="en-US" sz="1400" dirty="0"/>
          </a:p>
          <a:p>
            <a:pPr marL="203200" indent="-203200">
              <a:spcAft>
                <a:spcPts val="600"/>
              </a:spcAft>
              <a:buSzPct val="100000"/>
              <a:buChar char="•"/>
            </a:pPr>
            <a:r>
              <a:rPr lang="en-US" sz="1400" dirty="0">
                <a:solidFill>
                  <a:schemeClr val="tx1"/>
                </a:solidFill>
              </a:rPr>
              <a:t>Lager pitchbooks og presentasjoner i PowerPoint</a:t>
            </a:r>
            <a:endParaRPr lang="en-US" sz="1400" dirty="0"/>
          </a:p>
          <a:p>
            <a:pPr marL="203200" indent="-203200">
              <a:spcAft>
                <a:spcPts val="600"/>
              </a:spcAft>
              <a:buSzPct val="100000"/>
              <a:buChar char="•"/>
            </a:pPr>
            <a:r>
              <a:rPr lang="en-US" sz="1400" dirty="0">
                <a:solidFill>
                  <a:schemeClr val="tx1"/>
                </a:solidFill>
              </a:rPr>
              <a:t>Researcher selskaper og bransjer</a:t>
            </a:r>
            <a:endParaRPr lang="en-US" sz="1400" dirty="0"/>
          </a:p>
          <a:p>
            <a:pPr marL="203200" indent="-203200">
              <a:spcAft>
                <a:spcPts val="600"/>
              </a:spcAft>
              <a:buSzPct val="100000"/>
              <a:buChar char="•"/>
            </a:pPr>
            <a:r>
              <a:rPr lang="en-US" sz="1400" dirty="0">
                <a:solidFill>
                  <a:schemeClr val="tx1"/>
                </a:solidFill>
              </a:rPr>
              <a:t>Jobber i team på transaksjoner (ECM, DCM, M&amp;A)</a:t>
            </a:r>
            <a:endParaRPr lang="en-US" sz="1400" dirty="0"/>
          </a:p>
        </p:txBody>
      </p:sp>
      <p:sp>
        <p:nvSpPr>
          <p:cNvPr id="8" name="Shape 5"/>
          <p:cNvSpPr/>
          <p:nvPr/>
        </p:nvSpPr>
        <p:spPr>
          <a:xfrm>
            <a:off x="822960" y="5074920"/>
            <a:ext cx="822960" cy="274320"/>
          </a:xfrm>
          <a:prstGeom prst="rect">
            <a:avLst/>
          </a:prstGeom>
          <a:solidFill>
            <a:schemeClr val="accent1"/>
          </a:solidFill>
          <a:ln/>
        </p:spPr>
      </p:sp>
      <p:sp>
        <p:nvSpPr>
          <p:cNvPr id="9" name="Text 6"/>
          <p:cNvSpPr txBox="1"/>
          <p:nvPr/>
        </p:nvSpPr>
        <p:spPr>
          <a:xfrm>
            <a:off x="731520" y="5394960"/>
            <a:ext cx="1005840" cy="274320"/>
          </a:xfrm>
          <a:prstGeom prst="rect">
            <a:avLst/>
          </a:prstGeom>
          <a:noFill/>
          <a:ln/>
        </p:spPr>
        <p:txBody>
          <a:bodyPr wrap="square" lIns="0" tIns="0" rIns="0" bIns="0" rtlCol="0" anchor="t"/>
          <a:lstStyle/>
          <a:p>
            <a:pPr algn="ctr" indent="0" marL="0">
              <a:buNone/>
            </a:pPr>
            <a:r>
              <a:rPr lang="en-US" sz="1000" dirty="0">
                <a:solidFill>
                  <a:schemeClr val="tx2"/>
                </a:solidFill>
              </a:rPr>
              <a:t>Analyst</a:t>
            </a:r>
            <a:endParaRPr lang="en-US" sz="1000" dirty="0"/>
          </a:p>
        </p:txBody>
      </p:sp>
      <p:sp>
        <p:nvSpPr>
          <p:cNvPr id="10" name="Shape 7"/>
          <p:cNvSpPr/>
          <p:nvPr/>
        </p:nvSpPr>
        <p:spPr>
          <a:xfrm>
            <a:off x="1810512" y="4873752"/>
            <a:ext cx="822960" cy="475488"/>
          </a:xfrm>
          <a:prstGeom prst="rect">
            <a:avLst/>
          </a:prstGeom>
          <a:solidFill>
            <a:schemeClr val="accent3"/>
          </a:solidFill>
          <a:ln/>
        </p:spPr>
      </p:sp>
      <p:sp>
        <p:nvSpPr>
          <p:cNvPr id="11" name="Text 8"/>
          <p:cNvSpPr txBox="1"/>
          <p:nvPr/>
        </p:nvSpPr>
        <p:spPr>
          <a:xfrm>
            <a:off x="1719072" y="5394960"/>
            <a:ext cx="1005840" cy="274320"/>
          </a:xfrm>
          <a:prstGeom prst="rect">
            <a:avLst/>
          </a:prstGeom>
          <a:noFill/>
          <a:ln/>
        </p:spPr>
        <p:txBody>
          <a:bodyPr wrap="square" lIns="0" tIns="0" rIns="0" bIns="0" rtlCol="0" anchor="t"/>
          <a:lstStyle/>
          <a:p>
            <a:pPr algn="ctr" indent="0" marL="0">
              <a:buNone/>
            </a:pPr>
            <a:r>
              <a:rPr lang="en-US" sz="1000" dirty="0">
                <a:solidFill>
                  <a:schemeClr val="tx2"/>
                </a:solidFill>
              </a:rPr>
              <a:t>Associate</a:t>
            </a:r>
            <a:endParaRPr lang="en-US" sz="1000" dirty="0"/>
          </a:p>
        </p:txBody>
      </p:sp>
      <p:sp>
        <p:nvSpPr>
          <p:cNvPr id="12" name="Shape 9"/>
          <p:cNvSpPr/>
          <p:nvPr/>
        </p:nvSpPr>
        <p:spPr>
          <a:xfrm>
            <a:off x="2798064" y="4672584"/>
            <a:ext cx="822960" cy="676656"/>
          </a:xfrm>
          <a:prstGeom prst="rect">
            <a:avLst/>
          </a:prstGeom>
          <a:solidFill>
            <a:schemeClr val="accent3"/>
          </a:solidFill>
          <a:ln/>
        </p:spPr>
      </p:sp>
      <p:sp>
        <p:nvSpPr>
          <p:cNvPr id="13" name="Text 10"/>
          <p:cNvSpPr txBox="1"/>
          <p:nvPr/>
        </p:nvSpPr>
        <p:spPr>
          <a:xfrm>
            <a:off x="2706624" y="5394960"/>
            <a:ext cx="1005840" cy="274320"/>
          </a:xfrm>
          <a:prstGeom prst="rect">
            <a:avLst/>
          </a:prstGeom>
          <a:noFill/>
          <a:ln/>
        </p:spPr>
        <p:txBody>
          <a:bodyPr wrap="square" lIns="0" tIns="0" rIns="0" bIns="0" rtlCol="0" anchor="t"/>
          <a:lstStyle/>
          <a:p>
            <a:pPr algn="ctr" indent="0" marL="0">
              <a:buNone/>
            </a:pPr>
            <a:r>
              <a:rPr lang="en-US" sz="1000" dirty="0">
                <a:solidFill>
                  <a:schemeClr val="tx2"/>
                </a:solidFill>
              </a:rPr>
              <a:t>VP</a:t>
            </a:r>
            <a:endParaRPr lang="en-US" sz="1000" dirty="0"/>
          </a:p>
        </p:txBody>
      </p:sp>
      <p:sp>
        <p:nvSpPr>
          <p:cNvPr id="14" name="Shape 11"/>
          <p:cNvSpPr/>
          <p:nvPr/>
        </p:nvSpPr>
        <p:spPr>
          <a:xfrm>
            <a:off x="3785616" y="4471416"/>
            <a:ext cx="822960" cy="877824"/>
          </a:xfrm>
          <a:prstGeom prst="rect">
            <a:avLst/>
          </a:prstGeom>
          <a:solidFill>
            <a:schemeClr val="accent3"/>
          </a:solidFill>
          <a:ln/>
        </p:spPr>
      </p:sp>
      <p:sp>
        <p:nvSpPr>
          <p:cNvPr id="15" name="Text 12"/>
          <p:cNvSpPr txBox="1"/>
          <p:nvPr/>
        </p:nvSpPr>
        <p:spPr>
          <a:xfrm>
            <a:off x="3694176" y="5394960"/>
            <a:ext cx="1005840" cy="274320"/>
          </a:xfrm>
          <a:prstGeom prst="rect">
            <a:avLst/>
          </a:prstGeom>
          <a:noFill/>
          <a:ln/>
        </p:spPr>
        <p:txBody>
          <a:bodyPr wrap="square" lIns="0" tIns="0" rIns="0" bIns="0" rtlCol="0" anchor="t"/>
          <a:lstStyle/>
          <a:p>
            <a:pPr algn="ctr" indent="0" marL="0">
              <a:buNone/>
            </a:pPr>
            <a:r>
              <a:rPr lang="en-US" sz="1000" dirty="0">
                <a:solidFill>
                  <a:schemeClr val="tx2"/>
                </a:solidFill>
              </a:rPr>
              <a:t>Director</a:t>
            </a:r>
            <a:endParaRPr lang="en-US" sz="1000" dirty="0"/>
          </a:p>
        </p:txBody>
      </p:sp>
      <p:sp>
        <p:nvSpPr>
          <p:cNvPr id="16" name="Shape 13"/>
          <p:cNvSpPr/>
          <p:nvPr/>
        </p:nvSpPr>
        <p:spPr>
          <a:xfrm>
            <a:off x="4773168" y="4270248"/>
            <a:ext cx="822960" cy="1078992"/>
          </a:xfrm>
          <a:prstGeom prst="rect">
            <a:avLst/>
          </a:prstGeom>
          <a:solidFill>
            <a:schemeClr val="accent3"/>
          </a:solidFill>
          <a:ln/>
        </p:spPr>
      </p:sp>
      <p:sp>
        <p:nvSpPr>
          <p:cNvPr id="17" name="Text 14"/>
          <p:cNvSpPr txBox="1"/>
          <p:nvPr/>
        </p:nvSpPr>
        <p:spPr>
          <a:xfrm>
            <a:off x="4681728" y="5394960"/>
            <a:ext cx="1005840" cy="274320"/>
          </a:xfrm>
          <a:prstGeom prst="rect">
            <a:avLst/>
          </a:prstGeom>
          <a:noFill/>
          <a:ln/>
        </p:spPr>
        <p:txBody>
          <a:bodyPr wrap="square" lIns="0" tIns="0" rIns="0" bIns="0" rtlCol="0" anchor="t"/>
          <a:lstStyle/>
          <a:p>
            <a:pPr algn="ctr" indent="0" marL="0">
              <a:buNone/>
            </a:pPr>
            <a:r>
              <a:rPr lang="en-US" sz="1000" dirty="0">
                <a:solidFill>
                  <a:schemeClr val="tx2"/>
                </a:solidFill>
              </a:rPr>
              <a:t>MD/Partner</a:t>
            </a:r>
            <a:endParaRPr lang="en-US" sz="1000" dirty="0"/>
          </a:p>
        </p:txBody>
      </p:sp>
      <p:sp>
        <p:nvSpPr>
          <p:cNvPr id="18" name="Shape 15"/>
          <p:cNvSpPr/>
          <p:nvPr/>
        </p:nvSpPr>
        <p:spPr>
          <a:xfrm>
            <a:off x="6217920" y="1371600"/>
            <a:ext cx="5394960" cy="4526280"/>
          </a:xfrm>
          <a:prstGeom prst="roundRect">
            <a:avLst>
              <a:gd name="adj" fmla="val 1616"/>
            </a:avLst>
          </a:prstGeom>
          <a:solidFill>
            <a:schemeClr val="bg2"/>
          </a:solidFill>
          <a:ln/>
        </p:spPr>
      </p:sp>
      <p:pic>
        <p:nvPicPr>
          <p:cNvPr id="19" name="Image 1" descr="preencoded.png">    </p:cNvPr>
          <p:cNvPicPr>
            <a:picLocks noChangeAspect="1"/>
          </p:cNvPicPr>
          <p:nvPr/>
        </p:nvPicPr>
        <p:blipFill>
          <a:blip r:embed="rId2"/>
          <a:stretch>
            <a:fillRect/>
          </a:stretch>
        </p:blipFill>
        <p:spPr>
          <a:xfrm>
            <a:off x="6492240" y="1600200"/>
            <a:ext cx="457200" cy="457200"/>
          </a:xfrm>
          <a:prstGeom prst="rect">
            <a:avLst/>
          </a:prstGeom>
        </p:spPr>
      </p:pic>
      <p:sp>
        <p:nvSpPr>
          <p:cNvPr id="20" name="Text 16"/>
          <p:cNvSpPr txBox="1"/>
          <p:nvPr/>
        </p:nvSpPr>
        <p:spPr>
          <a:xfrm>
            <a:off x="7132320" y="1572768"/>
            <a:ext cx="4206240" cy="41148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AKSJEANALYTIKER</a:t>
            </a:r>
            <a:endParaRPr lang="en-US" sz="2000" dirty="0"/>
          </a:p>
        </p:txBody>
      </p:sp>
      <p:sp>
        <p:nvSpPr>
          <p:cNvPr id="21" name="Text 17"/>
          <p:cNvSpPr txBox="1"/>
          <p:nvPr/>
        </p:nvSpPr>
        <p:spPr>
          <a:xfrm>
            <a:off x="7132320" y="1965960"/>
            <a:ext cx="4297680" cy="320040"/>
          </a:xfrm>
          <a:prstGeom prst="rect">
            <a:avLst/>
          </a:prstGeom>
          <a:noFill/>
          <a:ln/>
        </p:spPr>
        <p:txBody>
          <a:bodyPr wrap="square" lIns="0" tIns="0" rIns="0" bIns="0" rtlCol="0" anchor="t"/>
          <a:lstStyle/>
          <a:p>
            <a:pPr indent="0" marL="0">
              <a:buNone/>
            </a:pPr>
            <a:r>
              <a:rPr lang="en-US" sz="1200" i="1" dirty="0">
                <a:solidFill>
                  <a:schemeClr val="tx2"/>
                </a:solidFill>
              </a:rPr>
              <a:t>Equity research – på Markets-siden</a:t>
            </a:r>
            <a:endParaRPr lang="en-US" sz="1200" dirty="0"/>
          </a:p>
        </p:txBody>
      </p:sp>
      <p:sp>
        <p:nvSpPr>
          <p:cNvPr id="22" name="Text 18"/>
          <p:cNvSpPr txBox="1"/>
          <p:nvPr/>
        </p:nvSpPr>
        <p:spPr>
          <a:xfrm>
            <a:off x="6492240" y="2468880"/>
            <a:ext cx="4846320" cy="14630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Følger 10–20 selskaper i én bransje</a:t>
            </a:r>
            <a:endParaRPr lang="en-US" sz="1400" dirty="0"/>
          </a:p>
          <a:p>
            <a:pPr marL="203200" indent="-203200">
              <a:spcAft>
                <a:spcPts val="600"/>
              </a:spcAft>
              <a:buSzPct val="100000"/>
              <a:buChar char="•"/>
            </a:pPr>
            <a:r>
              <a:rPr lang="en-US" sz="1400" dirty="0">
                <a:solidFill>
                  <a:schemeClr val="tx1"/>
                </a:solidFill>
              </a:rPr>
              <a:t>Lager prognoser for inntekter og resultat</a:t>
            </a:r>
            <a:endParaRPr lang="en-US" sz="1400" dirty="0"/>
          </a:p>
          <a:p>
            <a:pPr marL="203200" indent="-203200">
              <a:spcAft>
                <a:spcPts val="600"/>
              </a:spcAft>
              <a:buSzPct val="100000"/>
              <a:buChar char="•"/>
            </a:pPr>
            <a:r>
              <a:rPr lang="en-US" sz="1400" dirty="0">
                <a:solidFill>
                  <a:schemeClr val="tx1"/>
                </a:solidFill>
              </a:rPr>
              <a:t>Setter kursmål og gir en anbefaling</a:t>
            </a:r>
            <a:endParaRPr lang="en-US" sz="1400" dirty="0"/>
          </a:p>
          <a:p>
            <a:pPr marL="203200" indent="-203200">
              <a:spcAft>
                <a:spcPts val="600"/>
              </a:spcAft>
              <a:buSzPct val="100000"/>
              <a:buChar char="•"/>
            </a:pPr>
            <a:r>
              <a:rPr lang="en-US" sz="1400" dirty="0">
                <a:solidFill>
                  <a:schemeClr val="tx1"/>
                </a:solidFill>
              </a:rPr>
              <a:t>Skriver rapporter som investorene leser</a:t>
            </a:r>
            <a:endParaRPr lang="en-US" sz="1400" dirty="0"/>
          </a:p>
        </p:txBody>
      </p:sp>
      <p:sp>
        <p:nvSpPr>
          <p:cNvPr id="23" name="Shape 19"/>
          <p:cNvSpPr/>
          <p:nvPr/>
        </p:nvSpPr>
        <p:spPr>
          <a:xfrm>
            <a:off x="6492240" y="4206240"/>
            <a:ext cx="4846320" cy="1417320"/>
          </a:xfrm>
          <a:prstGeom prst="roundRect">
            <a:avLst>
              <a:gd name="adj" fmla="val 5161"/>
            </a:avLst>
          </a:prstGeom>
          <a:solidFill>
            <a:schemeClr val="accent3"/>
          </a:solidFill>
          <a:ln/>
        </p:spPr>
      </p:sp>
      <p:sp>
        <p:nvSpPr>
          <p:cNvPr id="24" name="Text 20"/>
          <p:cNvSpPr txBox="1"/>
          <p:nvPr/>
        </p:nvSpPr>
        <p:spPr>
          <a:xfrm>
            <a:off x="6720840" y="4315968"/>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mj-lt" pitchFamily="34" charset="0"/>
                <a:ea typeface="+mj-lt" pitchFamily="34" charset="-122"/>
                <a:cs typeface="+mj-lt" pitchFamily="34" charset="-120"/>
              </a:rPr>
              <a:t>EKSEMPEL</a:t>
            </a:r>
            <a:endParaRPr lang="en-US" sz="1200" dirty="0"/>
          </a:p>
        </p:txBody>
      </p:sp>
      <p:sp>
        <p:nvSpPr>
          <p:cNvPr id="25" name="Text 21"/>
          <p:cNvSpPr txBox="1"/>
          <p:nvPr/>
        </p:nvSpPr>
        <p:spPr>
          <a:xfrm>
            <a:off x="6720840" y="4590288"/>
            <a:ext cx="4480560" cy="548640"/>
          </a:xfrm>
          <a:prstGeom prst="rect">
            <a:avLst/>
          </a:prstGeom>
          <a:noFill/>
          <a:ln/>
        </p:spPr>
        <p:txBody>
          <a:bodyPr wrap="square" lIns="0" tIns="0" rIns="0" bIns="0" rtlCol="0" anchor="t"/>
          <a:lstStyle/>
          <a:p>
            <a:pPr indent="0" marL="0">
              <a:buNone/>
            </a:pPr>
            <a:r>
              <a:rPr lang="en-US" sz="1300" dirty="0">
                <a:solidFill>
                  <a:schemeClr val="tx1"/>
                </a:solidFill>
              </a:rPr>
              <a:t>Aksjen koster 100 kr. Analytikeren mener den er verdt 120 kr (kursmål).</a:t>
            </a:r>
            <a:endParaRPr lang="en-US" sz="1300" dirty="0"/>
          </a:p>
        </p:txBody>
      </p:sp>
      <p:sp>
        <p:nvSpPr>
          <p:cNvPr id="26" name="Text 22"/>
          <p:cNvSpPr txBox="1"/>
          <p:nvPr/>
        </p:nvSpPr>
        <p:spPr>
          <a:xfrm>
            <a:off x="6720840" y="5138928"/>
            <a:ext cx="4480560" cy="365760"/>
          </a:xfrm>
          <a:prstGeom prst="rect">
            <a:avLst/>
          </a:prstGeom>
          <a:noFill/>
          <a:ln/>
        </p:spPr>
        <p:txBody>
          <a:bodyPr wrap="square" lIns="0" tIns="0" rIns="0" bIns="0" rtlCol="0" anchor="t"/>
          <a:lstStyle/>
          <a:p>
            <a:pPr indent="0" marL="0">
              <a:buNone/>
            </a:pPr>
            <a:r>
              <a:rPr lang="en-US" sz="1700" b="1" dirty="0">
                <a:solidFill>
                  <a:schemeClr val="accent1"/>
                </a:solidFill>
                <a:latin typeface="+mj-lt" pitchFamily="34" charset="0"/>
                <a:ea typeface="+mj-lt" pitchFamily="34" charset="-122"/>
                <a:cs typeface="+mj-lt" pitchFamily="34" charset="-120"/>
              </a:rPr>
              <a:t>Oppside 20 %  →  KJØP</a:t>
            </a:r>
            <a:endParaRPr lang="en-US" sz="1700" dirty="0"/>
          </a:p>
        </p:txBody>
      </p:sp>
      <p:sp>
        <p:nvSpPr>
          <p:cNvPr id="27" name="Text 23"/>
          <p:cNvSpPr txBox="1"/>
          <p:nvPr/>
        </p:nvSpPr>
        <p:spPr>
          <a:xfrm>
            <a:off x="548640" y="5989320"/>
            <a:ext cx="10241280" cy="320040"/>
          </a:xfrm>
          <a:prstGeom prst="rect">
            <a:avLst/>
          </a:prstGeom>
          <a:noFill/>
          <a:ln/>
        </p:spPr>
        <p:txBody>
          <a:bodyPr wrap="square" lIns="0" tIns="0" rIns="0" bIns="0" rtlCol="0" anchor="t"/>
          <a:lstStyle/>
          <a:p>
            <a:pPr indent="0" marL="0">
              <a:buNone/>
            </a:pPr>
            <a:r>
              <a:rPr lang="en-US" sz="1400" i="1" dirty="0">
                <a:solidFill>
                  <a:schemeClr val="accent1"/>
                </a:solidFill>
              </a:rPr>
              <a:t>Felles for begge: de verdsetter selskaper hver dag →</a:t>
            </a:r>
            <a:endParaRPr lang="en-US" sz="1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Foto" descr="/tmp/claude-0/-home-user-B-RS/bc29adb1-953f-55c2-bb90-b9f7aff29f66/scratchpad/assets/comps.jpg">    </p:cNvPr>
          <p:cNvPicPr>
            <a:picLocks noChangeAspect="1"/>
          </p:cNvPicPr>
          <p:nvPr/>
        </p:nvPicPr>
        <p:blipFill>
          <a:blip r:embed="rId1"/>
          <a:srcRect l="0" r="0" t="0" b="0"/>
          <a:stretch/>
        </p:blipFill>
        <p:spPr>
          <a:xfrm>
            <a:off x="6675120" y="0"/>
            <a:ext cx="5516575" cy="6858000"/>
          </a:xfrm>
          <a:prstGeom prst="rect">
            <a:avLst/>
          </a:prstGeom>
        </p:spPr>
      </p:pic>
      <p:sp>
        <p:nvSpPr>
          <p:cNvPr id="3" name="Diagonal"/>
          <p:cNvSpPr/>
          <p:nvPr/>
        </p:nvSpPr>
        <p:spPr>
          <a:xfrm flipV="1">
            <a:off x="6665976" y="-9144"/>
            <a:ext cx="2743200" cy="6876288"/>
          </a:xfrm>
          <a:prstGeom prst="rtTriangle">
            <a:avLst/>
          </a:prstGeom>
          <a:solidFill>
            <a:schemeClr val="bg1"/>
          </a:solidFill>
          <a:ln/>
        </p:spPr>
      </p:sp>
      <p:sp>
        <p:nvSpPr>
          <p:cNvPr id="4" name="Gul linje"/>
          <p:cNvSpPr/>
          <p:nvPr/>
        </p:nvSpPr>
        <p:spPr>
          <a:xfrm flipH="1">
            <a:off x="6675120" y="0"/>
            <a:ext cx="2743200" cy="6858000"/>
          </a:xfrm>
          <a:prstGeom prst="line">
            <a:avLst/>
          </a:prstGeom>
          <a:noFill/>
          <a:ln w="38100">
            <a:solidFill>
              <a:schemeClr val="accent1"/>
            </a:solidFill>
            <a:prstDash val="solid"/>
          </a:ln>
        </p:spPr>
      </p:sp>
      <p:sp>
        <p:nvSpPr>
          <p:cNvPr id="5" name="Text 0"/>
          <p:cNvSpPr/>
          <p:nvPr>
            <p:ph idx="101" type="body" hasCustomPrompt="1"/>
          </p:nvPr>
        </p:nvSpPr>
        <p:spPr>
          <a:xfrm>
            <a:off x="548640" y="1783080"/>
            <a:ext cx="5486400" cy="411480"/>
          </a:xfrm>
          <a:prstGeom prst="rect">
            <a:avLst/>
          </a:prstGeom>
          <a:noFill/>
          <a:ln/>
        </p:spPr>
        <p:txBody>
          <a:bodyPr wrap="square" lIns="0" tIns="0" rIns="0" bIns="0" rtlCol="0"/>
          <a:lstStyle/>
          <a:p>
            <a:pPr algn="l" indent="0" marL="0">
              <a:buNone/>
            </a:pPr>
            <a:r>
              <a:rPr lang="en-US" sz="1600" b="1" spc="600" kern="0" dirty="0">
                <a:solidFill>
                  <a:schemeClr val="accent1"/>
                </a:solidFill>
                <a:latin typeface="+mj-lt" pitchFamily="34" charset="0"/>
                <a:ea typeface="+mj-lt" pitchFamily="34" charset="-122"/>
                <a:cs typeface="+mj-lt" pitchFamily="34" charset="-120"/>
              </a:rPr>
              <a:t>DEL 4</a:t>
            </a:r>
            <a:endParaRPr lang="en-US" sz="1600" dirty="0"/>
          </a:p>
        </p:txBody>
      </p:sp>
      <p:sp>
        <p:nvSpPr>
          <p:cNvPr id="6" name="Text 0"/>
          <p:cNvSpPr/>
          <p:nvPr>
            <p:ph idx="102" type="title" hasCustomPrompt="1"/>
          </p:nvPr>
        </p:nvSpPr>
        <p:spPr>
          <a:xfrm>
            <a:off x="548640" y="2286000"/>
            <a:ext cx="5760720" cy="1508760"/>
          </a:xfrm>
          <a:prstGeom prst="rect">
            <a:avLst/>
          </a:prstGeom>
          <a:noFill/>
          <a:ln/>
        </p:spPr>
        <p:txBody>
          <a:bodyPr wrap="square" lIns="0" tIns="0" rIns="0" bIns="0" rtlCol="0" anchor="t"/>
          <a:lstStyle/>
          <a:p>
            <a:pPr algn="l" indent="0" marL="0">
              <a:buNone/>
            </a:pPr>
            <a:r>
              <a:rPr lang="en-US" sz="4400" b="1" dirty="0">
                <a:solidFill>
                  <a:schemeClr val="tx1"/>
                </a:solidFill>
                <a:latin typeface="+mj-lt" pitchFamily="34" charset="0"/>
                <a:ea typeface="+mj-lt" pitchFamily="34" charset="-122"/>
                <a:cs typeface="+mj-lt" pitchFamily="34" charset="-120"/>
              </a:rPr>
              <a:t>VERDSETTELSE</a:t>
            </a:r>
            <a:endParaRPr lang="en-US" sz="4400" dirty="0"/>
          </a:p>
        </p:txBody>
      </p:sp>
      <p:sp>
        <p:nvSpPr>
          <p:cNvPr id="7" name="Text 0"/>
          <p:cNvSpPr/>
          <p:nvPr>
            <p:ph idx="103" type="body" hasCustomPrompt="1"/>
          </p:nvPr>
        </p:nvSpPr>
        <p:spPr>
          <a:xfrm>
            <a:off x="548640" y="3931920"/>
            <a:ext cx="5303520" cy="822960"/>
          </a:xfrm>
          <a:prstGeom prst="rect">
            <a:avLst/>
          </a:prstGeom>
          <a:noFill/>
          <a:ln/>
        </p:spPr>
        <p:txBody>
          <a:bodyPr wrap="square" lIns="0" tIns="0" rIns="0" bIns="0" rtlCol="0" anchor="t"/>
          <a:lstStyle/>
          <a:p>
            <a:pPr indent="0" marL="0">
              <a:buNone/>
            </a:pPr>
            <a:r>
              <a:rPr lang="en-US" sz="1800" dirty="0">
                <a:solidFill>
                  <a:schemeClr val="tx2"/>
                </a:solidFill>
              </a:rPr>
              <a:t>Hva er et selskap verdt – og hvorfor bryr bankene seg?</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HVORFOR VERDSETTE?</a:t>
            </a:r>
            <a:endParaRPr lang="en-US" sz="3200" dirty="0"/>
          </a:p>
        </p:txBody>
      </p:sp>
      <p:sp>
        <p:nvSpPr>
          <p:cNvPr id="3" name="Text 1"/>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700" dirty="0">
                <a:solidFill>
                  <a:schemeClr val="tx2"/>
                </a:solidFill>
              </a:rPr>
              <a:t>«Pris er det du betaler, verdi er det du får.» Bankene må vite hva et selskap er verdt før de kan gi råd.</a:t>
            </a:r>
            <a:endParaRPr lang="en-US" sz="1700" dirty="0"/>
          </a:p>
        </p:txBody>
      </p:sp>
      <p:sp>
        <p:nvSpPr>
          <p:cNvPr id="4" name="Shape 2"/>
          <p:cNvSpPr/>
          <p:nvPr/>
        </p:nvSpPr>
        <p:spPr>
          <a:xfrm>
            <a:off x="548640" y="1920240"/>
            <a:ext cx="3063240" cy="1828800"/>
          </a:xfrm>
          <a:prstGeom prst="roundRect">
            <a:avLst>
              <a:gd name="adj" fmla="val 4000"/>
            </a:avLst>
          </a:prstGeom>
          <a:solidFill>
            <a:schemeClr val="bg2"/>
          </a:solidFill>
          <a:ln/>
        </p:spPr>
      </p:sp>
      <p:pic>
        <p:nvPicPr>
          <p:cNvPr id="5" name="Image 0" descr="preencoded.png">    </p:cNvPr>
          <p:cNvPicPr>
            <a:picLocks noChangeAspect="1"/>
          </p:cNvPicPr>
          <p:nvPr/>
        </p:nvPicPr>
        <p:blipFill>
          <a:blip r:embed="rId1"/>
          <a:stretch>
            <a:fillRect/>
          </a:stretch>
        </p:blipFill>
        <p:spPr>
          <a:xfrm>
            <a:off x="822960" y="2194560"/>
            <a:ext cx="411480" cy="411480"/>
          </a:xfrm>
          <a:prstGeom prst="rect">
            <a:avLst/>
          </a:prstGeom>
        </p:spPr>
      </p:pic>
      <p:sp>
        <p:nvSpPr>
          <p:cNvPr id="6" name="Text 3"/>
          <p:cNvSpPr txBox="1"/>
          <p:nvPr/>
        </p:nvSpPr>
        <p:spPr>
          <a:xfrm>
            <a:off x="822960" y="2743200"/>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IPO</a:t>
            </a:r>
            <a:endParaRPr lang="en-US" sz="1800" dirty="0"/>
          </a:p>
        </p:txBody>
      </p:sp>
      <p:sp>
        <p:nvSpPr>
          <p:cNvPr id="7" name="Text 4"/>
          <p:cNvSpPr txBox="1"/>
          <p:nvPr/>
        </p:nvSpPr>
        <p:spPr>
          <a:xfrm>
            <a:off x="822960" y="3108960"/>
            <a:ext cx="2606040" cy="548640"/>
          </a:xfrm>
          <a:prstGeom prst="rect">
            <a:avLst/>
          </a:prstGeom>
          <a:noFill/>
          <a:ln/>
        </p:spPr>
        <p:txBody>
          <a:bodyPr wrap="square" lIns="0" tIns="0" rIns="0" bIns="0" rtlCol="0" anchor="t"/>
          <a:lstStyle/>
          <a:p>
            <a:pPr indent="0" marL="0">
              <a:buNone/>
            </a:pPr>
            <a:r>
              <a:rPr lang="en-US" sz="1300" dirty="0">
                <a:solidFill>
                  <a:schemeClr val="tx2"/>
                </a:solidFill>
              </a:rPr>
              <a:t>Hvilken pris skal aksjene selges til?</a:t>
            </a:r>
            <a:endParaRPr lang="en-US" sz="1300" dirty="0"/>
          </a:p>
        </p:txBody>
      </p:sp>
      <p:sp>
        <p:nvSpPr>
          <p:cNvPr id="8" name="Shape 5"/>
          <p:cNvSpPr/>
          <p:nvPr/>
        </p:nvSpPr>
        <p:spPr>
          <a:xfrm>
            <a:off x="3794760" y="1920240"/>
            <a:ext cx="3063240" cy="1828800"/>
          </a:xfrm>
          <a:prstGeom prst="roundRect">
            <a:avLst>
              <a:gd name="adj" fmla="val 4000"/>
            </a:avLst>
          </a:prstGeom>
          <a:solidFill>
            <a:schemeClr val="bg2"/>
          </a:solidFill>
          <a:ln/>
        </p:spPr>
      </p:sp>
      <p:pic>
        <p:nvPicPr>
          <p:cNvPr id="9" name="Image 1" descr="preencoded.png">    </p:cNvPr>
          <p:cNvPicPr>
            <a:picLocks noChangeAspect="1"/>
          </p:cNvPicPr>
          <p:nvPr/>
        </p:nvPicPr>
        <p:blipFill>
          <a:blip r:embed="rId2"/>
          <a:stretch>
            <a:fillRect/>
          </a:stretch>
        </p:blipFill>
        <p:spPr>
          <a:xfrm>
            <a:off x="4069080" y="2194560"/>
            <a:ext cx="411480" cy="411480"/>
          </a:xfrm>
          <a:prstGeom prst="rect">
            <a:avLst/>
          </a:prstGeom>
        </p:spPr>
      </p:pic>
      <p:sp>
        <p:nvSpPr>
          <p:cNvPr id="10" name="Text 6"/>
          <p:cNvSpPr txBox="1"/>
          <p:nvPr/>
        </p:nvSpPr>
        <p:spPr>
          <a:xfrm>
            <a:off x="4069080" y="2743200"/>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M&amp;A</a:t>
            </a:r>
            <a:endParaRPr lang="en-US" sz="1800" dirty="0"/>
          </a:p>
        </p:txBody>
      </p:sp>
      <p:sp>
        <p:nvSpPr>
          <p:cNvPr id="11" name="Text 7"/>
          <p:cNvSpPr txBox="1"/>
          <p:nvPr/>
        </p:nvSpPr>
        <p:spPr>
          <a:xfrm>
            <a:off x="4069080" y="3108960"/>
            <a:ext cx="2606040" cy="548640"/>
          </a:xfrm>
          <a:prstGeom prst="rect">
            <a:avLst/>
          </a:prstGeom>
          <a:noFill/>
          <a:ln/>
        </p:spPr>
        <p:txBody>
          <a:bodyPr wrap="square" lIns="0" tIns="0" rIns="0" bIns="0" rtlCol="0" anchor="t"/>
          <a:lstStyle/>
          <a:p>
            <a:pPr indent="0" marL="0">
              <a:buNone/>
            </a:pPr>
            <a:r>
              <a:rPr lang="en-US" sz="1300" dirty="0">
                <a:solidFill>
                  <a:schemeClr val="tx2"/>
                </a:solidFill>
              </a:rPr>
              <a:t>Hvor mye bør kjøperen by?</a:t>
            </a:r>
            <a:endParaRPr lang="en-US" sz="1300" dirty="0"/>
          </a:p>
        </p:txBody>
      </p:sp>
      <p:sp>
        <p:nvSpPr>
          <p:cNvPr id="12" name="Shape 8"/>
          <p:cNvSpPr/>
          <p:nvPr/>
        </p:nvSpPr>
        <p:spPr>
          <a:xfrm>
            <a:off x="548640" y="3931920"/>
            <a:ext cx="3063240" cy="1828800"/>
          </a:xfrm>
          <a:prstGeom prst="roundRect">
            <a:avLst>
              <a:gd name="adj" fmla="val 4000"/>
            </a:avLst>
          </a:prstGeom>
          <a:solidFill>
            <a:schemeClr val="bg2"/>
          </a:solidFill>
          <a:ln/>
        </p:spPr>
      </p:sp>
      <p:pic>
        <p:nvPicPr>
          <p:cNvPr id="13" name="Image 2" descr="preencoded.png">    </p:cNvPr>
          <p:cNvPicPr>
            <a:picLocks noChangeAspect="1"/>
          </p:cNvPicPr>
          <p:nvPr/>
        </p:nvPicPr>
        <p:blipFill>
          <a:blip r:embed="rId3"/>
          <a:stretch>
            <a:fillRect/>
          </a:stretch>
        </p:blipFill>
        <p:spPr>
          <a:xfrm>
            <a:off x="822960" y="4206240"/>
            <a:ext cx="411480" cy="411480"/>
          </a:xfrm>
          <a:prstGeom prst="rect">
            <a:avLst/>
          </a:prstGeom>
        </p:spPr>
      </p:pic>
      <p:sp>
        <p:nvSpPr>
          <p:cNvPr id="14" name="Text 9"/>
          <p:cNvSpPr txBox="1"/>
          <p:nvPr/>
        </p:nvSpPr>
        <p:spPr>
          <a:xfrm>
            <a:off x="822960" y="4754880"/>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RESEARCH</a:t>
            </a:r>
            <a:endParaRPr lang="en-US" sz="1800" dirty="0"/>
          </a:p>
        </p:txBody>
      </p:sp>
      <p:sp>
        <p:nvSpPr>
          <p:cNvPr id="15" name="Text 10"/>
          <p:cNvSpPr txBox="1"/>
          <p:nvPr/>
        </p:nvSpPr>
        <p:spPr>
          <a:xfrm>
            <a:off x="822960" y="5120640"/>
            <a:ext cx="2606040" cy="548640"/>
          </a:xfrm>
          <a:prstGeom prst="rect">
            <a:avLst/>
          </a:prstGeom>
          <a:noFill/>
          <a:ln/>
        </p:spPr>
        <p:txBody>
          <a:bodyPr wrap="square" lIns="0" tIns="0" rIns="0" bIns="0" rtlCol="0" anchor="t"/>
          <a:lstStyle/>
          <a:p>
            <a:pPr indent="0" marL="0">
              <a:buNone/>
            </a:pPr>
            <a:r>
              <a:rPr lang="en-US" sz="1300" dirty="0">
                <a:solidFill>
                  <a:schemeClr val="tx2"/>
                </a:solidFill>
              </a:rPr>
              <a:t>Er aksjen billig eller dyr? Hva er kursmålet?</a:t>
            </a:r>
            <a:endParaRPr lang="en-US" sz="1300" dirty="0"/>
          </a:p>
        </p:txBody>
      </p:sp>
      <p:sp>
        <p:nvSpPr>
          <p:cNvPr id="16" name="Shape 11"/>
          <p:cNvSpPr/>
          <p:nvPr/>
        </p:nvSpPr>
        <p:spPr>
          <a:xfrm>
            <a:off x="3794760" y="3931920"/>
            <a:ext cx="3063240" cy="1828800"/>
          </a:xfrm>
          <a:prstGeom prst="roundRect">
            <a:avLst>
              <a:gd name="adj" fmla="val 4000"/>
            </a:avLst>
          </a:prstGeom>
          <a:solidFill>
            <a:schemeClr val="bg2"/>
          </a:solidFill>
          <a:ln/>
        </p:spPr>
      </p:sp>
      <p:pic>
        <p:nvPicPr>
          <p:cNvPr id="17" name="Image 3" descr="preencoded.png">    </p:cNvPr>
          <p:cNvPicPr>
            <a:picLocks noChangeAspect="1"/>
          </p:cNvPicPr>
          <p:nvPr/>
        </p:nvPicPr>
        <p:blipFill>
          <a:blip r:embed="rId4"/>
          <a:stretch>
            <a:fillRect/>
          </a:stretch>
        </p:blipFill>
        <p:spPr>
          <a:xfrm>
            <a:off x="4069080" y="4206240"/>
            <a:ext cx="411480" cy="411480"/>
          </a:xfrm>
          <a:prstGeom prst="rect">
            <a:avLst/>
          </a:prstGeom>
        </p:spPr>
      </p:pic>
      <p:sp>
        <p:nvSpPr>
          <p:cNvPr id="18" name="Text 12"/>
          <p:cNvSpPr txBox="1"/>
          <p:nvPr/>
        </p:nvSpPr>
        <p:spPr>
          <a:xfrm>
            <a:off x="4069080" y="4754880"/>
            <a:ext cx="256032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PE OG VC</a:t>
            </a:r>
            <a:endParaRPr lang="en-US" sz="1800" dirty="0"/>
          </a:p>
        </p:txBody>
      </p:sp>
      <p:sp>
        <p:nvSpPr>
          <p:cNvPr id="19" name="Text 13"/>
          <p:cNvSpPr txBox="1"/>
          <p:nvPr/>
        </p:nvSpPr>
        <p:spPr>
          <a:xfrm>
            <a:off x="4069080" y="5120640"/>
            <a:ext cx="2606040" cy="548640"/>
          </a:xfrm>
          <a:prstGeom prst="rect">
            <a:avLst/>
          </a:prstGeom>
          <a:noFill/>
          <a:ln/>
        </p:spPr>
        <p:txBody>
          <a:bodyPr wrap="square" lIns="0" tIns="0" rIns="0" bIns="0" rtlCol="0" anchor="t"/>
          <a:lstStyle/>
          <a:p>
            <a:pPr indent="0" marL="0">
              <a:buNone/>
            </a:pPr>
            <a:r>
              <a:rPr lang="en-US" sz="1300" dirty="0">
                <a:solidFill>
                  <a:schemeClr val="tx2"/>
                </a:solidFill>
              </a:rPr>
              <a:t>Hva kan vi betale og fortsatt tjene penger?</a:t>
            </a:r>
            <a:endParaRPr lang="en-US" sz="1300" dirty="0"/>
          </a:p>
        </p:txBody>
      </p:sp>
      <p:sp>
        <p:nvSpPr>
          <p:cNvPr id="20" name="Text 14"/>
          <p:cNvSpPr txBox="1"/>
          <p:nvPr/>
        </p:nvSpPr>
        <p:spPr>
          <a:xfrm>
            <a:off x="7315200" y="1920240"/>
            <a:ext cx="4297680" cy="365760"/>
          </a:xfrm>
          <a:prstGeom prst="rect">
            <a:avLst/>
          </a:prstGeom>
          <a:noFill/>
          <a:ln/>
        </p:spPr>
        <p:txBody>
          <a:bodyPr wrap="square" lIns="0" tIns="0" rIns="0" bIns="0" rtlCol="0" anchor="t"/>
          <a:lstStyle/>
          <a:p>
            <a:pPr indent="0" marL="0">
              <a:buNone/>
            </a:pPr>
            <a:r>
              <a:rPr lang="en-US" sz="1500" b="1" spc="200" kern="0" dirty="0">
                <a:solidFill>
                  <a:schemeClr val="accent1"/>
                </a:solidFill>
                <a:latin typeface="+mj-lt" pitchFamily="34" charset="0"/>
                <a:ea typeface="+mj-lt" pitchFamily="34" charset="-122"/>
                <a:cs typeface="+mj-lt" pitchFamily="34" charset="-120"/>
              </a:rPr>
              <a:t>TO HOVEDMETODER</a:t>
            </a:r>
            <a:endParaRPr lang="en-US" sz="1500" dirty="0"/>
          </a:p>
        </p:txBody>
      </p:sp>
      <p:sp>
        <p:nvSpPr>
          <p:cNvPr id="21" name="Shape 15"/>
          <p:cNvSpPr/>
          <p:nvPr/>
        </p:nvSpPr>
        <p:spPr>
          <a:xfrm>
            <a:off x="7315200" y="2423160"/>
            <a:ext cx="4297680" cy="1508760"/>
          </a:xfrm>
          <a:prstGeom prst="roundRect">
            <a:avLst>
              <a:gd name="adj" fmla="val 4848"/>
            </a:avLst>
          </a:prstGeom>
          <a:solidFill>
            <a:schemeClr val="accent3"/>
          </a:solidFill>
          <a:ln/>
        </p:spPr>
      </p:sp>
      <p:sp>
        <p:nvSpPr>
          <p:cNvPr id="22" name="Text 16"/>
          <p:cNvSpPr txBox="1"/>
          <p:nvPr/>
        </p:nvSpPr>
        <p:spPr>
          <a:xfrm>
            <a:off x="7589520" y="2606040"/>
            <a:ext cx="384048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RELATIV: MULTIPLER</a:t>
            </a:r>
            <a:endParaRPr lang="en-US" sz="1700" dirty="0"/>
          </a:p>
        </p:txBody>
      </p:sp>
      <p:sp>
        <p:nvSpPr>
          <p:cNvPr id="23" name="Text 17"/>
          <p:cNvSpPr txBox="1"/>
          <p:nvPr/>
        </p:nvSpPr>
        <p:spPr>
          <a:xfrm>
            <a:off x="7589520" y="3017520"/>
            <a:ext cx="3840480" cy="822960"/>
          </a:xfrm>
          <a:prstGeom prst="rect">
            <a:avLst/>
          </a:prstGeom>
          <a:noFill/>
          <a:ln/>
        </p:spPr>
        <p:txBody>
          <a:bodyPr wrap="square" lIns="0" tIns="0" rIns="0" bIns="0" rtlCol="0" anchor="t"/>
          <a:lstStyle/>
          <a:p>
            <a:pPr indent="0" marL="0">
              <a:buNone/>
            </a:pPr>
            <a:r>
              <a:rPr lang="en-US" sz="1300" dirty="0">
                <a:solidFill>
                  <a:schemeClr val="tx2"/>
                </a:solidFill>
              </a:rPr>
              <a:t>Sammenlign med lignende selskaper – som kvadratmeterpris på leiligheter.</a:t>
            </a:r>
            <a:endParaRPr lang="en-US" sz="1300" dirty="0"/>
          </a:p>
        </p:txBody>
      </p:sp>
      <p:sp>
        <p:nvSpPr>
          <p:cNvPr id="24" name="Shape 18"/>
          <p:cNvSpPr/>
          <p:nvPr/>
        </p:nvSpPr>
        <p:spPr>
          <a:xfrm>
            <a:off x="7315200" y="4114800"/>
            <a:ext cx="4297680" cy="1508760"/>
          </a:xfrm>
          <a:prstGeom prst="roundRect">
            <a:avLst>
              <a:gd name="adj" fmla="val 4848"/>
            </a:avLst>
          </a:prstGeom>
          <a:solidFill>
            <a:schemeClr val="accent3"/>
          </a:solidFill>
          <a:ln/>
        </p:spPr>
      </p:sp>
      <p:sp>
        <p:nvSpPr>
          <p:cNvPr id="25" name="Text 19"/>
          <p:cNvSpPr txBox="1"/>
          <p:nvPr/>
        </p:nvSpPr>
        <p:spPr>
          <a:xfrm>
            <a:off x="7589520" y="4297680"/>
            <a:ext cx="384048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ABSOLUTT: DCF</a:t>
            </a:r>
            <a:endParaRPr lang="en-US" sz="1700" dirty="0"/>
          </a:p>
        </p:txBody>
      </p:sp>
      <p:sp>
        <p:nvSpPr>
          <p:cNvPr id="26" name="Text 20"/>
          <p:cNvSpPr txBox="1"/>
          <p:nvPr/>
        </p:nvSpPr>
        <p:spPr>
          <a:xfrm>
            <a:off x="7589520" y="4709160"/>
            <a:ext cx="3840480" cy="822960"/>
          </a:xfrm>
          <a:prstGeom prst="rect">
            <a:avLst/>
          </a:prstGeom>
          <a:noFill/>
          <a:ln/>
        </p:spPr>
        <p:txBody>
          <a:bodyPr wrap="square" lIns="0" tIns="0" rIns="0" bIns="0" rtlCol="0" anchor="t"/>
          <a:lstStyle/>
          <a:p>
            <a:pPr indent="0" marL="0">
              <a:buNone/>
            </a:pPr>
            <a:r>
              <a:rPr lang="en-US" sz="1300" dirty="0">
                <a:solidFill>
                  <a:schemeClr val="tx2"/>
                </a:solidFill>
              </a:rPr>
              <a:t>Regn ut hva pengene selskapet skal tjene i fremtiden er verdt i dag.</a:t>
            </a:r>
            <a:endParaRPr lang="en-US" sz="13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MULTIPLER: SAMMENLIGN MED ANDRE</a:t>
            </a:r>
            <a:endParaRPr lang="en-US" sz="3200" dirty="0"/>
          </a:p>
        </p:txBody>
      </p:sp>
      <p:sp>
        <p:nvSpPr>
          <p:cNvPr id="3" name="Shape 1"/>
          <p:cNvSpPr/>
          <p:nvPr/>
        </p:nvSpPr>
        <p:spPr>
          <a:xfrm>
            <a:off x="548640" y="1371600"/>
            <a:ext cx="5120640" cy="1417320"/>
          </a:xfrm>
          <a:prstGeom prst="roundRect">
            <a:avLst>
              <a:gd name="adj" fmla="val 5161"/>
            </a:avLst>
          </a:prstGeom>
          <a:solidFill>
            <a:schemeClr val="accent3"/>
          </a:solidFill>
          <a:ln/>
        </p:spPr>
      </p:sp>
      <p:pic>
        <p:nvPicPr>
          <p:cNvPr id="4" name="Image 0" descr="preencoded.png">    </p:cNvPr>
          <p:cNvPicPr>
            <a:picLocks noChangeAspect="1"/>
          </p:cNvPicPr>
          <p:nvPr/>
        </p:nvPicPr>
        <p:blipFill>
          <a:blip r:embed="rId1"/>
          <a:stretch>
            <a:fillRect/>
          </a:stretch>
        </p:blipFill>
        <p:spPr>
          <a:xfrm>
            <a:off x="822960" y="1572768"/>
            <a:ext cx="384048" cy="384048"/>
          </a:xfrm>
          <a:prstGeom prst="rect">
            <a:avLst/>
          </a:prstGeom>
        </p:spPr>
      </p:pic>
      <p:sp>
        <p:nvSpPr>
          <p:cNvPr id="5" name="Text 2"/>
          <p:cNvSpPr txBox="1"/>
          <p:nvPr/>
        </p:nvSpPr>
        <p:spPr>
          <a:xfrm>
            <a:off x="1371600" y="1572768"/>
            <a:ext cx="2743200" cy="365760"/>
          </a:xfrm>
          <a:prstGeom prst="rect">
            <a:avLst/>
          </a:prstGeom>
          <a:noFill/>
          <a:ln/>
        </p:spPr>
        <p:txBody>
          <a:bodyPr wrap="square" lIns="0" tIns="0" rIns="0" bIns="0" rtlCol="0" anchor="t"/>
          <a:lstStyle/>
          <a:p>
            <a:pPr indent="0" marL="0">
              <a:buNone/>
            </a:pPr>
            <a:r>
              <a:rPr lang="en-US" sz="1400" b="1" spc="200" kern="0" dirty="0">
                <a:solidFill>
                  <a:schemeClr val="accent1"/>
                </a:solidFill>
                <a:latin typeface="+mj-lt" pitchFamily="34" charset="0"/>
                <a:ea typeface="+mj-lt" pitchFamily="34" charset="-122"/>
                <a:cs typeface="+mj-lt" pitchFamily="34" charset="-120"/>
              </a:rPr>
              <a:t>INTUISJON</a:t>
            </a:r>
            <a:endParaRPr lang="en-US" sz="1400" dirty="0"/>
          </a:p>
        </p:txBody>
      </p:sp>
      <p:sp>
        <p:nvSpPr>
          <p:cNvPr id="6" name="Text 3"/>
          <p:cNvSpPr txBox="1"/>
          <p:nvPr/>
        </p:nvSpPr>
        <p:spPr>
          <a:xfrm>
            <a:off x="822960" y="2011680"/>
            <a:ext cx="4572000" cy="731520"/>
          </a:xfrm>
          <a:prstGeom prst="rect">
            <a:avLst/>
          </a:prstGeom>
          <a:noFill/>
          <a:ln/>
        </p:spPr>
        <p:txBody>
          <a:bodyPr wrap="square" lIns="0" tIns="0" rIns="0" bIns="0" rtlCol="0" anchor="t"/>
          <a:lstStyle/>
          <a:p>
            <a:pPr indent="0" marL="0">
              <a:buNone/>
            </a:pPr>
            <a:r>
              <a:rPr lang="en-US" sz="1300" dirty="0">
                <a:solidFill>
                  <a:schemeClr val="tx1"/>
                </a:solidFill>
              </a:rPr>
              <a:t>Leiligheter på Møhlenpris selges for ca. 80 000 kr/kvm. Er din 50 kvm, er den trolig verdt ca. 4 mill. kr.</a:t>
            </a:r>
            <a:endParaRPr lang="en-US" sz="1300" dirty="0"/>
          </a:p>
        </p:txBody>
      </p:sp>
      <p:sp>
        <p:nvSpPr>
          <p:cNvPr id="7" name="Text 4"/>
          <p:cNvSpPr txBox="1"/>
          <p:nvPr/>
        </p:nvSpPr>
        <p:spPr>
          <a:xfrm>
            <a:off x="548640" y="3017520"/>
            <a:ext cx="5120640" cy="320040"/>
          </a:xfrm>
          <a:prstGeom prst="rect">
            <a:avLst/>
          </a:prstGeom>
          <a:noFill/>
          <a:ln/>
        </p:spPr>
        <p:txBody>
          <a:bodyPr wrap="square" lIns="0" tIns="0" rIns="0" bIns="0" rtlCol="0" anchor="t"/>
          <a:lstStyle/>
          <a:p>
            <a:pPr indent="0" marL="0">
              <a:buNone/>
            </a:pPr>
            <a:r>
              <a:rPr lang="en-US" sz="1400" b="1" spc="200" kern="0" dirty="0">
                <a:solidFill>
                  <a:schemeClr val="accent1"/>
                </a:solidFill>
                <a:latin typeface="+mj-lt" pitchFamily="34" charset="0"/>
                <a:ea typeface="+mj-lt" pitchFamily="34" charset="-122"/>
                <a:cs typeface="+mj-lt" pitchFamily="34" charset="-120"/>
              </a:rPr>
              <a:t>DE VANLIGSTE MULTIPLENE</a:t>
            </a:r>
            <a:endParaRPr lang="en-US" sz="1400" dirty="0"/>
          </a:p>
        </p:txBody>
      </p:sp>
      <p:sp>
        <p:nvSpPr>
          <p:cNvPr id="8" name="Text 5"/>
          <p:cNvSpPr txBox="1"/>
          <p:nvPr/>
        </p:nvSpPr>
        <p:spPr>
          <a:xfrm>
            <a:off x="548640" y="3383280"/>
            <a:ext cx="5120640" cy="411480"/>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EV / EBITDA</a:t>
            </a:r>
            <a:endParaRPr lang="en-US" sz="2100" dirty="0"/>
          </a:p>
        </p:txBody>
      </p:sp>
      <p:sp>
        <p:nvSpPr>
          <p:cNvPr id="9" name="Text 6"/>
          <p:cNvSpPr txBox="1"/>
          <p:nvPr/>
        </p:nvSpPr>
        <p:spPr>
          <a:xfrm>
            <a:off x="548640" y="3794760"/>
            <a:ext cx="5120640" cy="502920"/>
          </a:xfrm>
          <a:prstGeom prst="rect">
            <a:avLst/>
          </a:prstGeom>
          <a:noFill/>
          <a:ln/>
        </p:spPr>
        <p:txBody>
          <a:bodyPr wrap="square" lIns="0" tIns="0" rIns="0" bIns="0" rtlCol="0" anchor="t"/>
          <a:lstStyle/>
          <a:p>
            <a:pPr indent="0" marL="0">
              <a:buNone/>
            </a:pPr>
            <a:r>
              <a:rPr lang="en-US" sz="1300" dirty="0">
                <a:solidFill>
                  <a:schemeClr val="tx2"/>
                </a:solidFill>
              </a:rPr>
              <a:t>Verdien av hele selskapet delt på driftsresultat før av- og nedskrivninger</a:t>
            </a:r>
            <a:endParaRPr lang="en-US" sz="1300" dirty="0"/>
          </a:p>
        </p:txBody>
      </p:sp>
      <p:sp>
        <p:nvSpPr>
          <p:cNvPr id="10" name="Text 7"/>
          <p:cNvSpPr txBox="1"/>
          <p:nvPr/>
        </p:nvSpPr>
        <p:spPr>
          <a:xfrm>
            <a:off x="548640" y="4434840"/>
            <a:ext cx="5120640" cy="411480"/>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P / E</a:t>
            </a:r>
            <a:endParaRPr lang="en-US" sz="2100" dirty="0"/>
          </a:p>
        </p:txBody>
      </p:sp>
      <p:sp>
        <p:nvSpPr>
          <p:cNvPr id="11" name="Text 8"/>
          <p:cNvSpPr txBox="1"/>
          <p:nvPr/>
        </p:nvSpPr>
        <p:spPr>
          <a:xfrm>
            <a:off x="548640" y="4846320"/>
            <a:ext cx="5120640" cy="320040"/>
          </a:xfrm>
          <a:prstGeom prst="rect">
            <a:avLst/>
          </a:prstGeom>
          <a:noFill/>
          <a:ln/>
        </p:spPr>
        <p:txBody>
          <a:bodyPr wrap="square" lIns="0" tIns="0" rIns="0" bIns="0" rtlCol="0" anchor="t"/>
          <a:lstStyle/>
          <a:p>
            <a:pPr indent="0" marL="0">
              <a:buNone/>
            </a:pPr>
            <a:r>
              <a:rPr lang="en-US" sz="1300" dirty="0">
                <a:solidFill>
                  <a:schemeClr val="tx2"/>
                </a:solidFill>
              </a:rPr>
              <a:t>Aksjekurs delt på resultat per aksje</a:t>
            </a:r>
            <a:endParaRPr lang="en-US" sz="1300" dirty="0"/>
          </a:p>
        </p:txBody>
      </p:sp>
      <p:sp>
        <p:nvSpPr>
          <p:cNvPr id="12" name="Text 9"/>
          <p:cNvSpPr txBox="1"/>
          <p:nvPr/>
        </p:nvSpPr>
        <p:spPr>
          <a:xfrm>
            <a:off x="548640" y="5440680"/>
            <a:ext cx="5120640" cy="502920"/>
          </a:xfrm>
          <a:prstGeom prst="rect">
            <a:avLst/>
          </a:prstGeom>
          <a:noFill/>
          <a:ln/>
        </p:spPr>
        <p:txBody>
          <a:bodyPr wrap="square" lIns="0" tIns="0" rIns="0" bIns="0" rtlCol="0" anchor="t"/>
          <a:lstStyle/>
          <a:p>
            <a:pPr indent="0" marL="0">
              <a:buNone/>
            </a:pPr>
            <a:r>
              <a:rPr lang="en-US" sz="1200" i="1" dirty="0">
                <a:solidFill>
                  <a:schemeClr val="tx2"/>
                </a:solidFill>
              </a:rPr>
              <a:t>EV (Enterprise Value) = markedsverdi av egenkapitalen + netto gjeld</a:t>
            </a:r>
            <a:endParaRPr lang="en-US" sz="1200" dirty="0"/>
          </a:p>
        </p:txBody>
      </p:sp>
      <p:sp>
        <p:nvSpPr>
          <p:cNvPr id="13" name="Shape 10"/>
          <p:cNvSpPr/>
          <p:nvPr/>
        </p:nvSpPr>
        <p:spPr>
          <a:xfrm>
            <a:off x="6172200" y="1371600"/>
            <a:ext cx="5440680" cy="4572000"/>
          </a:xfrm>
          <a:prstGeom prst="roundRect">
            <a:avLst>
              <a:gd name="adj" fmla="val 1600"/>
            </a:avLst>
          </a:prstGeom>
          <a:solidFill>
            <a:schemeClr val="bg2"/>
          </a:solidFill>
          <a:ln/>
        </p:spPr>
      </p:sp>
      <p:sp>
        <p:nvSpPr>
          <p:cNvPr id="14" name="Text 11"/>
          <p:cNvSpPr txBox="1"/>
          <p:nvPr/>
        </p:nvSpPr>
        <p:spPr>
          <a:xfrm>
            <a:off x="6446520" y="1554480"/>
            <a:ext cx="4572000" cy="365760"/>
          </a:xfrm>
          <a:prstGeom prst="rect">
            <a:avLst/>
          </a:prstGeom>
          <a:noFill/>
          <a:ln/>
        </p:spPr>
        <p:txBody>
          <a:bodyPr wrap="square" lIns="0" tIns="0" rIns="0" bIns="0" rtlCol="0" anchor="t"/>
          <a:lstStyle/>
          <a:p>
            <a:pPr indent="0" marL="0">
              <a:buNone/>
            </a:pPr>
            <a:r>
              <a:rPr lang="en-US" sz="1500" b="1" spc="200" kern="0" dirty="0">
                <a:solidFill>
                  <a:schemeClr val="accent1"/>
                </a:solidFill>
                <a:latin typeface="+mj-lt" pitchFamily="34" charset="0"/>
                <a:ea typeface="+mj-lt" pitchFamily="34" charset="-122"/>
                <a:cs typeface="+mj-lt" pitchFamily="34" charset="-120"/>
              </a:rPr>
              <a:t>REGNEEKSEMPEL</a:t>
            </a:r>
            <a:endParaRPr lang="en-US" sz="1500" dirty="0"/>
          </a:p>
        </p:txBody>
      </p:sp>
      <p:sp>
        <p:nvSpPr>
          <p:cNvPr id="15" name="Text 12"/>
          <p:cNvSpPr txBox="1"/>
          <p:nvPr/>
        </p:nvSpPr>
        <p:spPr>
          <a:xfrm>
            <a:off x="6537960" y="2057400"/>
            <a:ext cx="3108960" cy="475488"/>
          </a:xfrm>
          <a:prstGeom prst="rect">
            <a:avLst/>
          </a:prstGeom>
          <a:noFill/>
          <a:ln/>
        </p:spPr>
        <p:txBody>
          <a:bodyPr wrap="square" lIns="0" tIns="0" rIns="0" bIns="0" rtlCol="0" anchor="ctr"/>
          <a:lstStyle/>
          <a:p>
            <a:pPr indent="0" marL="0">
              <a:buNone/>
            </a:pPr>
            <a:r>
              <a:rPr lang="en-US" sz="1500" dirty="0">
                <a:solidFill>
                  <a:schemeClr val="tx1"/>
                </a:solidFill>
              </a:rPr>
              <a:t>Lignende selskaper prises til</a:t>
            </a:r>
            <a:endParaRPr lang="en-US" sz="1500" dirty="0"/>
          </a:p>
        </p:txBody>
      </p:sp>
      <p:sp>
        <p:nvSpPr>
          <p:cNvPr id="16" name="Text 13"/>
          <p:cNvSpPr txBox="1"/>
          <p:nvPr/>
        </p:nvSpPr>
        <p:spPr>
          <a:xfrm>
            <a:off x="9418320" y="2057400"/>
            <a:ext cx="1828800" cy="475488"/>
          </a:xfrm>
          <a:prstGeom prst="rect">
            <a:avLst/>
          </a:prstGeom>
          <a:noFill/>
          <a:ln/>
        </p:spPr>
        <p:txBody>
          <a:bodyPr wrap="square" lIns="0" tIns="0" rIns="0" bIns="0" rtlCol="0" anchor="ctr"/>
          <a:lstStyle/>
          <a:p>
            <a:pPr algn="r" indent="0" marL="0">
              <a:buNone/>
            </a:pPr>
            <a:r>
              <a:rPr lang="en-US" sz="1700" b="1" dirty="0">
                <a:solidFill>
                  <a:schemeClr val="accent1"/>
                </a:solidFill>
                <a:latin typeface="+mj-lt" pitchFamily="34" charset="0"/>
                <a:ea typeface="+mj-lt" pitchFamily="34" charset="-122"/>
                <a:cs typeface="+mj-lt" pitchFamily="34" charset="-120"/>
              </a:rPr>
              <a:t>8x EBITDA</a:t>
            </a:r>
            <a:endParaRPr lang="en-US" sz="1700" dirty="0"/>
          </a:p>
        </p:txBody>
      </p:sp>
      <p:sp>
        <p:nvSpPr>
          <p:cNvPr id="17" name="Shape 14"/>
          <p:cNvSpPr/>
          <p:nvPr/>
        </p:nvSpPr>
        <p:spPr>
          <a:xfrm>
            <a:off x="6537960" y="2606040"/>
            <a:ext cx="4709160" cy="0"/>
          </a:xfrm>
          <a:prstGeom prst="line">
            <a:avLst/>
          </a:prstGeom>
          <a:noFill/>
          <a:ln w="12700">
            <a:solidFill>
              <a:schemeClr val="accent3"/>
            </a:solidFill>
            <a:prstDash val="solid"/>
          </a:ln>
        </p:spPr>
      </p:sp>
      <p:sp>
        <p:nvSpPr>
          <p:cNvPr id="18" name="Text 15"/>
          <p:cNvSpPr txBox="1"/>
          <p:nvPr/>
        </p:nvSpPr>
        <p:spPr>
          <a:xfrm>
            <a:off x="6537960" y="2679192"/>
            <a:ext cx="3108960" cy="475488"/>
          </a:xfrm>
          <a:prstGeom prst="rect">
            <a:avLst/>
          </a:prstGeom>
          <a:noFill/>
          <a:ln/>
        </p:spPr>
        <p:txBody>
          <a:bodyPr wrap="square" lIns="0" tIns="0" rIns="0" bIns="0" rtlCol="0" anchor="ctr"/>
          <a:lstStyle/>
          <a:p>
            <a:pPr indent="0" marL="0">
              <a:buNone/>
            </a:pPr>
            <a:r>
              <a:rPr lang="en-US" sz="1500" dirty="0">
                <a:solidFill>
                  <a:schemeClr val="tx1"/>
                </a:solidFill>
              </a:rPr>
              <a:t>Vårt selskaps EBITDA</a:t>
            </a:r>
            <a:endParaRPr lang="en-US" sz="1500" dirty="0"/>
          </a:p>
        </p:txBody>
      </p:sp>
      <p:sp>
        <p:nvSpPr>
          <p:cNvPr id="19" name="Text 16"/>
          <p:cNvSpPr txBox="1"/>
          <p:nvPr/>
        </p:nvSpPr>
        <p:spPr>
          <a:xfrm>
            <a:off x="9418320" y="2679192"/>
            <a:ext cx="1828800" cy="475488"/>
          </a:xfrm>
          <a:prstGeom prst="rect">
            <a:avLst/>
          </a:prstGeom>
          <a:noFill/>
          <a:ln/>
        </p:spPr>
        <p:txBody>
          <a:bodyPr wrap="square" lIns="0" tIns="0" rIns="0" bIns="0" rtlCol="0" anchor="ctr"/>
          <a:lstStyle/>
          <a:p>
            <a:pPr algn="r" indent="0" marL="0">
              <a:buNone/>
            </a:pPr>
            <a:r>
              <a:rPr lang="en-US" sz="1700" b="1" dirty="0">
                <a:solidFill>
                  <a:schemeClr val="accent1"/>
                </a:solidFill>
                <a:latin typeface="+mj-lt" pitchFamily="34" charset="0"/>
                <a:ea typeface="+mj-lt" pitchFamily="34" charset="-122"/>
                <a:cs typeface="+mj-lt" pitchFamily="34" charset="-120"/>
              </a:rPr>
              <a:t>50 MNOK</a:t>
            </a:r>
            <a:endParaRPr lang="en-US" sz="1700" dirty="0"/>
          </a:p>
        </p:txBody>
      </p:sp>
      <p:sp>
        <p:nvSpPr>
          <p:cNvPr id="20" name="Shape 17"/>
          <p:cNvSpPr/>
          <p:nvPr/>
        </p:nvSpPr>
        <p:spPr>
          <a:xfrm>
            <a:off x="6537960" y="3227832"/>
            <a:ext cx="4709160" cy="0"/>
          </a:xfrm>
          <a:prstGeom prst="line">
            <a:avLst/>
          </a:prstGeom>
          <a:noFill/>
          <a:ln w="12700">
            <a:solidFill>
              <a:schemeClr val="accent3"/>
            </a:solidFill>
            <a:prstDash val="solid"/>
          </a:ln>
        </p:spPr>
      </p:sp>
      <p:sp>
        <p:nvSpPr>
          <p:cNvPr id="21" name="Text 18"/>
          <p:cNvSpPr txBox="1"/>
          <p:nvPr/>
        </p:nvSpPr>
        <p:spPr>
          <a:xfrm>
            <a:off x="6537960" y="3300984"/>
            <a:ext cx="3108960" cy="475488"/>
          </a:xfrm>
          <a:prstGeom prst="rect">
            <a:avLst/>
          </a:prstGeom>
          <a:noFill/>
          <a:ln/>
        </p:spPr>
        <p:txBody>
          <a:bodyPr wrap="square" lIns="0" tIns="0" rIns="0" bIns="0" rtlCol="0" anchor="ctr"/>
          <a:lstStyle/>
          <a:p>
            <a:pPr indent="0" marL="0">
              <a:buNone/>
            </a:pPr>
            <a:r>
              <a:rPr lang="en-US" sz="1500" dirty="0">
                <a:solidFill>
                  <a:schemeClr val="tx1"/>
                </a:solidFill>
              </a:rPr>
              <a:t>EV = 8 × 50</a:t>
            </a:r>
            <a:endParaRPr lang="en-US" sz="1500" dirty="0"/>
          </a:p>
        </p:txBody>
      </p:sp>
      <p:sp>
        <p:nvSpPr>
          <p:cNvPr id="22" name="Text 19"/>
          <p:cNvSpPr txBox="1"/>
          <p:nvPr/>
        </p:nvSpPr>
        <p:spPr>
          <a:xfrm>
            <a:off x="9418320" y="3300984"/>
            <a:ext cx="1828800" cy="475488"/>
          </a:xfrm>
          <a:prstGeom prst="rect">
            <a:avLst/>
          </a:prstGeom>
          <a:noFill/>
          <a:ln/>
        </p:spPr>
        <p:txBody>
          <a:bodyPr wrap="square" lIns="0" tIns="0" rIns="0" bIns="0" rtlCol="0" anchor="ctr"/>
          <a:lstStyle/>
          <a:p>
            <a:pPr algn="r" indent="0" marL="0">
              <a:buNone/>
            </a:pPr>
            <a:r>
              <a:rPr lang="en-US" sz="1700" b="1" dirty="0">
                <a:solidFill>
                  <a:schemeClr val="accent1"/>
                </a:solidFill>
                <a:latin typeface="+mj-lt" pitchFamily="34" charset="0"/>
                <a:ea typeface="+mj-lt" pitchFamily="34" charset="-122"/>
                <a:cs typeface="+mj-lt" pitchFamily="34" charset="-120"/>
              </a:rPr>
              <a:t>400 MNOK</a:t>
            </a:r>
            <a:endParaRPr lang="en-US" sz="1700" dirty="0"/>
          </a:p>
        </p:txBody>
      </p:sp>
      <p:sp>
        <p:nvSpPr>
          <p:cNvPr id="23" name="Shape 20"/>
          <p:cNvSpPr/>
          <p:nvPr/>
        </p:nvSpPr>
        <p:spPr>
          <a:xfrm>
            <a:off x="6537960" y="3849624"/>
            <a:ext cx="4709160" cy="0"/>
          </a:xfrm>
          <a:prstGeom prst="line">
            <a:avLst/>
          </a:prstGeom>
          <a:noFill/>
          <a:ln w="12700">
            <a:solidFill>
              <a:schemeClr val="accent3"/>
            </a:solidFill>
            <a:prstDash val="solid"/>
          </a:ln>
        </p:spPr>
      </p:sp>
      <p:sp>
        <p:nvSpPr>
          <p:cNvPr id="24" name="Text 21"/>
          <p:cNvSpPr txBox="1"/>
          <p:nvPr/>
        </p:nvSpPr>
        <p:spPr>
          <a:xfrm>
            <a:off x="6537960" y="3922776"/>
            <a:ext cx="3108960" cy="475488"/>
          </a:xfrm>
          <a:prstGeom prst="rect">
            <a:avLst/>
          </a:prstGeom>
          <a:noFill/>
          <a:ln/>
        </p:spPr>
        <p:txBody>
          <a:bodyPr wrap="square" lIns="0" tIns="0" rIns="0" bIns="0" rtlCol="0" anchor="ctr"/>
          <a:lstStyle/>
          <a:p>
            <a:pPr indent="0" marL="0">
              <a:buNone/>
            </a:pPr>
            <a:r>
              <a:rPr lang="en-US" sz="1500" dirty="0">
                <a:solidFill>
                  <a:schemeClr val="tx1"/>
                </a:solidFill>
              </a:rPr>
              <a:t>– Netto gjeld</a:t>
            </a:r>
            <a:endParaRPr lang="en-US" sz="1500" dirty="0"/>
          </a:p>
        </p:txBody>
      </p:sp>
      <p:sp>
        <p:nvSpPr>
          <p:cNvPr id="25" name="Text 22"/>
          <p:cNvSpPr txBox="1"/>
          <p:nvPr/>
        </p:nvSpPr>
        <p:spPr>
          <a:xfrm>
            <a:off x="9418320" y="3922776"/>
            <a:ext cx="1828800" cy="475488"/>
          </a:xfrm>
          <a:prstGeom prst="rect">
            <a:avLst/>
          </a:prstGeom>
          <a:noFill/>
          <a:ln/>
        </p:spPr>
        <p:txBody>
          <a:bodyPr wrap="square" lIns="0" tIns="0" rIns="0" bIns="0" rtlCol="0" anchor="ctr"/>
          <a:lstStyle/>
          <a:p>
            <a:pPr algn="r" indent="0" marL="0">
              <a:buNone/>
            </a:pPr>
            <a:r>
              <a:rPr lang="en-US" sz="1700" b="1" dirty="0">
                <a:solidFill>
                  <a:schemeClr val="accent1"/>
                </a:solidFill>
                <a:latin typeface="+mj-lt" pitchFamily="34" charset="0"/>
                <a:ea typeface="+mj-lt" pitchFamily="34" charset="-122"/>
                <a:cs typeface="+mj-lt" pitchFamily="34" charset="-120"/>
              </a:rPr>
              <a:t>100 MNOK</a:t>
            </a:r>
            <a:endParaRPr lang="en-US" sz="1700" dirty="0"/>
          </a:p>
        </p:txBody>
      </p:sp>
      <p:sp>
        <p:nvSpPr>
          <p:cNvPr id="26" name="Shape 23"/>
          <p:cNvSpPr/>
          <p:nvPr/>
        </p:nvSpPr>
        <p:spPr>
          <a:xfrm>
            <a:off x="6537960" y="4471416"/>
            <a:ext cx="4709160" cy="0"/>
          </a:xfrm>
          <a:prstGeom prst="line">
            <a:avLst/>
          </a:prstGeom>
          <a:noFill/>
          <a:ln w="12700">
            <a:solidFill>
              <a:schemeClr val="accent3"/>
            </a:solidFill>
            <a:prstDash val="solid"/>
          </a:ln>
        </p:spPr>
      </p:sp>
      <p:sp>
        <p:nvSpPr>
          <p:cNvPr id="27" name="Text 24"/>
          <p:cNvSpPr txBox="1"/>
          <p:nvPr/>
        </p:nvSpPr>
        <p:spPr>
          <a:xfrm>
            <a:off x="6537960" y="4544568"/>
            <a:ext cx="3108960" cy="475488"/>
          </a:xfrm>
          <a:prstGeom prst="rect">
            <a:avLst/>
          </a:prstGeom>
          <a:noFill/>
          <a:ln/>
        </p:spPr>
        <p:txBody>
          <a:bodyPr wrap="square" lIns="0" tIns="0" rIns="0" bIns="0" rtlCol="0" anchor="ctr"/>
          <a:lstStyle/>
          <a:p>
            <a:pPr indent="0" marL="0">
              <a:buNone/>
            </a:pPr>
            <a:r>
              <a:rPr lang="en-US" sz="1500" dirty="0">
                <a:solidFill>
                  <a:schemeClr val="tx1"/>
                </a:solidFill>
              </a:rPr>
              <a:t>= Verdi av egenkapitalen</a:t>
            </a:r>
            <a:endParaRPr lang="en-US" sz="1500" dirty="0"/>
          </a:p>
        </p:txBody>
      </p:sp>
      <p:sp>
        <p:nvSpPr>
          <p:cNvPr id="28" name="Text 25"/>
          <p:cNvSpPr txBox="1"/>
          <p:nvPr/>
        </p:nvSpPr>
        <p:spPr>
          <a:xfrm>
            <a:off x="9418320" y="4544568"/>
            <a:ext cx="1828800" cy="475488"/>
          </a:xfrm>
          <a:prstGeom prst="rect">
            <a:avLst/>
          </a:prstGeom>
          <a:noFill/>
          <a:ln/>
        </p:spPr>
        <p:txBody>
          <a:bodyPr wrap="square" lIns="0" tIns="0" rIns="0" bIns="0" rtlCol="0" anchor="ctr"/>
          <a:lstStyle/>
          <a:p>
            <a:pPr algn="r" indent="0" marL="0">
              <a:buNone/>
            </a:pPr>
            <a:r>
              <a:rPr lang="en-US" sz="1700" b="1" dirty="0">
                <a:solidFill>
                  <a:schemeClr val="accent1"/>
                </a:solidFill>
                <a:latin typeface="+mj-lt" pitchFamily="34" charset="0"/>
                <a:ea typeface="+mj-lt" pitchFamily="34" charset="-122"/>
                <a:cs typeface="+mj-lt" pitchFamily="34" charset="-120"/>
              </a:rPr>
              <a:t>300 MNOK</a:t>
            </a:r>
            <a:endParaRPr lang="en-US" sz="1700" dirty="0"/>
          </a:p>
        </p:txBody>
      </p:sp>
      <p:sp>
        <p:nvSpPr>
          <p:cNvPr id="29" name="Shape 26"/>
          <p:cNvSpPr/>
          <p:nvPr/>
        </p:nvSpPr>
        <p:spPr>
          <a:xfrm>
            <a:off x="6355080" y="5120640"/>
            <a:ext cx="5074920" cy="566928"/>
          </a:xfrm>
          <a:prstGeom prst="roundRect">
            <a:avLst>
              <a:gd name="adj" fmla="val 12903"/>
            </a:avLst>
          </a:prstGeom>
          <a:solidFill>
            <a:schemeClr val="accent1"/>
          </a:solidFill>
          <a:ln/>
        </p:spPr>
      </p:sp>
      <p:sp>
        <p:nvSpPr>
          <p:cNvPr id="30" name="Text 27"/>
          <p:cNvSpPr txBox="1"/>
          <p:nvPr/>
        </p:nvSpPr>
        <p:spPr>
          <a:xfrm>
            <a:off x="6537960" y="5166360"/>
            <a:ext cx="3108960" cy="475488"/>
          </a:xfrm>
          <a:prstGeom prst="rect">
            <a:avLst/>
          </a:prstGeom>
          <a:noFill/>
          <a:ln/>
        </p:spPr>
        <p:txBody>
          <a:bodyPr wrap="square" lIns="0" tIns="0" rIns="0" bIns="0" rtlCol="0" anchor="ctr"/>
          <a:lstStyle/>
          <a:p>
            <a:pPr indent="0" marL="0">
              <a:buNone/>
            </a:pPr>
            <a:r>
              <a:rPr lang="en-US" sz="1500" b="1" dirty="0">
                <a:solidFill>
                  <a:schemeClr val="bg1"/>
                </a:solidFill>
              </a:rPr>
              <a:t>÷ 10 mill. aksjer</a:t>
            </a:r>
            <a:endParaRPr lang="en-US" sz="1500" dirty="0"/>
          </a:p>
        </p:txBody>
      </p:sp>
      <p:sp>
        <p:nvSpPr>
          <p:cNvPr id="31" name="Text 28"/>
          <p:cNvSpPr txBox="1"/>
          <p:nvPr/>
        </p:nvSpPr>
        <p:spPr>
          <a:xfrm>
            <a:off x="9418320" y="5166360"/>
            <a:ext cx="1828800" cy="475488"/>
          </a:xfrm>
          <a:prstGeom prst="rect">
            <a:avLst/>
          </a:prstGeom>
          <a:noFill/>
          <a:ln/>
        </p:spPr>
        <p:txBody>
          <a:bodyPr wrap="square" lIns="0" tIns="0" rIns="0" bIns="0" rtlCol="0" anchor="ctr"/>
          <a:lstStyle/>
          <a:p>
            <a:pPr algn="r" indent="0" marL="0">
              <a:buNone/>
            </a:pPr>
            <a:r>
              <a:rPr lang="en-US" sz="1700" b="1" dirty="0">
                <a:solidFill>
                  <a:schemeClr val="bg1"/>
                </a:solidFill>
                <a:latin typeface="+mj-lt" pitchFamily="34" charset="0"/>
                <a:ea typeface="+mj-lt" pitchFamily="34" charset="-122"/>
                <a:cs typeface="+mj-lt" pitchFamily="34" charset="-120"/>
              </a:rPr>
              <a:t>30 kr/aksje</a:t>
            </a:r>
            <a:endParaRPr lang="en-US" sz="17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DCF: VERDIEN AV FREMTIDIGE PENGER</a:t>
            </a:r>
            <a:endParaRPr lang="en-US" sz="3200" dirty="0"/>
          </a:p>
        </p:txBody>
      </p:sp>
      <p:sp>
        <p:nvSpPr>
          <p:cNvPr id="3" name="Shape 1"/>
          <p:cNvSpPr/>
          <p:nvPr/>
        </p:nvSpPr>
        <p:spPr>
          <a:xfrm>
            <a:off x="548640" y="1371600"/>
            <a:ext cx="5120640" cy="1417320"/>
          </a:xfrm>
          <a:prstGeom prst="roundRect">
            <a:avLst>
              <a:gd name="adj" fmla="val 5161"/>
            </a:avLst>
          </a:prstGeom>
          <a:solidFill>
            <a:schemeClr val="accent3"/>
          </a:solidFill>
          <a:ln/>
        </p:spPr>
      </p:sp>
      <p:pic>
        <p:nvPicPr>
          <p:cNvPr id="4" name="Image 0" descr="preencoded.png">    </p:cNvPr>
          <p:cNvPicPr>
            <a:picLocks noChangeAspect="1"/>
          </p:cNvPicPr>
          <p:nvPr/>
        </p:nvPicPr>
        <p:blipFill>
          <a:blip r:embed="rId1"/>
          <a:stretch>
            <a:fillRect/>
          </a:stretch>
        </p:blipFill>
        <p:spPr>
          <a:xfrm>
            <a:off x="822960" y="1572768"/>
            <a:ext cx="384048" cy="384048"/>
          </a:xfrm>
          <a:prstGeom prst="rect">
            <a:avLst/>
          </a:prstGeom>
        </p:spPr>
      </p:pic>
      <p:sp>
        <p:nvSpPr>
          <p:cNvPr id="5" name="Text 2"/>
          <p:cNvSpPr txBox="1"/>
          <p:nvPr/>
        </p:nvSpPr>
        <p:spPr>
          <a:xfrm>
            <a:off x="1371600" y="1572768"/>
            <a:ext cx="2743200" cy="365760"/>
          </a:xfrm>
          <a:prstGeom prst="rect">
            <a:avLst/>
          </a:prstGeom>
          <a:noFill/>
          <a:ln/>
        </p:spPr>
        <p:txBody>
          <a:bodyPr wrap="square" lIns="0" tIns="0" rIns="0" bIns="0" rtlCol="0" anchor="t"/>
          <a:lstStyle/>
          <a:p>
            <a:pPr indent="0" marL="0">
              <a:buNone/>
            </a:pPr>
            <a:r>
              <a:rPr lang="en-US" sz="1400" b="1" spc="200" kern="0" dirty="0">
                <a:solidFill>
                  <a:schemeClr val="accent1"/>
                </a:solidFill>
                <a:latin typeface="+mj-lt" pitchFamily="34" charset="0"/>
                <a:ea typeface="+mj-lt" pitchFamily="34" charset="-122"/>
                <a:cs typeface="+mj-lt" pitchFamily="34" charset="-120"/>
              </a:rPr>
              <a:t>INTUISJON</a:t>
            </a:r>
            <a:endParaRPr lang="en-US" sz="1400" dirty="0"/>
          </a:p>
        </p:txBody>
      </p:sp>
      <p:sp>
        <p:nvSpPr>
          <p:cNvPr id="6" name="Text 3"/>
          <p:cNvSpPr txBox="1"/>
          <p:nvPr/>
        </p:nvSpPr>
        <p:spPr>
          <a:xfrm>
            <a:off x="822960" y="2011680"/>
            <a:ext cx="4572000" cy="731520"/>
          </a:xfrm>
          <a:prstGeom prst="rect">
            <a:avLst/>
          </a:prstGeom>
          <a:noFill/>
          <a:ln/>
        </p:spPr>
        <p:txBody>
          <a:bodyPr wrap="square" lIns="0" tIns="0" rIns="0" bIns="0" rtlCol="0" anchor="t"/>
          <a:lstStyle/>
          <a:p>
            <a:pPr indent="0" marL="0">
              <a:buNone/>
            </a:pPr>
            <a:r>
              <a:rPr lang="en-US" sz="1300" dirty="0">
                <a:solidFill>
                  <a:schemeClr val="tx1"/>
                </a:solidFill>
              </a:rPr>
              <a:t>100 kr i dag er verdt mer enn 100 kr om ett år – du kunne investert dem. Fremtidige penger må «krympes» tilbake til i dag.</a:t>
            </a:r>
            <a:endParaRPr lang="en-US" sz="1300" dirty="0"/>
          </a:p>
        </p:txBody>
      </p:sp>
      <p:sp>
        <p:nvSpPr>
          <p:cNvPr id="7" name="Text 4"/>
          <p:cNvSpPr txBox="1"/>
          <p:nvPr/>
        </p:nvSpPr>
        <p:spPr>
          <a:xfrm>
            <a:off x="548640" y="3017520"/>
            <a:ext cx="5120640" cy="320040"/>
          </a:xfrm>
          <a:prstGeom prst="rect">
            <a:avLst/>
          </a:prstGeom>
          <a:noFill/>
          <a:ln/>
        </p:spPr>
        <p:txBody>
          <a:bodyPr wrap="square" lIns="0" tIns="0" rIns="0" bIns="0" rtlCol="0" anchor="t"/>
          <a:lstStyle/>
          <a:p>
            <a:pPr indent="0" marL="0">
              <a:buNone/>
            </a:pPr>
            <a:r>
              <a:rPr lang="en-US" sz="1400" b="1" spc="200" kern="0" dirty="0">
                <a:solidFill>
                  <a:schemeClr val="accent1"/>
                </a:solidFill>
                <a:latin typeface="+mj-lt" pitchFamily="34" charset="0"/>
                <a:ea typeface="+mj-lt" pitchFamily="34" charset="-122"/>
                <a:cs typeface="+mj-lt" pitchFamily="34" charset="-120"/>
              </a:rPr>
              <a:t>FORMEL</a:t>
            </a:r>
            <a:endParaRPr lang="en-US" sz="1400" dirty="0"/>
          </a:p>
        </p:txBody>
      </p:sp>
      <p:sp>
        <p:nvSpPr>
          <p:cNvPr id="8" name="Text 5"/>
          <p:cNvSpPr txBox="1"/>
          <p:nvPr/>
        </p:nvSpPr>
        <p:spPr>
          <a:xfrm>
            <a:off x="548640" y="3383280"/>
            <a:ext cx="5120640" cy="45720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Nåverdi  =  KS / (1 + r)ᵗ</a:t>
            </a:r>
            <a:endParaRPr lang="en-US" sz="2400" dirty="0"/>
          </a:p>
        </p:txBody>
      </p:sp>
      <p:sp>
        <p:nvSpPr>
          <p:cNvPr id="9" name="Text 6"/>
          <p:cNvSpPr txBox="1"/>
          <p:nvPr/>
        </p:nvSpPr>
        <p:spPr>
          <a:xfrm>
            <a:off x="548640" y="3931920"/>
            <a:ext cx="5120640" cy="914400"/>
          </a:xfrm>
          <a:prstGeom prst="rect">
            <a:avLst/>
          </a:prstGeom>
          <a:noFill/>
          <a:ln/>
        </p:spPr>
        <p:txBody>
          <a:bodyPr wrap="square" lIns="0" tIns="0" rIns="0" bIns="0" rtlCol="0" anchor="t"/>
          <a:lstStyle/>
          <a:p>
            <a:pPr indent="0" marL="0">
              <a:buNone/>
            </a:pPr>
            <a:r>
              <a:rPr lang="en-US" sz="1300" dirty="0">
                <a:solidFill>
                  <a:schemeClr val="tx2"/>
                </a:solidFill>
              </a:rPr>
              <a:t>KS = kontantstrøm i år t</a:t>
            </a:r>
            <a:endParaRPr lang="en-US" sz="1300" dirty="0"/>
          </a:p>
          <a:p>
            <a:pPr indent="0" marL="0">
              <a:buNone/>
            </a:pPr>
            <a:r>
              <a:rPr lang="en-US" sz="1300" dirty="0">
                <a:solidFill>
                  <a:schemeClr val="tx2"/>
                </a:solidFill>
              </a:rPr>
              <a:t>r = avkastningskrav (diskonteringsrente)</a:t>
            </a:r>
            <a:endParaRPr lang="en-US" sz="1300" dirty="0"/>
          </a:p>
          <a:p>
            <a:pPr indent="0" marL="0">
              <a:buNone/>
            </a:pPr>
            <a:r>
              <a:rPr lang="en-US" sz="1300" dirty="0">
                <a:solidFill>
                  <a:schemeClr val="tx2"/>
                </a:solidFill>
              </a:rPr>
              <a:t>Selskapets verdi = summen av nåverdiene</a:t>
            </a:r>
            <a:endParaRPr lang="en-US" sz="1300" dirty="0"/>
          </a:p>
        </p:txBody>
      </p:sp>
      <p:sp>
        <p:nvSpPr>
          <p:cNvPr id="10" name="Shape 7"/>
          <p:cNvSpPr/>
          <p:nvPr/>
        </p:nvSpPr>
        <p:spPr>
          <a:xfrm>
            <a:off x="548640" y="5029200"/>
            <a:ext cx="5120640" cy="914400"/>
          </a:xfrm>
          <a:prstGeom prst="roundRect">
            <a:avLst>
              <a:gd name="adj" fmla="val 8000"/>
            </a:avLst>
          </a:prstGeom>
          <a:solidFill>
            <a:schemeClr val="bg2"/>
          </a:solidFill>
          <a:ln/>
        </p:spPr>
      </p:sp>
      <p:sp>
        <p:nvSpPr>
          <p:cNvPr id="11" name="Text 8"/>
          <p:cNvSpPr txBox="1"/>
          <p:nvPr/>
        </p:nvSpPr>
        <p:spPr>
          <a:xfrm>
            <a:off x="822960" y="5029200"/>
            <a:ext cx="4572000" cy="914400"/>
          </a:xfrm>
          <a:prstGeom prst="rect">
            <a:avLst/>
          </a:prstGeom>
          <a:noFill/>
          <a:ln/>
        </p:spPr>
        <p:txBody>
          <a:bodyPr wrap="square" lIns="0" tIns="0" rIns="0" bIns="0" rtlCol="0" anchor="ctr"/>
          <a:lstStyle/>
          <a:p>
            <a:pPr indent="0" marL="0">
              <a:buNone/>
            </a:pPr>
            <a:r>
              <a:rPr lang="en-US" sz="1300" dirty="0">
                <a:solidFill>
                  <a:schemeClr val="tx1"/>
                </a:solidFill>
              </a:rPr>
              <a:t>I praksis: 5–10 års prognoser + en terminalverdi for alle årene etter det.</a:t>
            </a:r>
            <a:endParaRPr lang="en-US" sz="1300" dirty="0"/>
          </a:p>
        </p:txBody>
      </p:sp>
      <p:sp>
        <p:nvSpPr>
          <p:cNvPr id="12" name="Shape 9"/>
          <p:cNvSpPr/>
          <p:nvPr/>
        </p:nvSpPr>
        <p:spPr>
          <a:xfrm>
            <a:off x="6172200" y="1371600"/>
            <a:ext cx="5440680" cy="4572000"/>
          </a:xfrm>
          <a:prstGeom prst="roundRect">
            <a:avLst>
              <a:gd name="adj" fmla="val 1600"/>
            </a:avLst>
          </a:prstGeom>
          <a:solidFill>
            <a:schemeClr val="bg2"/>
          </a:solidFill>
          <a:ln/>
        </p:spPr>
      </p:sp>
      <p:sp>
        <p:nvSpPr>
          <p:cNvPr id="13" name="Text 10"/>
          <p:cNvSpPr txBox="1"/>
          <p:nvPr/>
        </p:nvSpPr>
        <p:spPr>
          <a:xfrm>
            <a:off x="6446520" y="1554480"/>
            <a:ext cx="5029200" cy="365760"/>
          </a:xfrm>
          <a:prstGeom prst="rect">
            <a:avLst/>
          </a:prstGeom>
          <a:noFill/>
          <a:ln/>
        </p:spPr>
        <p:txBody>
          <a:bodyPr wrap="square" lIns="0" tIns="0" rIns="0" bIns="0" rtlCol="0" anchor="t"/>
          <a:lstStyle/>
          <a:p>
            <a:pPr indent="0" marL="0">
              <a:buNone/>
            </a:pPr>
            <a:r>
              <a:rPr lang="en-US" sz="1400" b="1" dirty="0">
                <a:solidFill>
                  <a:schemeClr val="accent1"/>
                </a:solidFill>
                <a:latin typeface="+mj-lt" pitchFamily="34" charset="0"/>
                <a:ea typeface="+mj-lt" pitchFamily="34" charset="-122"/>
                <a:cs typeface="+mj-lt" pitchFamily="34" charset="-120"/>
              </a:rPr>
              <a:t>EKSEMPEL: 100 MNOK I ÅRET I 3 ÅR, r = 10 %</a:t>
            </a:r>
            <a:endParaRPr lang="en-US" sz="1400" dirty="0"/>
          </a:p>
        </p:txBody>
      </p:sp>
      <p:graphicFrame>
        <p:nvGraphicFramePr>
          <p:cNvPr id="14" name="Chart 0" descr=""/>
          <p:cNvGraphicFramePr/>
          <p:nvPr/>
        </p:nvGraphicFramePr>
        <p:xfrm>
          <a:off x="6355080" y="1965960"/>
          <a:ext cx="5120640" cy="2240280"/>
        </p:xfrm>
        <a:graphic xmlns:a="http://schemas.openxmlformats.org/drawingml/2006/main">
          <a:graphicData uri="http://schemas.openxmlformats.org/drawingml/2006/chart">
            <c:chart xmlns:c="http://schemas.openxmlformats.org/drawingml/2006/chart" r:id="rId2"/>
          </a:graphicData>
        </a:graphic>
      </p:graphicFrame>
      <p:sp>
        <p:nvSpPr>
          <p:cNvPr id="15" name="Text 11"/>
          <p:cNvSpPr txBox="1"/>
          <p:nvPr/>
        </p:nvSpPr>
        <p:spPr>
          <a:xfrm>
            <a:off x="6446520" y="4297680"/>
            <a:ext cx="3657600" cy="347472"/>
          </a:xfrm>
          <a:prstGeom prst="rect">
            <a:avLst/>
          </a:prstGeom>
          <a:noFill/>
          <a:ln/>
        </p:spPr>
        <p:txBody>
          <a:bodyPr wrap="square" lIns="0" tIns="0" rIns="0" bIns="0" rtlCol="0" anchor="ctr"/>
          <a:lstStyle/>
          <a:p>
            <a:pPr indent="0" marL="0">
              <a:buNone/>
            </a:pPr>
            <a:r>
              <a:rPr lang="en-US" sz="1300" dirty="0">
                <a:solidFill>
                  <a:schemeClr val="tx1"/>
                </a:solidFill>
              </a:rPr>
              <a:t>År 1:  100 / 1,10</a:t>
            </a:r>
            <a:endParaRPr lang="en-US" sz="1300" dirty="0"/>
          </a:p>
        </p:txBody>
      </p:sp>
      <p:sp>
        <p:nvSpPr>
          <p:cNvPr id="16" name="Text 12"/>
          <p:cNvSpPr txBox="1"/>
          <p:nvPr/>
        </p:nvSpPr>
        <p:spPr>
          <a:xfrm>
            <a:off x="10058400" y="4297680"/>
            <a:ext cx="1280160" cy="347472"/>
          </a:xfrm>
          <a:prstGeom prst="rect">
            <a:avLst/>
          </a:prstGeom>
          <a:noFill/>
          <a:ln/>
        </p:spPr>
        <p:txBody>
          <a:bodyPr wrap="square" lIns="0" tIns="0" rIns="0" bIns="0" rtlCol="0" anchor="ctr"/>
          <a:lstStyle/>
          <a:p>
            <a:pPr algn="r" indent="0" marL="0">
              <a:buNone/>
            </a:pPr>
            <a:r>
              <a:rPr lang="en-US" sz="1300" dirty="0">
                <a:solidFill>
                  <a:schemeClr val="tx1"/>
                </a:solidFill>
              </a:rPr>
              <a:t>= 90,9</a:t>
            </a:r>
            <a:endParaRPr lang="en-US" sz="1300" dirty="0"/>
          </a:p>
        </p:txBody>
      </p:sp>
      <p:sp>
        <p:nvSpPr>
          <p:cNvPr id="17" name="Text 13"/>
          <p:cNvSpPr txBox="1"/>
          <p:nvPr/>
        </p:nvSpPr>
        <p:spPr>
          <a:xfrm>
            <a:off x="6446520" y="4663440"/>
            <a:ext cx="3657600" cy="347472"/>
          </a:xfrm>
          <a:prstGeom prst="rect">
            <a:avLst/>
          </a:prstGeom>
          <a:noFill/>
          <a:ln/>
        </p:spPr>
        <p:txBody>
          <a:bodyPr wrap="square" lIns="0" tIns="0" rIns="0" bIns="0" rtlCol="0" anchor="ctr"/>
          <a:lstStyle/>
          <a:p>
            <a:pPr indent="0" marL="0">
              <a:buNone/>
            </a:pPr>
            <a:r>
              <a:rPr lang="en-US" sz="1300" dirty="0">
                <a:solidFill>
                  <a:schemeClr val="tx1"/>
                </a:solidFill>
              </a:rPr>
              <a:t>År 2:  100 / 1,10²  =  100 / 1,21</a:t>
            </a:r>
            <a:endParaRPr lang="en-US" sz="1300" dirty="0"/>
          </a:p>
        </p:txBody>
      </p:sp>
      <p:sp>
        <p:nvSpPr>
          <p:cNvPr id="18" name="Text 14"/>
          <p:cNvSpPr txBox="1"/>
          <p:nvPr/>
        </p:nvSpPr>
        <p:spPr>
          <a:xfrm>
            <a:off x="10058400" y="4663440"/>
            <a:ext cx="1280160" cy="347472"/>
          </a:xfrm>
          <a:prstGeom prst="rect">
            <a:avLst/>
          </a:prstGeom>
          <a:noFill/>
          <a:ln/>
        </p:spPr>
        <p:txBody>
          <a:bodyPr wrap="square" lIns="0" tIns="0" rIns="0" bIns="0" rtlCol="0" anchor="ctr"/>
          <a:lstStyle/>
          <a:p>
            <a:pPr algn="r" indent="0" marL="0">
              <a:buNone/>
            </a:pPr>
            <a:r>
              <a:rPr lang="en-US" sz="1300" dirty="0">
                <a:solidFill>
                  <a:schemeClr val="tx1"/>
                </a:solidFill>
              </a:rPr>
              <a:t>= 82,6</a:t>
            </a:r>
            <a:endParaRPr lang="en-US" sz="1300" dirty="0"/>
          </a:p>
        </p:txBody>
      </p:sp>
      <p:sp>
        <p:nvSpPr>
          <p:cNvPr id="19" name="Text 15"/>
          <p:cNvSpPr txBox="1"/>
          <p:nvPr/>
        </p:nvSpPr>
        <p:spPr>
          <a:xfrm>
            <a:off x="6446520" y="5029200"/>
            <a:ext cx="3657600" cy="347472"/>
          </a:xfrm>
          <a:prstGeom prst="rect">
            <a:avLst/>
          </a:prstGeom>
          <a:noFill/>
          <a:ln/>
        </p:spPr>
        <p:txBody>
          <a:bodyPr wrap="square" lIns="0" tIns="0" rIns="0" bIns="0" rtlCol="0" anchor="ctr"/>
          <a:lstStyle/>
          <a:p>
            <a:pPr indent="0" marL="0">
              <a:buNone/>
            </a:pPr>
            <a:r>
              <a:rPr lang="en-US" sz="1300" dirty="0">
                <a:solidFill>
                  <a:schemeClr val="tx1"/>
                </a:solidFill>
              </a:rPr>
              <a:t>År 3:  100 / 1,10³  =  100 / 1,331</a:t>
            </a:r>
            <a:endParaRPr lang="en-US" sz="1300" dirty="0"/>
          </a:p>
        </p:txBody>
      </p:sp>
      <p:sp>
        <p:nvSpPr>
          <p:cNvPr id="20" name="Text 16"/>
          <p:cNvSpPr txBox="1"/>
          <p:nvPr/>
        </p:nvSpPr>
        <p:spPr>
          <a:xfrm>
            <a:off x="10058400" y="5029200"/>
            <a:ext cx="1280160" cy="347472"/>
          </a:xfrm>
          <a:prstGeom prst="rect">
            <a:avLst/>
          </a:prstGeom>
          <a:noFill/>
          <a:ln/>
        </p:spPr>
        <p:txBody>
          <a:bodyPr wrap="square" lIns="0" tIns="0" rIns="0" bIns="0" rtlCol="0" anchor="ctr"/>
          <a:lstStyle/>
          <a:p>
            <a:pPr algn="r" indent="0" marL="0">
              <a:buNone/>
            </a:pPr>
            <a:r>
              <a:rPr lang="en-US" sz="1300" dirty="0">
                <a:solidFill>
                  <a:schemeClr val="tx1"/>
                </a:solidFill>
              </a:rPr>
              <a:t>= 75,1</a:t>
            </a:r>
            <a:endParaRPr lang="en-US" sz="1300" dirty="0"/>
          </a:p>
        </p:txBody>
      </p:sp>
      <p:sp>
        <p:nvSpPr>
          <p:cNvPr id="21" name="Shape 17"/>
          <p:cNvSpPr/>
          <p:nvPr/>
        </p:nvSpPr>
        <p:spPr>
          <a:xfrm>
            <a:off x="6446520" y="5422392"/>
            <a:ext cx="4892040" cy="0"/>
          </a:xfrm>
          <a:prstGeom prst="line">
            <a:avLst/>
          </a:prstGeom>
          <a:noFill/>
          <a:ln w="12700">
            <a:solidFill>
              <a:schemeClr val="tx2"/>
            </a:solidFill>
            <a:prstDash val="solid"/>
          </a:ln>
        </p:spPr>
      </p:sp>
      <p:sp>
        <p:nvSpPr>
          <p:cNvPr id="22" name="Text 18"/>
          <p:cNvSpPr txBox="1"/>
          <p:nvPr/>
        </p:nvSpPr>
        <p:spPr>
          <a:xfrm>
            <a:off x="6446520" y="5458968"/>
            <a:ext cx="2743200" cy="384048"/>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Verdi i dag</a:t>
            </a:r>
            <a:endParaRPr lang="en-US" sz="1600" dirty="0"/>
          </a:p>
        </p:txBody>
      </p:sp>
      <p:sp>
        <p:nvSpPr>
          <p:cNvPr id="23" name="Text 19"/>
          <p:cNvSpPr txBox="1"/>
          <p:nvPr/>
        </p:nvSpPr>
        <p:spPr>
          <a:xfrm>
            <a:off x="9052560" y="5458968"/>
            <a:ext cx="2286000" cy="384048"/>
          </a:xfrm>
          <a:prstGeom prst="rect">
            <a:avLst/>
          </a:prstGeom>
          <a:noFill/>
          <a:ln/>
        </p:spPr>
        <p:txBody>
          <a:bodyPr wrap="square" lIns="0" tIns="0" rIns="0" bIns="0" rtlCol="0" anchor="ctr"/>
          <a:lstStyle/>
          <a:p>
            <a:pPr algn="r" indent="0" marL="0">
              <a:buNone/>
            </a:pPr>
            <a:r>
              <a:rPr lang="en-US" sz="1800" b="1" dirty="0">
                <a:solidFill>
                  <a:schemeClr val="accent1"/>
                </a:solidFill>
                <a:latin typeface="+mj-lt" pitchFamily="34" charset="0"/>
                <a:ea typeface="+mj-lt" pitchFamily="34" charset="-122"/>
                <a:cs typeface="+mj-lt" pitchFamily="34" charset="-120"/>
              </a:rPr>
              <a:t>248,7 MNOK</a:t>
            </a:r>
            <a:endParaRPr lang="en-US" sz="18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Foto" descr="/tmp/claude-0/-home-user-B-RS/bc29adb1-953f-55c2-bb90-b9f7aff29f66/scratchpad/assets/workshop.jpg">    </p:cNvPr>
          <p:cNvPicPr>
            <a:picLocks noChangeAspect="1"/>
          </p:cNvPicPr>
          <p:nvPr/>
        </p:nvPicPr>
        <p:blipFill>
          <a:blip r:embed="rId1"/>
          <a:srcRect l="0" r="0" t="0" b="0"/>
          <a:stretch/>
        </p:blipFill>
        <p:spPr>
          <a:xfrm>
            <a:off x="6675120" y="0"/>
            <a:ext cx="5516575" cy="6858000"/>
          </a:xfrm>
          <a:prstGeom prst="rect">
            <a:avLst/>
          </a:prstGeom>
        </p:spPr>
      </p:pic>
      <p:sp>
        <p:nvSpPr>
          <p:cNvPr id="3" name="Diagonal"/>
          <p:cNvSpPr/>
          <p:nvPr/>
        </p:nvSpPr>
        <p:spPr>
          <a:xfrm flipV="1">
            <a:off x="6665976" y="-9144"/>
            <a:ext cx="2743200" cy="6876288"/>
          </a:xfrm>
          <a:prstGeom prst="rtTriangle">
            <a:avLst/>
          </a:prstGeom>
          <a:solidFill>
            <a:schemeClr val="bg1"/>
          </a:solidFill>
          <a:ln/>
        </p:spPr>
      </p:sp>
      <p:sp>
        <p:nvSpPr>
          <p:cNvPr id="4" name="Gul linje"/>
          <p:cNvSpPr/>
          <p:nvPr/>
        </p:nvSpPr>
        <p:spPr>
          <a:xfrm flipH="1">
            <a:off x="6675120" y="0"/>
            <a:ext cx="2743200" cy="6858000"/>
          </a:xfrm>
          <a:prstGeom prst="line">
            <a:avLst/>
          </a:prstGeom>
          <a:noFill/>
          <a:ln w="38100">
            <a:solidFill>
              <a:schemeClr val="accent1"/>
            </a:solidFill>
            <a:prstDash val="solid"/>
          </a:ln>
        </p:spPr>
      </p:sp>
      <p:sp>
        <p:nvSpPr>
          <p:cNvPr id="5" name="Text 0"/>
          <p:cNvSpPr/>
          <p:nvPr>
            <p:ph idx="101" type="body" hasCustomPrompt="1"/>
          </p:nvPr>
        </p:nvSpPr>
        <p:spPr>
          <a:xfrm>
            <a:off x="548640" y="1783080"/>
            <a:ext cx="5486400" cy="411480"/>
          </a:xfrm>
          <a:prstGeom prst="rect">
            <a:avLst/>
          </a:prstGeom>
          <a:noFill/>
          <a:ln/>
        </p:spPr>
        <p:txBody>
          <a:bodyPr wrap="square" lIns="0" tIns="0" rIns="0" bIns="0" rtlCol="0"/>
          <a:lstStyle/>
          <a:p>
            <a:pPr algn="l" indent="0" marL="0">
              <a:buNone/>
            </a:pPr>
            <a:r>
              <a:rPr lang="en-US" sz="1600" b="1" spc="600" kern="0" dirty="0">
                <a:solidFill>
                  <a:schemeClr val="accent1"/>
                </a:solidFill>
                <a:latin typeface="+mj-lt" pitchFamily="34" charset="0"/>
                <a:ea typeface="+mj-lt" pitchFamily="34" charset="-122"/>
                <a:cs typeface="+mj-lt" pitchFamily="34" charset="-120"/>
              </a:rPr>
              <a:t>DEL 5</a:t>
            </a:r>
            <a:endParaRPr lang="en-US" sz="1600" dirty="0"/>
          </a:p>
        </p:txBody>
      </p:sp>
      <p:sp>
        <p:nvSpPr>
          <p:cNvPr id="6" name="Text 0"/>
          <p:cNvSpPr/>
          <p:nvPr>
            <p:ph idx="102" type="title" hasCustomPrompt="1"/>
          </p:nvPr>
        </p:nvSpPr>
        <p:spPr>
          <a:xfrm>
            <a:off x="548640" y="2286000"/>
            <a:ext cx="5760720" cy="1508760"/>
          </a:xfrm>
          <a:prstGeom prst="rect">
            <a:avLst/>
          </a:prstGeom>
          <a:noFill/>
          <a:ln/>
        </p:spPr>
        <p:txBody>
          <a:bodyPr wrap="square" lIns="0" tIns="0" rIns="0" bIns="0" rtlCol="0" anchor="t"/>
          <a:lstStyle/>
          <a:p>
            <a:pPr algn="l" indent="0" marL="0">
              <a:buNone/>
            </a:pPr>
            <a:r>
              <a:rPr lang="en-US" sz="4400" b="1" dirty="0">
                <a:solidFill>
                  <a:schemeClr val="tx1"/>
                </a:solidFill>
                <a:latin typeface="+mj-lt" pitchFamily="34" charset="0"/>
                <a:ea typeface="+mj-lt" pitchFamily="34" charset="-122"/>
                <a:cs typeface="+mj-lt" pitchFamily="34" charset="-120"/>
              </a:rPr>
              <a:t>BUYSIDE</a:t>
            </a:r>
            <a:endParaRPr lang="en-US" sz="4400" dirty="0"/>
          </a:p>
        </p:txBody>
      </p:sp>
      <p:sp>
        <p:nvSpPr>
          <p:cNvPr id="7" name="Text 0"/>
          <p:cNvSpPr/>
          <p:nvPr>
            <p:ph idx="103" type="body" hasCustomPrompt="1"/>
          </p:nvPr>
        </p:nvSpPr>
        <p:spPr>
          <a:xfrm>
            <a:off x="548640" y="3931920"/>
            <a:ext cx="5303520" cy="822960"/>
          </a:xfrm>
          <a:prstGeom prst="rect">
            <a:avLst/>
          </a:prstGeom>
          <a:noFill/>
          <a:ln/>
        </p:spPr>
        <p:txBody>
          <a:bodyPr wrap="square" lIns="0" tIns="0" rIns="0" bIns="0" rtlCol="0" anchor="t"/>
          <a:lstStyle/>
          <a:p>
            <a:pPr indent="0" marL="0">
              <a:buNone/>
            </a:pPr>
            <a:r>
              <a:rPr lang="en-US" sz="1800" dirty="0">
                <a:solidFill>
                  <a:schemeClr val="tx2"/>
                </a:solidFill>
              </a:rPr>
              <a:t>Private equity, venture capital og fond</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PRIVATE EQUITY OG VENTURE CAPITAL</a:t>
            </a:r>
            <a:endParaRPr lang="en-US" sz="3200" dirty="0"/>
          </a:p>
        </p:txBody>
      </p:sp>
      <p:sp>
        <p:nvSpPr>
          <p:cNvPr id="3" name="Text 1"/>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700" dirty="0">
                <a:solidFill>
                  <a:schemeClr val="tx2"/>
                </a:solidFill>
              </a:rPr>
              <a:t>Begge investerer i selskaper som ikke er på børs – men i helt ulike faser.</a:t>
            </a:r>
            <a:endParaRPr lang="en-US" sz="1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103120"/>
                <a:gridCol w="4480560"/>
                <a:gridCol w="4480560"/>
              </a:tblGrid>
              <a:tr h="502920">
                <a:tc>
                  <a:txBody>
                    <a:bodyPr/>
                    <a:lstStyle/>
                    <a:p>
                      <a:pPr indent="0" marL="0">
                        <a:buNone/>
                      </a:pP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0F1E42"/>
                    </a:solidFill>
                  </a:tcPr>
                </a:tc>
                <a:tc>
                  <a:txBody>
                    <a:bodyPr/>
                    <a:lstStyle/>
                    <a:p>
                      <a:pPr indent="0" marL="0">
                        <a:buNone/>
                      </a:pPr>
                      <a:r>
                        <a:rPr lang="en-US" sz="1700" b="1" dirty="0">
                          <a:solidFill>
                            <a:srgbClr val="DDDD7E"/>
                          </a:solidFill>
                          <a:latin typeface="+mj-lt" pitchFamily="34" charset="0"/>
                          <a:ea typeface="+mj-lt" pitchFamily="34" charset="-122"/>
                          <a:cs typeface="+mj-lt" pitchFamily="34" charset="-120"/>
                        </a:rPr>
                        <a:t>VENTURE CAPITAL (VC)</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2A3F78"/>
                    </a:solidFill>
                  </a:tcPr>
                </a:tc>
                <a:tc>
                  <a:txBody>
                    <a:bodyPr/>
                    <a:lstStyle/>
                    <a:p>
                      <a:pPr indent="0" marL="0">
                        <a:buNone/>
                      </a:pPr>
                      <a:r>
                        <a:rPr lang="en-US" sz="1700" b="1" dirty="0">
                          <a:solidFill>
                            <a:srgbClr val="DDDD7E"/>
                          </a:solidFill>
                          <a:latin typeface="+mj-lt" pitchFamily="34" charset="0"/>
                          <a:ea typeface="+mj-lt" pitchFamily="34" charset="-122"/>
                          <a:cs typeface="+mj-lt" pitchFamily="34" charset="-120"/>
                        </a:rPr>
                        <a:t>PRIVATE EQUITY (PE)</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2A3F78"/>
                    </a:solidFill>
                  </a:tcPr>
                </a:tc>
              </a:tr>
              <a:tr h="548640">
                <a:tc>
                  <a:txBody>
                    <a:bodyPr/>
                    <a:lstStyle/>
                    <a:p>
                      <a:pPr indent="0" marL="0">
                        <a:buNone/>
                      </a:pPr>
                      <a:r>
                        <a:rPr lang="en-US" sz="1300" b="1" dirty="0">
                          <a:solidFill>
                            <a:srgbClr val="C3CAE0"/>
                          </a:solidFill>
                        </a:rPr>
                        <a:t>Fase</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0F1E42"/>
                    </a:solidFill>
                  </a:tcPr>
                </a:tc>
                <a:tc>
                  <a:txBody>
                    <a:bodyPr/>
                    <a:lstStyle/>
                    <a:p>
                      <a:pPr indent="0" marL="0">
                        <a:buNone/>
                      </a:pPr>
                      <a:r>
                        <a:rPr lang="en-US" sz="1300" dirty="0">
                          <a:solidFill>
                            <a:srgbClr val="FFFFFF"/>
                          </a:solidFill>
                        </a:rPr>
                        <a:t>Unge selskaper og startups</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1C2F60"/>
                    </a:solidFill>
                  </a:tcPr>
                </a:tc>
                <a:tc>
                  <a:txBody>
                    <a:bodyPr/>
                    <a:lstStyle/>
                    <a:p>
                      <a:pPr indent="0" marL="0">
                        <a:buNone/>
                      </a:pPr>
                      <a:r>
                        <a:rPr lang="en-US" sz="1300" dirty="0">
                          <a:solidFill>
                            <a:srgbClr val="FFFFFF"/>
                          </a:solidFill>
                        </a:rPr>
                        <a:t>Modne selskaper med stabil inntjening</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1C2F60"/>
                    </a:solidFill>
                  </a:tcPr>
                </a:tc>
              </a:tr>
              <a:tr h="548640">
                <a:tc>
                  <a:txBody>
                    <a:bodyPr/>
                    <a:lstStyle/>
                    <a:p>
                      <a:pPr indent="0" marL="0">
                        <a:buNone/>
                      </a:pPr>
                      <a:r>
                        <a:rPr lang="en-US" sz="1300" b="1" dirty="0">
                          <a:solidFill>
                            <a:srgbClr val="C3CAE0"/>
                          </a:solidFill>
                        </a:rPr>
                        <a:t>Eierandel</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0F1E42"/>
                    </a:solidFill>
                  </a:tcPr>
                </a:tc>
                <a:tc>
                  <a:txBody>
                    <a:bodyPr/>
                    <a:lstStyle/>
                    <a:p>
                      <a:pPr indent="0" marL="0">
                        <a:buNone/>
                      </a:pPr>
                      <a:r>
                        <a:rPr lang="en-US" sz="1300" dirty="0">
                          <a:solidFill>
                            <a:srgbClr val="FFFFFF"/>
                          </a:solidFill>
                        </a:rPr>
                        <a:t>Minoritet (en del av selskapet)</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1C2F60"/>
                    </a:solidFill>
                  </a:tcPr>
                </a:tc>
                <a:tc>
                  <a:txBody>
                    <a:bodyPr/>
                    <a:lstStyle/>
                    <a:p>
                      <a:pPr indent="0" marL="0">
                        <a:buNone/>
                      </a:pPr>
                      <a:r>
                        <a:rPr lang="en-US" sz="1300" dirty="0">
                          <a:solidFill>
                            <a:srgbClr val="FFFFFF"/>
                          </a:solidFill>
                        </a:rPr>
                        <a:t>Majoritet (kontroll over selskapet)</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1C2F60"/>
                    </a:solidFill>
                  </a:tcPr>
                </a:tc>
              </a:tr>
              <a:tr h="548640">
                <a:tc>
                  <a:txBody>
                    <a:bodyPr/>
                    <a:lstStyle/>
                    <a:p>
                      <a:pPr indent="0" marL="0">
                        <a:buNone/>
                      </a:pPr>
                      <a:r>
                        <a:rPr lang="en-US" sz="1300" b="1" dirty="0">
                          <a:solidFill>
                            <a:srgbClr val="C3CAE0"/>
                          </a:solidFill>
                        </a:rPr>
                        <a:t>Finansiering</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0F1E42"/>
                    </a:solidFill>
                  </a:tcPr>
                </a:tc>
                <a:tc>
                  <a:txBody>
                    <a:bodyPr/>
                    <a:lstStyle/>
                    <a:p>
                      <a:pPr indent="0" marL="0">
                        <a:buNone/>
                      </a:pPr>
                      <a:r>
                        <a:rPr lang="en-US" sz="1300" dirty="0">
                          <a:solidFill>
                            <a:srgbClr val="FFFFFF"/>
                          </a:solidFill>
                        </a:rPr>
                        <a:t>Egenkapital</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1C2F60"/>
                    </a:solidFill>
                  </a:tcPr>
                </a:tc>
                <a:tc>
                  <a:txBody>
                    <a:bodyPr/>
                    <a:lstStyle/>
                    <a:p>
                      <a:pPr indent="0" marL="0">
                        <a:buNone/>
                      </a:pPr>
                      <a:r>
                        <a:rPr lang="en-US" sz="1300" dirty="0">
                          <a:solidFill>
                            <a:srgbClr val="FFFFFF"/>
                          </a:solidFill>
                        </a:rPr>
                        <a:t>Egenkapital + mye gjeld (LBO)</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1C2F60"/>
                    </a:solidFill>
                  </a:tcPr>
                </a:tc>
              </a:tr>
              <a:tr h="640080">
                <a:tc>
                  <a:txBody>
                    <a:bodyPr/>
                    <a:lstStyle/>
                    <a:p>
                      <a:pPr indent="0" marL="0">
                        <a:buNone/>
                      </a:pPr>
                      <a:r>
                        <a:rPr lang="en-US" sz="1300" b="1" dirty="0">
                          <a:solidFill>
                            <a:srgbClr val="C3CAE0"/>
                          </a:solidFill>
                        </a:rPr>
                        <a:t>Strategi</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0F1E42"/>
                    </a:solidFill>
                  </a:tcPr>
                </a:tc>
                <a:tc>
                  <a:txBody>
                    <a:bodyPr/>
                    <a:lstStyle/>
                    <a:p>
                      <a:pPr indent="0" marL="0">
                        <a:buNone/>
                      </a:pPr>
                      <a:r>
                        <a:rPr lang="en-US" sz="1300" dirty="0">
                          <a:solidFill>
                            <a:srgbClr val="FFFFFF"/>
                          </a:solidFill>
                        </a:rPr>
                        <a:t>Mange små veddemål – noen få må bli store vinnere</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1C2F60"/>
                    </a:solidFill>
                  </a:tcPr>
                </a:tc>
                <a:tc>
                  <a:txBody>
                    <a:bodyPr/>
                    <a:lstStyle/>
                    <a:p>
                      <a:pPr indent="0" marL="0">
                        <a:buNone/>
                      </a:pPr>
                      <a:r>
                        <a:rPr lang="en-US" sz="1300" dirty="0">
                          <a:solidFill>
                            <a:srgbClr val="FFFFFF"/>
                          </a:solidFill>
                        </a:rPr>
                        <a:t>Forbedre drift, vokse og selge etter 3–7 år</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1C2F60"/>
                    </a:solidFill>
                  </a:tcPr>
                </a:tc>
              </a:tr>
              <a:tr h="548640">
                <a:tc>
                  <a:txBody>
                    <a:bodyPr/>
                    <a:lstStyle/>
                    <a:p>
                      <a:pPr indent="0" marL="0">
                        <a:buNone/>
                      </a:pPr>
                      <a:r>
                        <a:rPr lang="en-US" sz="1300" b="1" dirty="0">
                          <a:solidFill>
                            <a:srgbClr val="C3CAE0"/>
                          </a:solidFill>
                        </a:rPr>
                        <a:t>Norske eksempler</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0F1E42"/>
                    </a:solidFill>
                  </a:tcPr>
                </a:tc>
                <a:tc>
                  <a:txBody>
                    <a:bodyPr/>
                    <a:lstStyle/>
                    <a:p>
                      <a:pPr indent="0" marL="0">
                        <a:buNone/>
                      </a:pPr>
                      <a:r>
                        <a:rPr lang="en-US" sz="1300" dirty="0">
                          <a:solidFill>
                            <a:srgbClr val="FFFFFF"/>
                          </a:solidFill>
                        </a:rPr>
                        <a:t>Investinor, Alliance Venture, Nysnø</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1C2F60"/>
                    </a:solidFill>
                  </a:tcPr>
                </a:tc>
                <a:tc>
                  <a:txBody>
                    <a:bodyPr/>
                    <a:lstStyle/>
                    <a:p>
                      <a:pPr indent="0" marL="0">
                        <a:buNone/>
                      </a:pPr>
                      <a:r>
                        <a:rPr lang="en-US" sz="1300" dirty="0">
                          <a:solidFill>
                            <a:srgbClr val="FFFFFF"/>
                          </a:solidFill>
                        </a:rPr>
                        <a:t>FSN Capital, Altor, Summa Equity, Herkules</a:t>
                      </a:r>
                      <a:endParaRPr lang="en-US" sz="1300" dirty="0"/>
                    </a:p>
                  </a:txBody>
                  <a:tcPr marL="137160" marR="137160" marT="54864" marB="54864" anchor="ctr">
                    <a:lnL w="0" cap="flat" cmpd="sng" algn="ctr">
                      <a:noFill/>
                    </a:lnL>
                    <a:lnR w="0" cap="flat" cmpd="sng" algn="ctr">
                      <a:noFill/>
                    </a:lnR>
                    <a:lnT w="25400" cap="flat" cmpd="sng" algn="ctr">
                      <a:solidFill>
                        <a:srgbClr val="0F1E42"/>
                      </a:solidFill>
                      <a:prstDash val="solid"/>
                      <a:round/>
                      <a:headEnd type="none" w="med" len="med"/>
                      <a:tailEnd type="none" w="med" len="med"/>
                    </a:lnT>
                    <a:lnB w="25400" cap="flat" cmpd="sng" algn="ctr">
                      <a:solidFill>
                        <a:srgbClr val="0F1E42"/>
                      </a:solidFill>
                      <a:prstDash val="solid"/>
                      <a:round/>
                      <a:headEnd type="none" w="med" len="med"/>
                      <a:tailEnd type="none" w="med" len="med"/>
                    </a:lnB>
                    <a:solidFill>
                      <a:srgbClr val="1C2F60"/>
                    </a:solidFill>
                  </a:tcPr>
                </a:tc>
              </a:tr>
            </a:tbl>
          </a:graphicData>
        </a:graphic>
      </p:graphicFrame>
      <p:sp>
        <p:nvSpPr>
          <p:cNvPr id="5" name="Shape 2"/>
          <p:cNvSpPr/>
          <p:nvPr/>
        </p:nvSpPr>
        <p:spPr>
          <a:xfrm>
            <a:off x="548640" y="5440680"/>
            <a:ext cx="11064240" cy="731520"/>
          </a:xfrm>
          <a:prstGeom prst="roundRect">
            <a:avLst>
              <a:gd name="adj" fmla="val 10000"/>
            </a:avLst>
          </a:prstGeom>
          <a:solidFill>
            <a:schemeClr val="accent3"/>
          </a:solidFill>
          <a:ln/>
        </p:spPr>
      </p:sp>
      <p:pic>
        <p:nvPicPr>
          <p:cNvPr id="6" name="Image 0" descr="preencoded.png">    </p:cNvPr>
          <p:cNvPicPr>
            <a:picLocks noChangeAspect="1"/>
          </p:cNvPicPr>
          <p:nvPr/>
        </p:nvPicPr>
        <p:blipFill>
          <a:blip r:embed="rId1"/>
          <a:stretch>
            <a:fillRect/>
          </a:stretch>
        </p:blipFill>
        <p:spPr>
          <a:xfrm>
            <a:off x="777240" y="5605272"/>
            <a:ext cx="384048" cy="384048"/>
          </a:xfrm>
          <a:prstGeom prst="rect">
            <a:avLst/>
          </a:prstGeom>
        </p:spPr>
      </p:pic>
      <p:sp>
        <p:nvSpPr>
          <p:cNvPr id="7" name="Text 3"/>
          <p:cNvSpPr txBox="1"/>
          <p:nvPr/>
        </p:nvSpPr>
        <p:spPr>
          <a:xfrm>
            <a:off x="1371600" y="5440680"/>
            <a:ext cx="10058400" cy="731520"/>
          </a:xfrm>
          <a:prstGeom prst="rect">
            <a:avLst/>
          </a:prstGeom>
          <a:noFill/>
          <a:ln/>
        </p:spPr>
        <p:txBody>
          <a:bodyPr wrap="square" lIns="0" tIns="0" rIns="0" bIns="0" rtlCol="0" anchor="ctr"/>
          <a:lstStyle/>
          <a:p>
            <a:pPr indent="0" marL="0">
              <a:buNone/>
            </a:pPr>
            <a:r>
              <a:rPr lang="en-US" sz="1300" b="1" dirty="0">
                <a:solidFill>
                  <a:schemeClr val="accent1"/>
                </a:solidFill>
              </a:rPr>
              <a:t>Fondsmodellen: </a:t>
            </a:r>
            <a:pPr indent="0" marL="0">
              <a:buNone/>
            </a:pPr>
            <a:r>
              <a:rPr lang="en-US" sz="1300" dirty="0">
                <a:solidFill>
                  <a:schemeClr val="tx1"/>
                </a:solidFill>
              </a:rPr>
              <a:t>Investorer (LP-er: pensjonsfond, forsikringsselskaper, stiftelser) legger penger i fondet. Forvalteren (GP) investerer og får en andel av gevinsten (carry).</a:t>
            </a:r>
            <a:endParaRPr lang="en-US" sz="13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ANDRE PÅ BUYSIDE</a:t>
            </a:r>
            <a:endParaRPr lang="en-US" sz="3200" dirty="0"/>
          </a:p>
        </p:txBody>
      </p:sp>
      <p:sp>
        <p:nvSpPr>
          <p:cNvPr id="3" name="Text 1"/>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700" dirty="0">
                <a:solidFill>
                  <a:schemeClr val="tx2"/>
                </a:solidFill>
              </a:rPr>
              <a:t>Buyside er mer enn PE og VC – de største pengene ligger hos forvalterne.</a:t>
            </a:r>
            <a:endParaRPr lang="en-US" sz="1700" dirty="0"/>
          </a:p>
        </p:txBody>
      </p:sp>
      <p:sp>
        <p:nvSpPr>
          <p:cNvPr id="4" name="Shape 2"/>
          <p:cNvSpPr/>
          <p:nvPr/>
        </p:nvSpPr>
        <p:spPr>
          <a:xfrm>
            <a:off x="548640" y="1874520"/>
            <a:ext cx="5440680" cy="1874520"/>
          </a:xfrm>
          <a:prstGeom prst="roundRect">
            <a:avLst>
              <a:gd name="adj" fmla="val 3902"/>
            </a:avLst>
          </a:prstGeom>
          <a:solidFill>
            <a:schemeClr val="bg2"/>
          </a:solidFill>
          <a:ln/>
        </p:spPr>
      </p:sp>
      <p:pic>
        <p:nvPicPr>
          <p:cNvPr id="5" name="Image 0" descr="preencoded.png">    </p:cNvPr>
          <p:cNvPicPr>
            <a:picLocks noChangeAspect="1"/>
          </p:cNvPicPr>
          <p:nvPr/>
        </p:nvPicPr>
        <p:blipFill>
          <a:blip r:embed="rId1"/>
          <a:stretch>
            <a:fillRect/>
          </a:stretch>
        </p:blipFill>
        <p:spPr>
          <a:xfrm>
            <a:off x="822960" y="2148840"/>
            <a:ext cx="457200" cy="457200"/>
          </a:xfrm>
          <a:prstGeom prst="rect">
            <a:avLst/>
          </a:prstGeom>
        </p:spPr>
      </p:pic>
      <p:sp>
        <p:nvSpPr>
          <p:cNvPr id="6" name="Text 3"/>
          <p:cNvSpPr txBox="1"/>
          <p:nvPr/>
        </p:nvSpPr>
        <p:spPr>
          <a:xfrm>
            <a:off x="1463040" y="2148840"/>
            <a:ext cx="4343400" cy="457200"/>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STATLIGE FOND</a:t>
            </a:r>
            <a:endParaRPr lang="en-US" sz="1700" dirty="0"/>
          </a:p>
        </p:txBody>
      </p:sp>
      <p:sp>
        <p:nvSpPr>
          <p:cNvPr id="7" name="Text 4"/>
          <p:cNvSpPr txBox="1"/>
          <p:nvPr/>
        </p:nvSpPr>
        <p:spPr>
          <a:xfrm>
            <a:off x="822960" y="2743200"/>
            <a:ext cx="4892040" cy="502920"/>
          </a:xfrm>
          <a:prstGeom prst="rect">
            <a:avLst/>
          </a:prstGeom>
          <a:noFill/>
          <a:ln/>
        </p:spPr>
        <p:txBody>
          <a:bodyPr wrap="square" lIns="0" tIns="0" rIns="0" bIns="0" rtlCol="0" anchor="t"/>
          <a:lstStyle/>
          <a:p>
            <a:pPr indent="0" marL="0">
              <a:buNone/>
            </a:pPr>
            <a:r>
              <a:rPr lang="en-US" sz="1300" dirty="0">
                <a:solidFill>
                  <a:schemeClr val="tx2"/>
                </a:solidFill>
              </a:rPr>
              <a:t>Forvalter statens penger i aksjer og obligasjoner over hele verden.</a:t>
            </a:r>
            <a:endParaRPr lang="en-US" sz="1300" dirty="0"/>
          </a:p>
        </p:txBody>
      </p:sp>
      <p:sp>
        <p:nvSpPr>
          <p:cNvPr id="8" name="Text 5"/>
          <p:cNvSpPr txBox="1"/>
          <p:nvPr/>
        </p:nvSpPr>
        <p:spPr>
          <a:xfrm>
            <a:off x="822960" y="3246120"/>
            <a:ext cx="4892040" cy="365760"/>
          </a:xfrm>
          <a:prstGeom prst="rect">
            <a:avLst/>
          </a:prstGeom>
          <a:noFill/>
          <a:ln/>
        </p:spPr>
        <p:txBody>
          <a:bodyPr wrap="square" lIns="0" tIns="0" rIns="0" bIns="0" rtlCol="0" anchor="t"/>
          <a:lstStyle/>
          <a:p>
            <a:pPr indent="0" marL="0">
              <a:buNone/>
            </a:pPr>
            <a:r>
              <a:rPr lang="en-US" sz="1300" i="1" dirty="0">
                <a:solidFill>
                  <a:schemeClr val="accent1"/>
                </a:solidFill>
              </a:rPr>
              <a:t>NBIM (Oljefondet), Folketrygdfondet</a:t>
            </a:r>
            <a:endParaRPr lang="en-US" sz="1300" dirty="0"/>
          </a:p>
        </p:txBody>
      </p:sp>
      <p:sp>
        <p:nvSpPr>
          <p:cNvPr id="9" name="Shape 6"/>
          <p:cNvSpPr/>
          <p:nvPr/>
        </p:nvSpPr>
        <p:spPr>
          <a:xfrm>
            <a:off x="6172200" y="1874520"/>
            <a:ext cx="5440680" cy="1874520"/>
          </a:xfrm>
          <a:prstGeom prst="roundRect">
            <a:avLst>
              <a:gd name="adj" fmla="val 3902"/>
            </a:avLst>
          </a:prstGeom>
          <a:solidFill>
            <a:schemeClr val="bg2"/>
          </a:solidFill>
          <a:ln/>
        </p:spPr>
      </p:sp>
      <p:pic>
        <p:nvPicPr>
          <p:cNvPr id="10" name="Image 1" descr="preencoded.png">    </p:cNvPr>
          <p:cNvPicPr>
            <a:picLocks noChangeAspect="1"/>
          </p:cNvPicPr>
          <p:nvPr/>
        </p:nvPicPr>
        <p:blipFill>
          <a:blip r:embed="rId2"/>
          <a:stretch>
            <a:fillRect/>
          </a:stretch>
        </p:blipFill>
        <p:spPr>
          <a:xfrm>
            <a:off x="6446520" y="2148840"/>
            <a:ext cx="457200" cy="457200"/>
          </a:xfrm>
          <a:prstGeom prst="rect">
            <a:avLst/>
          </a:prstGeom>
        </p:spPr>
      </p:pic>
      <p:sp>
        <p:nvSpPr>
          <p:cNvPr id="11" name="Text 7"/>
          <p:cNvSpPr txBox="1"/>
          <p:nvPr/>
        </p:nvSpPr>
        <p:spPr>
          <a:xfrm>
            <a:off x="7086600" y="2148840"/>
            <a:ext cx="4343400" cy="457200"/>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PENSJON OG FORSIKRING</a:t>
            </a:r>
            <a:endParaRPr lang="en-US" sz="1700" dirty="0"/>
          </a:p>
        </p:txBody>
      </p:sp>
      <p:sp>
        <p:nvSpPr>
          <p:cNvPr id="12" name="Text 8"/>
          <p:cNvSpPr txBox="1"/>
          <p:nvPr/>
        </p:nvSpPr>
        <p:spPr>
          <a:xfrm>
            <a:off x="6446520" y="2743200"/>
            <a:ext cx="4892040" cy="502920"/>
          </a:xfrm>
          <a:prstGeom prst="rect">
            <a:avLst/>
          </a:prstGeom>
          <a:noFill/>
          <a:ln/>
        </p:spPr>
        <p:txBody>
          <a:bodyPr wrap="square" lIns="0" tIns="0" rIns="0" bIns="0" rtlCol="0" anchor="t"/>
          <a:lstStyle/>
          <a:p>
            <a:pPr indent="0" marL="0">
              <a:buNone/>
            </a:pPr>
            <a:r>
              <a:rPr lang="en-US" sz="1300" dirty="0">
                <a:solidFill>
                  <a:schemeClr val="tx2"/>
                </a:solidFill>
              </a:rPr>
              <a:t>Investerer pensjonssparing langsiktig og trygt.</a:t>
            </a:r>
            <a:endParaRPr lang="en-US" sz="1300" dirty="0"/>
          </a:p>
        </p:txBody>
      </p:sp>
      <p:sp>
        <p:nvSpPr>
          <p:cNvPr id="13" name="Text 9"/>
          <p:cNvSpPr txBox="1"/>
          <p:nvPr/>
        </p:nvSpPr>
        <p:spPr>
          <a:xfrm>
            <a:off x="6446520" y="3246120"/>
            <a:ext cx="4892040" cy="365760"/>
          </a:xfrm>
          <a:prstGeom prst="rect">
            <a:avLst/>
          </a:prstGeom>
          <a:noFill/>
          <a:ln/>
        </p:spPr>
        <p:txBody>
          <a:bodyPr wrap="square" lIns="0" tIns="0" rIns="0" bIns="0" rtlCol="0" anchor="t"/>
          <a:lstStyle/>
          <a:p>
            <a:pPr indent="0" marL="0">
              <a:buNone/>
            </a:pPr>
            <a:r>
              <a:rPr lang="en-US" sz="1300" i="1" dirty="0">
                <a:solidFill>
                  <a:schemeClr val="accent1"/>
                </a:solidFill>
              </a:rPr>
              <a:t>KLP, Storebrand, Gjensidige</a:t>
            </a:r>
            <a:endParaRPr lang="en-US" sz="1300" dirty="0"/>
          </a:p>
        </p:txBody>
      </p:sp>
      <p:sp>
        <p:nvSpPr>
          <p:cNvPr id="14" name="Shape 10"/>
          <p:cNvSpPr/>
          <p:nvPr/>
        </p:nvSpPr>
        <p:spPr>
          <a:xfrm>
            <a:off x="548640" y="3931920"/>
            <a:ext cx="5440680" cy="1874520"/>
          </a:xfrm>
          <a:prstGeom prst="roundRect">
            <a:avLst>
              <a:gd name="adj" fmla="val 3902"/>
            </a:avLst>
          </a:prstGeom>
          <a:solidFill>
            <a:schemeClr val="bg2"/>
          </a:solidFill>
          <a:ln/>
        </p:spPr>
      </p:sp>
      <p:pic>
        <p:nvPicPr>
          <p:cNvPr id="15" name="Image 2" descr="preencoded.png">    </p:cNvPr>
          <p:cNvPicPr>
            <a:picLocks noChangeAspect="1"/>
          </p:cNvPicPr>
          <p:nvPr/>
        </p:nvPicPr>
        <p:blipFill>
          <a:blip r:embed="rId3"/>
          <a:stretch>
            <a:fillRect/>
          </a:stretch>
        </p:blipFill>
        <p:spPr>
          <a:xfrm>
            <a:off x="822960" y="4206240"/>
            <a:ext cx="457200" cy="457200"/>
          </a:xfrm>
          <a:prstGeom prst="rect">
            <a:avLst/>
          </a:prstGeom>
        </p:spPr>
      </p:pic>
      <p:sp>
        <p:nvSpPr>
          <p:cNvPr id="16" name="Text 11"/>
          <p:cNvSpPr txBox="1"/>
          <p:nvPr/>
        </p:nvSpPr>
        <p:spPr>
          <a:xfrm>
            <a:off x="1463040" y="4206240"/>
            <a:ext cx="4343400" cy="457200"/>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AKSJEFOND / KAPITALFORVALTERE</a:t>
            </a:r>
            <a:endParaRPr lang="en-US" sz="1700" dirty="0"/>
          </a:p>
        </p:txBody>
      </p:sp>
      <p:sp>
        <p:nvSpPr>
          <p:cNvPr id="17" name="Text 12"/>
          <p:cNvSpPr txBox="1"/>
          <p:nvPr/>
        </p:nvSpPr>
        <p:spPr>
          <a:xfrm>
            <a:off x="822960" y="4800600"/>
            <a:ext cx="4892040" cy="502920"/>
          </a:xfrm>
          <a:prstGeom prst="rect">
            <a:avLst/>
          </a:prstGeom>
          <a:noFill/>
          <a:ln/>
        </p:spPr>
        <p:txBody>
          <a:bodyPr wrap="square" lIns="0" tIns="0" rIns="0" bIns="0" rtlCol="0" anchor="t"/>
          <a:lstStyle/>
          <a:p>
            <a:pPr indent="0" marL="0">
              <a:buNone/>
            </a:pPr>
            <a:r>
              <a:rPr lang="en-US" sz="1300" dirty="0">
                <a:solidFill>
                  <a:schemeClr val="tx2"/>
                </a:solidFill>
              </a:rPr>
              <a:t>Samler sparepenger fra mange og investerer i børsnoterte selskaper.</a:t>
            </a:r>
            <a:endParaRPr lang="en-US" sz="1300" dirty="0"/>
          </a:p>
        </p:txBody>
      </p:sp>
      <p:sp>
        <p:nvSpPr>
          <p:cNvPr id="18" name="Text 13"/>
          <p:cNvSpPr txBox="1"/>
          <p:nvPr/>
        </p:nvSpPr>
        <p:spPr>
          <a:xfrm>
            <a:off x="822960" y="5303520"/>
            <a:ext cx="4892040" cy="365760"/>
          </a:xfrm>
          <a:prstGeom prst="rect">
            <a:avLst/>
          </a:prstGeom>
          <a:noFill/>
          <a:ln/>
        </p:spPr>
        <p:txBody>
          <a:bodyPr wrap="square" lIns="0" tIns="0" rIns="0" bIns="0" rtlCol="0" anchor="t"/>
          <a:lstStyle/>
          <a:p>
            <a:pPr indent="0" marL="0">
              <a:buNone/>
            </a:pPr>
            <a:r>
              <a:rPr lang="en-US" sz="1300" i="1" dirty="0">
                <a:solidFill>
                  <a:schemeClr val="accent1"/>
                </a:solidFill>
              </a:rPr>
              <a:t>ODIN, DNB Asset Management, Skagen</a:t>
            </a:r>
            <a:endParaRPr lang="en-US" sz="1300" dirty="0"/>
          </a:p>
        </p:txBody>
      </p:sp>
      <p:sp>
        <p:nvSpPr>
          <p:cNvPr id="19" name="Shape 14"/>
          <p:cNvSpPr/>
          <p:nvPr/>
        </p:nvSpPr>
        <p:spPr>
          <a:xfrm>
            <a:off x="6172200" y="3931920"/>
            <a:ext cx="5440680" cy="1874520"/>
          </a:xfrm>
          <a:prstGeom prst="roundRect">
            <a:avLst>
              <a:gd name="adj" fmla="val 3902"/>
            </a:avLst>
          </a:prstGeom>
          <a:solidFill>
            <a:schemeClr val="bg2"/>
          </a:solidFill>
          <a:ln/>
        </p:spPr>
      </p:sp>
      <p:pic>
        <p:nvPicPr>
          <p:cNvPr id="20" name="Image 3" descr="preencoded.png">    </p:cNvPr>
          <p:cNvPicPr>
            <a:picLocks noChangeAspect="1"/>
          </p:cNvPicPr>
          <p:nvPr/>
        </p:nvPicPr>
        <p:blipFill>
          <a:blip r:embed="rId4"/>
          <a:stretch>
            <a:fillRect/>
          </a:stretch>
        </p:blipFill>
        <p:spPr>
          <a:xfrm>
            <a:off x="6446520" y="4206240"/>
            <a:ext cx="457200" cy="457200"/>
          </a:xfrm>
          <a:prstGeom prst="rect">
            <a:avLst/>
          </a:prstGeom>
        </p:spPr>
      </p:pic>
      <p:sp>
        <p:nvSpPr>
          <p:cNvPr id="21" name="Text 15"/>
          <p:cNvSpPr txBox="1"/>
          <p:nvPr/>
        </p:nvSpPr>
        <p:spPr>
          <a:xfrm>
            <a:off x="7086600" y="4206240"/>
            <a:ext cx="4343400" cy="457200"/>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HEDGEFOND OG FAMILY OFFICES</a:t>
            </a:r>
            <a:endParaRPr lang="en-US" sz="1700" dirty="0"/>
          </a:p>
        </p:txBody>
      </p:sp>
      <p:sp>
        <p:nvSpPr>
          <p:cNvPr id="22" name="Text 16"/>
          <p:cNvSpPr txBox="1"/>
          <p:nvPr/>
        </p:nvSpPr>
        <p:spPr>
          <a:xfrm>
            <a:off x="6446520" y="4800600"/>
            <a:ext cx="4892040" cy="502920"/>
          </a:xfrm>
          <a:prstGeom prst="rect">
            <a:avLst/>
          </a:prstGeom>
          <a:noFill/>
          <a:ln/>
        </p:spPr>
        <p:txBody>
          <a:bodyPr wrap="square" lIns="0" tIns="0" rIns="0" bIns="0" rtlCol="0" anchor="t"/>
          <a:lstStyle/>
          <a:p>
            <a:pPr indent="0" marL="0">
              <a:buNone/>
            </a:pPr>
            <a:r>
              <a:rPr lang="en-US" sz="1300" dirty="0">
                <a:solidFill>
                  <a:schemeClr val="tx2"/>
                </a:solidFill>
              </a:rPr>
              <a:t>Mer aktive strategier, eller forvaltning av formuen til en familie.</a:t>
            </a:r>
            <a:endParaRPr lang="en-US" sz="1300" dirty="0"/>
          </a:p>
        </p:txBody>
      </p:sp>
      <p:sp>
        <p:nvSpPr>
          <p:cNvPr id="23" name="Text 17"/>
          <p:cNvSpPr txBox="1"/>
          <p:nvPr/>
        </p:nvSpPr>
        <p:spPr>
          <a:xfrm>
            <a:off x="6446520" y="5303520"/>
            <a:ext cx="4892040" cy="365760"/>
          </a:xfrm>
          <a:prstGeom prst="rect">
            <a:avLst/>
          </a:prstGeom>
          <a:noFill/>
          <a:ln/>
        </p:spPr>
        <p:txBody>
          <a:bodyPr wrap="square" lIns="0" tIns="0" rIns="0" bIns="0" rtlCol="0" anchor="t"/>
          <a:lstStyle/>
          <a:p>
            <a:pPr indent="0" marL="0">
              <a:buNone/>
            </a:pPr>
            <a:r>
              <a:rPr lang="en-US" sz="1300" i="1" dirty="0">
                <a:solidFill>
                  <a:schemeClr val="accent1"/>
                </a:solidFill>
              </a:rPr>
              <a:t>F.eks. investeringsselskapene til kjente norske familier</a:t>
            </a:r>
            <a:endParaRPr lang="en-US" sz="13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ALT HENGER SAMMEN</a:t>
            </a:r>
            <a:endParaRPr lang="en-US" sz="3200" dirty="0"/>
          </a:p>
        </p:txBody>
      </p:sp>
      <p:sp>
        <p:nvSpPr>
          <p:cNvPr id="3" name="Text 1"/>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700" dirty="0">
                <a:solidFill>
                  <a:schemeClr val="tx2"/>
                </a:solidFill>
              </a:rPr>
              <a:t>Ett selskap kan møte hele bransjen i løpet av livet sitt.</a:t>
            </a:r>
            <a:endParaRPr lang="en-US" sz="1700" dirty="0"/>
          </a:p>
        </p:txBody>
      </p:sp>
      <p:sp>
        <p:nvSpPr>
          <p:cNvPr id="4" name="Shape 2"/>
          <p:cNvSpPr/>
          <p:nvPr/>
        </p:nvSpPr>
        <p:spPr>
          <a:xfrm>
            <a:off x="1463040" y="2651760"/>
            <a:ext cx="274320" cy="228600"/>
          </a:xfrm>
          <a:prstGeom prst="rect">
            <a:avLst/>
          </a:prstGeom>
          <a:solidFill>
            <a:schemeClr val="accent3"/>
          </a:solidFill>
          <a:ln/>
        </p:spPr>
      </p:sp>
      <p:sp>
        <p:nvSpPr>
          <p:cNvPr id="5" name="Shape 3"/>
          <p:cNvSpPr/>
          <p:nvPr/>
        </p:nvSpPr>
        <p:spPr>
          <a:xfrm>
            <a:off x="548640" y="3017520"/>
            <a:ext cx="2103120" cy="2194560"/>
          </a:xfrm>
          <a:prstGeom prst="roundRect">
            <a:avLst>
              <a:gd name="adj" fmla="val 3478"/>
            </a:avLst>
          </a:prstGeom>
          <a:solidFill>
            <a:schemeClr val="bg2"/>
          </a:solidFill>
          <a:ln/>
        </p:spPr>
      </p:sp>
      <p:pic>
        <p:nvPicPr>
          <p:cNvPr id="6" name="Image 0" descr="preencoded.png">    </p:cNvPr>
          <p:cNvPicPr>
            <a:picLocks noChangeAspect="1"/>
          </p:cNvPicPr>
          <p:nvPr/>
        </p:nvPicPr>
        <p:blipFill>
          <a:blip r:embed="rId1"/>
          <a:stretch>
            <a:fillRect/>
          </a:stretch>
        </p:blipFill>
        <p:spPr>
          <a:xfrm>
            <a:off x="777240" y="3200400"/>
            <a:ext cx="384048" cy="384048"/>
          </a:xfrm>
          <a:prstGeom prst="rect">
            <a:avLst/>
          </a:prstGeom>
        </p:spPr>
      </p:pic>
      <p:sp>
        <p:nvSpPr>
          <p:cNvPr id="7" name="Shape 4"/>
          <p:cNvSpPr/>
          <p:nvPr/>
        </p:nvSpPr>
        <p:spPr>
          <a:xfrm>
            <a:off x="1737360" y="3218688"/>
            <a:ext cx="713232" cy="347472"/>
          </a:xfrm>
          <a:prstGeom prst="roundRect">
            <a:avLst>
              <a:gd name="adj" fmla="val 50000"/>
            </a:avLst>
          </a:prstGeom>
          <a:solidFill>
            <a:schemeClr val="accent1"/>
          </a:solidFill>
          <a:ln/>
        </p:spPr>
      </p:sp>
      <p:sp>
        <p:nvSpPr>
          <p:cNvPr id="8" name="Text 5"/>
          <p:cNvSpPr txBox="1"/>
          <p:nvPr/>
        </p:nvSpPr>
        <p:spPr>
          <a:xfrm>
            <a:off x="1737360" y="3218688"/>
            <a:ext cx="713232"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VC</a:t>
            </a:r>
            <a:endParaRPr lang="en-US" sz="1200" dirty="0"/>
          </a:p>
        </p:txBody>
      </p:sp>
      <p:sp>
        <p:nvSpPr>
          <p:cNvPr id="9" name="Text 6"/>
          <p:cNvSpPr txBox="1"/>
          <p:nvPr/>
        </p:nvSpPr>
        <p:spPr>
          <a:xfrm>
            <a:off x="777240" y="3749040"/>
            <a:ext cx="173736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OPPSTART</a:t>
            </a:r>
            <a:endParaRPr lang="en-US" sz="1500" dirty="0"/>
          </a:p>
        </p:txBody>
      </p:sp>
      <p:sp>
        <p:nvSpPr>
          <p:cNvPr id="10" name="Text 7"/>
          <p:cNvSpPr txBox="1"/>
          <p:nvPr/>
        </p:nvSpPr>
        <p:spPr>
          <a:xfrm>
            <a:off x="777240" y="4114800"/>
            <a:ext cx="1691640" cy="1005840"/>
          </a:xfrm>
          <a:prstGeom prst="rect">
            <a:avLst/>
          </a:prstGeom>
          <a:noFill/>
          <a:ln/>
        </p:spPr>
        <p:txBody>
          <a:bodyPr wrap="square" lIns="0" tIns="0" rIns="0" bIns="0" rtlCol="0" anchor="t"/>
          <a:lstStyle/>
          <a:p>
            <a:pPr indent="0" marL="0">
              <a:buNone/>
            </a:pPr>
            <a:r>
              <a:rPr lang="en-US" sz="1300" dirty="0">
                <a:solidFill>
                  <a:schemeClr val="tx2"/>
                </a:solidFill>
              </a:rPr>
              <a:t>Gründere henter penger fra VC</a:t>
            </a:r>
            <a:endParaRPr lang="en-US" sz="1300" dirty="0"/>
          </a:p>
        </p:txBody>
      </p:sp>
      <p:sp>
        <p:nvSpPr>
          <p:cNvPr id="11" name="Shape 8"/>
          <p:cNvSpPr/>
          <p:nvPr/>
        </p:nvSpPr>
        <p:spPr>
          <a:xfrm>
            <a:off x="3703320" y="2450592"/>
            <a:ext cx="274320" cy="429768"/>
          </a:xfrm>
          <a:prstGeom prst="rect">
            <a:avLst/>
          </a:prstGeom>
          <a:solidFill>
            <a:schemeClr val="accent3"/>
          </a:solidFill>
          <a:ln/>
        </p:spPr>
      </p:sp>
      <p:sp>
        <p:nvSpPr>
          <p:cNvPr id="12" name="Shape 9"/>
          <p:cNvSpPr/>
          <p:nvPr/>
        </p:nvSpPr>
        <p:spPr>
          <a:xfrm>
            <a:off x="2788920" y="3017520"/>
            <a:ext cx="2103120" cy="2194560"/>
          </a:xfrm>
          <a:prstGeom prst="roundRect">
            <a:avLst>
              <a:gd name="adj" fmla="val 3478"/>
            </a:avLst>
          </a:prstGeom>
          <a:solidFill>
            <a:schemeClr val="bg2"/>
          </a:solidFill>
          <a:ln/>
        </p:spPr>
      </p:sp>
      <p:pic>
        <p:nvPicPr>
          <p:cNvPr id="13" name="Image 1" descr="preencoded.png">    </p:cNvPr>
          <p:cNvPicPr>
            <a:picLocks noChangeAspect="1"/>
          </p:cNvPicPr>
          <p:nvPr/>
        </p:nvPicPr>
        <p:blipFill>
          <a:blip r:embed="rId2"/>
          <a:stretch>
            <a:fillRect/>
          </a:stretch>
        </p:blipFill>
        <p:spPr>
          <a:xfrm>
            <a:off x="3017520" y="3200400"/>
            <a:ext cx="384048" cy="384048"/>
          </a:xfrm>
          <a:prstGeom prst="rect">
            <a:avLst/>
          </a:prstGeom>
        </p:spPr>
      </p:pic>
      <p:sp>
        <p:nvSpPr>
          <p:cNvPr id="14" name="Shape 10"/>
          <p:cNvSpPr/>
          <p:nvPr/>
        </p:nvSpPr>
        <p:spPr>
          <a:xfrm>
            <a:off x="3977640" y="3218688"/>
            <a:ext cx="713232" cy="347472"/>
          </a:xfrm>
          <a:prstGeom prst="roundRect">
            <a:avLst>
              <a:gd name="adj" fmla="val 50000"/>
            </a:avLst>
          </a:prstGeom>
          <a:solidFill>
            <a:schemeClr val="accent1"/>
          </a:solidFill>
          <a:ln/>
        </p:spPr>
      </p:sp>
      <p:sp>
        <p:nvSpPr>
          <p:cNvPr id="15" name="Text 11"/>
          <p:cNvSpPr txBox="1"/>
          <p:nvPr/>
        </p:nvSpPr>
        <p:spPr>
          <a:xfrm>
            <a:off x="3977640" y="3218688"/>
            <a:ext cx="713232"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PE</a:t>
            </a:r>
            <a:endParaRPr lang="en-US" sz="1200" dirty="0"/>
          </a:p>
        </p:txBody>
      </p:sp>
      <p:sp>
        <p:nvSpPr>
          <p:cNvPr id="16" name="Text 12"/>
          <p:cNvSpPr txBox="1"/>
          <p:nvPr/>
        </p:nvSpPr>
        <p:spPr>
          <a:xfrm>
            <a:off x="3017520" y="3749040"/>
            <a:ext cx="173736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VEKST</a:t>
            </a:r>
            <a:endParaRPr lang="en-US" sz="1500" dirty="0"/>
          </a:p>
        </p:txBody>
      </p:sp>
      <p:sp>
        <p:nvSpPr>
          <p:cNvPr id="17" name="Text 13"/>
          <p:cNvSpPr txBox="1"/>
          <p:nvPr/>
        </p:nvSpPr>
        <p:spPr>
          <a:xfrm>
            <a:off x="3017520" y="4114800"/>
            <a:ext cx="1691640" cy="1005840"/>
          </a:xfrm>
          <a:prstGeom prst="rect">
            <a:avLst/>
          </a:prstGeom>
          <a:noFill/>
          <a:ln/>
        </p:spPr>
        <p:txBody>
          <a:bodyPr wrap="square" lIns="0" tIns="0" rIns="0" bIns="0" rtlCol="0" anchor="t"/>
          <a:lstStyle/>
          <a:p>
            <a:pPr indent="0" marL="0">
              <a:buNone/>
            </a:pPr>
            <a:r>
              <a:rPr lang="en-US" sz="1300" dirty="0">
                <a:solidFill>
                  <a:schemeClr val="tx2"/>
                </a:solidFill>
              </a:rPr>
              <a:t>PE-fond kjøper og utvikler selskapet</a:t>
            </a:r>
            <a:endParaRPr lang="en-US" sz="1300" dirty="0"/>
          </a:p>
        </p:txBody>
      </p:sp>
      <p:sp>
        <p:nvSpPr>
          <p:cNvPr id="18" name="Shape 14"/>
          <p:cNvSpPr/>
          <p:nvPr/>
        </p:nvSpPr>
        <p:spPr>
          <a:xfrm>
            <a:off x="5943600" y="2249424"/>
            <a:ext cx="274320" cy="630936"/>
          </a:xfrm>
          <a:prstGeom prst="rect">
            <a:avLst/>
          </a:prstGeom>
          <a:solidFill>
            <a:schemeClr val="accent3"/>
          </a:solidFill>
          <a:ln/>
        </p:spPr>
      </p:sp>
      <p:sp>
        <p:nvSpPr>
          <p:cNvPr id="19" name="Shape 15"/>
          <p:cNvSpPr/>
          <p:nvPr/>
        </p:nvSpPr>
        <p:spPr>
          <a:xfrm>
            <a:off x="5029200" y="3017520"/>
            <a:ext cx="2103120" cy="2194560"/>
          </a:xfrm>
          <a:prstGeom prst="roundRect">
            <a:avLst>
              <a:gd name="adj" fmla="val 3478"/>
            </a:avLst>
          </a:prstGeom>
          <a:solidFill>
            <a:schemeClr val="bg2"/>
          </a:solidFill>
          <a:ln/>
        </p:spPr>
      </p:sp>
      <p:pic>
        <p:nvPicPr>
          <p:cNvPr id="20" name="Image 2" descr="preencoded.png">    </p:cNvPr>
          <p:cNvPicPr>
            <a:picLocks noChangeAspect="1"/>
          </p:cNvPicPr>
          <p:nvPr/>
        </p:nvPicPr>
        <p:blipFill>
          <a:blip r:embed="rId3"/>
          <a:stretch>
            <a:fillRect/>
          </a:stretch>
        </p:blipFill>
        <p:spPr>
          <a:xfrm>
            <a:off x="5257800" y="3200400"/>
            <a:ext cx="384048" cy="384048"/>
          </a:xfrm>
          <a:prstGeom prst="rect">
            <a:avLst/>
          </a:prstGeom>
        </p:spPr>
      </p:pic>
      <p:sp>
        <p:nvSpPr>
          <p:cNvPr id="21" name="Shape 16"/>
          <p:cNvSpPr/>
          <p:nvPr/>
        </p:nvSpPr>
        <p:spPr>
          <a:xfrm>
            <a:off x="6217920" y="3218688"/>
            <a:ext cx="713232" cy="347472"/>
          </a:xfrm>
          <a:prstGeom prst="roundRect">
            <a:avLst>
              <a:gd name="adj" fmla="val 50000"/>
            </a:avLst>
          </a:prstGeom>
          <a:solidFill>
            <a:schemeClr val="accent1"/>
          </a:solidFill>
          <a:ln/>
        </p:spPr>
      </p:sp>
      <p:sp>
        <p:nvSpPr>
          <p:cNvPr id="22" name="Text 17"/>
          <p:cNvSpPr txBox="1"/>
          <p:nvPr/>
        </p:nvSpPr>
        <p:spPr>
          <a:xfrm>
            <a:off x="6217920" y="3218688"/>
            <a:ext cx="713232"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ECM</a:t>
            </a:r>
            <a:endParaRPr lang="en-US" sz="1200" dirty="0"/>
          </a:p>
        </p:txBody>
      </p:sp>
      <p:sp>
        <p:nvSpPr>
          <p:cNvPr id="23" name="Text 18"/>
          <p:cNvSpPr txBox="1"/>
          <p:nvPr/>
        </p:nvSpPr>
        <p:spPr>
          <a:xfrm>
            <a:off x="5257800" y="3749040"/>
            <a:ext cx="173736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BØRSNOTERING</a:t>
            </a:r>
            <a:endParaRPr lang="en-US" sz="1500" dirty="0"/>
          </a:p>
        </p:txBody>
      </p:sp>
      <p:sp>
        <p:nvSpPr>
          <p:cNvPr id="24" name="Text 19"/>
          <p:cNvSpPr txBox="1"/>
          <p:nvPr/>
        </p:nvSpPr>
        <p:spPr>
          <a:xfrm>
            <a:off x="5257800" y="4114800"/>
            <a:ext cx="1691640" cy="1005840"/>
          </a:xfrm>
          <a:prstGeom prst="rect">
            <a:avLst/>
          </a:prstGeom>
          <a:noFill/>
          <a:ln/>
        </p:spPr>
        <p:txBody>
          <a:bodyPr wrap="square" lIns="0" tIns="0" rIns="0" bIns="0" rtlCol="0" anchor="t"/>
          <a:lstStyle/>
          <a:p>
            <a:pPr indent="0" marL="0">
              <a:buNone/>
            </a:pPr>
            <a:r>
              <a:rPr lang="en-US" sz="1300" dirty="0">
                <a:solidFill>
                  <a:schemeClr val="tx2"/>
                </a:solidFill>
              </a:rPr>
              <a:t>Selskapet går på børs med en IPO</a:t>
            </a:r>
            <a:endParaRPr lang="en-US" sz="1300" dirty="0"/>
          </a:p>
        </p:txBody>
      </p:sp>
      <p:sp>
        <p:nvSpPr>
          <p:cNvPr id="25" name="Shape 20"/>
          <p:cNvSpPr/>
          <p:nvPr/>
        </p:nvSpPr>
        <p:spPr>
          <a:xfrm>
            <a:off x="8183880" y="2048256"/>
            <a:ext cx="274320" cy="832104"/>
          </a:xfrm>
          <a:prstGeom prst="rect">
            <a:avLst/>
          </a:prstGeom>
          <a:solidFill>
            <a:schemeClr val="accent3"/>
          </a:solidFill>
          <a:ln/>
        </p:spPr>
      </p:sp>
      <p:sp>
        <p:nvSpPr>
          <p:cNvPr id="26" name="Shape 21"/>
          <p:cNvSpPr/>
          <p:nvPr/>
        </p:nvSpPr>
        <p:spPr>
          <a:xfrm>
            <a:off x="7269480" y="3017520"/>
            <a:ext cx="2103120" cy="2194560"/>
          </a:xfrm>
          <a:prstGeom prst="roundRect">
            <a:avLst>
              <a:gd name="adj" fmla="val 3478"/>
            </a:avLst>
          </a:prstGeom>
          <a:solidFill>
            <a:schemeClr val="bg2"/>
          </a:solidFill>
          <a:ln/>
        </p:spPr>
      </p:sp>
      <p:pic>
        <p:nvPicPr>
          <p:cNvPr id="27" name="Image 3" descr="preencoded.png">    </p:cNvPr>
          <p:cNvPicPr>
            <a:picLocks noChangeAspect="1"/>
          </p:cNvPicPr>
          <p:nvPr/>
        </p:nvPicPr>
        <p:blipFill>
          <a:blip r:embed="rId4"/>
          <a:stretch>
            <a:fillRect/>
          </a:stretch>
        </p:blipFill>
        <p:spPr>
          <a:xfrm>
            <a:off x="7498080" y="3200400"/>
            <a:ext cx="384048" cy="384048"/>
          </a:xfrm>
          <a:prstGeom prst="rect">
            <a:avLst/>
          </a:prstGeom>
        </p:spPr>
      </p:pic>
      <p:sp>
        <p:nvSpPr>
          <p:cNvPr id="28" name="Shape 22"/>
          <p:cNvSpPr/>
          <p:nvPr/>
        </p:nvSpPr>
        <p:spPr>
          <a:xfrm>
            <a:off x="8458200" y="3218688"/>
            <a:ext cx="713232" cy="347472"/>
          </a:xfrm>
          <a:prstGeom prst="roundRect">
            <a:avLst>
              <a:gd name="adj" fmla="val 50000"/>
            </a:avLst>
          </a:prstGeom>
          <a:solidFill>
            <a:schemeClr val="accent1"/>
          </a:solidFill>
          <a:ln/>
        </p:spPr>
      </p:sp>
      <p:sp>
        <p:nvSpPr>
          <p:cNvPr id="29" name="Text 23"/>
          <p:cNvSpPr txBox="1"/>
          <p:nvPr/>
        </p:nvSpPr>
        <p:spPr>
          <a:xfrm>
            <a:off x="8458200" y="3218688"/>
            <a:ext cx="713232"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DCM</a:t>
            </a:r>
            <a:endParaRPr lang="en-US" sz="1200" dirty="0"/>
          </a:p>
        </p:txBody>
      </p:sp>
      <p:sp>
        <p:nvSpPr>
          <p:cNvPr id="30" name="Text 24"/>
          <p:cNvSpPr txBox="1"/>
          <p:nvPr/>
        </p:nvSpPr>
        <p:spPr>
          <a:xfrm>
            <a:off x="7498080" y="3749040"/>
            <a:ext cx="173736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LÅNER PENGER</a:t>
            </a:r>
            <a:endParaRPr lang="en-US" sz="1500" dirty="0"/>
          </a:p>
        </p:txBody>
      </p:sp>
      <p:sp>
        <p:nvSpPr>
          <p:cNvPr id="31" name="Text 25"/>
          <p:cNvSpPr txBox="1"/>
          <p:nvPr/>
        </p:nvSpPr>
        <p:spPr>
          <a:xfrm>
            <a:off x="7498080" y="4114800"/>
            <a:ext cx="1691640" cy="1005840"/>
          </a:xfrm>
          <a:prstGeom prst="rect">
            <a:avLst/>
          </a:prstGeom>
          <a:noFill/>
          <a:ln/>
        </p:spPr>
        <p:txBody>
          <a:bodyPr wrap="square" lIns="0" tIns="0" rIns="0" bIns="0" rtlCol="0" anchor="t"/>
          <a:lstStyle/>
          <a:p>
            <a:pPr indent="0" marL="0">
              <a:buNone/>
            </a:pPr>
            <a:r>
              <a:rPr lang="en-US" sz="1300" dirty="0">
                <a:solidFill>
                  <a:schemeClr val="tx2"/>
                </a:solidFill>
              </a:rPr>
              <a:t>Utsteder obligasjoner for å finansiere vekst</a:t>
            </a:r>
            <a:endParaRPr lang="en-US" sz="1300" dirty="0"/>
          </a:p>
        </p:txBody>
      </p:sp>
      <p:sp>
        <p:nvSpPr>
          <p:cNvPr id="32" name="Shape 26"/>
          <p:cNvSpPr/>
          <p:nvPr/>
        </p:nvSpPr>
        <p:spPr>
          <a:xfrm>
            <a:off x="10424160" y="1847088"/>
            <a:ext cx="274320" cy="1033272"/>
          </a:xfrm>
          <a:prstGeom prst="rect">
            <a:avLst/>
          </a:prstGeom>
          <a:solidFill>
            <a:schemeClr val="accent1"/>
          </a:solidFill>
          <a:ln/>
        </p:spPr>
      </p:sp>
      <p:sp>
        <p:nvSpPr>
          <p:cNvPr id="33" name="Shape 27"/>
          <p:cNvSpPr/>
          <p:nvPr/>
        </p:nvSpPr>
        <p:spPr>
          <a:xfrm>
            <a:off x="9509760" y="3017520"/>
            <a:ext cx="2103120" cy="2194560"/>
          </a:xfrm>
          <a:prstGeom prst="roundRect">
            <a:avLst>
              <a:gd name="adj" fmla="val 3478"/>
            </a:avLst>
          </a:prstGeom>
          <a:solidFill>
            <a:schemeClr val="bg2"/>
          </a:solidFill>
          <a:ln/>
        </p:spPr>
      </p:sp>
      <p:pic>
        <p:nvPicPr>
          <p:cNvPr id="34" name="Image 4" descr="preencoded.png">    </p:cNvPr>
          <p:cNvPicPr>
            <a:picLocks noChangeAspect="1"/>
          </p:cNvPicPr>
          <p:nvPr/>
        </p:nvPicPr>
        <p:blipFill>
          <a:blip r:embed="rId5"/>
          <a:stretch>
            <a:fillRect/>
          </a:stretch>
        </p:blipFill>
        <p:spPr>
          <a:xfrm>
            <a:off x="9738360" y="3200400"/>
            <a:ext cx="384048" cy="384048"/>
          </a:xfrm>
          <a:prstGeom prst="rect">
            <a:avLst/>
          </a:prstGeom>
        </p:spPr>
      </p:pic>
      <p:sp>
        <p:nvSpPr>
          <p:cNvPr id="35" name="Shape 28"/>
          <p:cNvSpPr/>
          <p:nvPr/>
        </p:nvSpPr>
        <p:spPr>
          <a:xfrm>
            <a:off x="10698480" y="3218688"/>
            <a:ext cx="713232" cy="347472"/>
          </a:xfrm>
          <a:prstGeom prst="roundRect">
            <a:avLst>
              <a:gd name="adj" fmla="val 50000"/>
            </a:avLst>
          </a:prstGeom>
          <a:solidFill>
            <a:schemeClr val="accent1"/>
          </a:solidFill>
          <a:ln/>
        </p:spPr>
      </p:sp>
      <p:sp>
        <p:nvSpPr>
          <p:cNvPr id="36" name="Text 29"/>
          <p:cNvSpPr txBox="1"/>
          <p:nvPr/>
        </p:nvSpPr>
        <p:spPr>
          <a:xfrm>
            <a:off x="10698480" y="3218688"/>
            <a:ext cx="713232"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M&amp;A</a:t>
            </a:r>
            <a:endParaRPr lang="en-US" sz="1200" dirty="0"/>
          </a:p>
        </p:txBody>
      </p:sp>
      <p:sp>
        <p:nvSpPr>
          <p:cNvPr id="37" name="Text 30"/>
          <p:cNvSpPr txBox="1"/>
          <p:nvPr/>
        </p:nvSpPr>
        <p:spPr>
          <a:xfrm>
            <a:off x="9738360" y="3749040"/>
            <a:ext cx="1737360" cy="36576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OPPKJØP</a:t>
            </a:r>
            <a:endParaRPr lang="en-US" sz="1500" dirty="0"/>
          </a:p>
        </p:txBody>
      </p:sp>
      <p:sp>
        <p:nvSpPr>
          <p:cNvPr id="38" name="Text 31"/>
          <p:cNvSpPr txBox="1"/>
          <p:nvPr/>
        </p:nvSpPr>
        <p:spPr>
          <a:xfrm>
            <a:off x="9738360" y="4114800"/>
            <a:ext cx="1691640" cy="1005840"/>
          </a:xfrm>
          <a:prstGeom prst="rect">
            <a:avLst/>
          </a:prstGeom>
          <a:noFill/>
          <a:ln/>
        </p:spPr>
        <p:txBody>
          <a:bodyPr wrap="square" lIns="0" tIns="0" rIns="0" bIns="0" rtlCol="0" anchor="t"/>
          <a:lstStyle/>
          <a:p>
            <a:pPr indent="0" marL="0">
              <a:buNone/>
            </a:pPr>
            <a:r>
              <a:rPr lang="en-US" sz="1300" dirty="0">
                <a:solidFill>
                  <a:schemeClr val="tx2"/>
                </a:solidFill>
              </a:rPr>
              <a:t>Kjøper et annet selskap, eller blir kjøpt</a:t>
            </a:r>
            <a:endParaRPr lang="en-US" sz="1300" dirty="0"/>
          </a:p>
        </p:txBody>
      </p:sp>
      <p:sp>
        <p:nvSpPr>
          <p:cNvPr id="39" name="Shape 32"/>
          <p:cNvSpPr/>
          <p:nvPr/>
        </p:nvSpPr>
        <p:spPr>
          <a:xfrm>
            <a:off x="548640" y="5440680"/>
            <a:ext cx="11064240" cy="731520"/>
          </a:xfrm>
          <a:prstGeom prst="roundRect">
            <a:avLst>
              <a:gd name="adj" fmla="val 10000"/>
            </a:avLst>
          </a:prstGeom>
          <a:solidFill>
            <a:schemeClr val="accent3"/>
          </a:solidFill>
          <a:ln/>
        </p:spPr>
      </p:sp>
      <p:pic>
        <p:nvPicPr>
          <p:cNvPr id="40" name="Image 5" descr="preencoded.png">    </p:cNvPr>
          <p:cNvPicPr>
            <a:picLocks noChangeAspect="1"/>
          </p:cNvPicPr>
          <p:nvPr/>
        </p:nvPicPr>
        <p:blipFill>
          <a:blip r:embed="rId6"/>
          <a:stretch>
            <a:fillRect/>
          </a:stretch>
        </p:blipFill>
        <p:spPr>
          <a:xfrm>
            <a:off x="777240" y="5605272"/>
            <a:ext cx="384048" cy="384048"/>
          </a:xfrm>
          <a:prstGeom prst="rect">
            <a:avLst/>
          </a:prstGeom>
        </p:spPr>
      </p:pic>
      <p:sp>
        <p:nvSpPr>
          <p:cNvPr id="41" name="Text 33"/>
          <p:cNvSpPr txBox="1"/>
          <p:nvPr/>
        </p:nvSpPr>
        <p:spPr>
          <a:xfrm>
            <a:off x="1371600" y="5440680"/>
            <a:ext cx="10058400" cy="731520"/>
          </a:xfrm>
          <a:prstGeom prst="rect">
            <a:avLst/>
          </a:prstGeom>
          <a:noFill/>
          <a:ln/>
        </p:spPr>
        <p:txBody>
          <a:bodyPr wrap="square" lIns="0" tIns="0" rIns="0" bIns="0" rtlCol="0" anchor="ctr"/>
          <a:lstStyle/>
          <a:p>
            <a:pPr indent="0" marL="0">
              <a:buNone/>
            </a:pPr>
            <a:r>
              <a:rPr lang="en-US" sz="1400" b="1" dirty="0">
                <a:solidFill>
                  <a:schemeClr val="accent1"/>
                </a:solidFill>
              </a:rPr>
              <a:t>I hvert steg: </a:t>
            </a:r>
            <a:pPr indent="0" marL="0">
              <a:buNone/>
            </a:pPr>
            <a:r>
              <a:rPr lang="en-US" sz="1400" dirty="0">
                <a:solidFill>
                  <a:schemeClr val="tx1"/>
                </a:solidFill>
              </a:rPr>
              <a:t>noen må verdsette selskapet – med multipler og DCF – og analytikere på begge sider gjør jobben.</a:t>
            </a:r>
            <a:endParaRPr lang="en-US" sz="14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548640" y="411480"/>
            <a:ext cx="1005840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mj-lt" pitchFamily="34" charset="0"/>
                <a:ea typeface="+mj-lt" pitchFamily="34" charset="-122"/>
                <a:cs typeface="+mj-lt" pitchFamily="34" charset="-120"/>
              </a:rPr>
              <a:t>ORDLISTE</a:t>
            </a:r>
            <a:endParaRPr lang="en-US" sz="3200" dirty="0"/>
          </a:p>
        </p:txBody>
      </p:sp>
      <p:sp>
        <p:nvSpPr>
          <p:cNvPr id="3" name="Shape 1"/>
          <p:cNvSpPr/>
          <p:nvPr/>
        </p:nvSpPr>
        <p:spPr>
          <a:xfrm>
            <a:off x="548640" y="1371600"/>
            <a:ext cx="3566160" cy="786384"/>
          </a:xfrm>
          <a:prstGeom prst="roundRect">
            <a:avLst>
              <a:gd name="adj" fmla="val 9302"/>
            </a:avLst>
          </a:prstGeom>
          <a:solidFill>
            <a:schemeClr val="bg2"/>
          </a:solidFill>
          <a:ln/>
        </p:spPr>
      </p:sp>
      <p:sp>
        <p:nvSpPr>
          <p:cNvPr id="4" name="Text 2"/>
          <p:cNvSpPr txBox="1"/>
          <p:nvPr/>
        </p:nvSpPr>
        <p:spPr>
          <a:xfrm>
            <a:off x="777240" y="14447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Aksje</a:t>
            </a:r>
            <a:endParaRPr lang="en-US" sz="1500" dirty="0"/>
          </a:p>
        </p:txBody>
      </p:sp>
      <p:sp>
        <p:nvSpPr>
          <p:cNvPr id="5" name="Text 3"/>
          <p:cNvSpPr txBox="1"/>
          <p:nvPr/>
        </p:nvSpPr>
        <p:spPr>
          <a:xfrm>
            <a:off x="777240" y="1764792"/>
            <a:ext cx="3200400" cy="347472"/>
          </a:xfrm>
          <a:prstGeom prst="rect">
            <a:avLst/>
          </a:prstGeom>
          <a:noFill/>
          <a:ln/>
        </p:spPr>
        <p:txBody>
          <a:bodyPr wrap="square" lIns="0" tIns="0" rIns="0" bIns="0" rtlCol="0" anchor="t"/>
          <a:lstStyle/>
          <a:p>
            <a:pPr indent="0" marL="0">
              <a:buNone/>
            </a:pPr>
            <a:r>
              <a:rPr lang="en-US" sz="1200" dirty="0">
                <a:solidFill>
                  <a:schemeClr val="tx2"/>
                </a:solidFill>
              </a:rPr>
              <a:t>Eierandel i et selskap</a:t>
            </a:r>
            <a:endParaRPr lang="en-US" sz="1200" dirty="0"/>
          </a:p>
        </p:txBody>
      </p:sp>
      <p:sp>
        <p:nvSpPr>
          <p:cNvPr id="6" name="Shape 4"/>
          <p:cNvSpPr/>
          <p:nvPr/>
        </p:nvSpPr>
        <p:spPr>
          <a:xfrm>
            <a:off x="4297680" y="1371600"/>
            <a:ext cx="3566160" cy="786384"/>
          </a:xfrm>
          <a:prstGeom prst="roundRect">
            <a:avLst>
              <a:gd name="adj" fmla="val 9302"/>
            </a:avLst>
          </a:prstGeom>
          <a:solidFill>
            <a:schemeClr val="bg2"/>
          </a:solidFill>
          <a:ln/>
        </p:spPr>
      </p:sp>
      <p:sp>
        <p:nvSpPr>
          <p:cNvPr id="7" name="Text 5"/>
          <p:cNvSpPr txBox="1"/>
          <p:nvPr/>
        </p:nvSpPr>
        <p:spPr>
          <a:xfrm>
            <a:off x="4526280" y="14447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Obligasjon</a:t>
            </a:r>
            <a:endParaRPr lang="en-US" sz="1500" dirty="0"/>
          </a:p>
        </p:txBody>
      </p:sp>
      <p:sp>
        <p:nvSpPr>
          <p:cNvPr id="8" name="Text 6"/>
          <p:cNvSpPr txBox="1"/>
          <p:nvPr/>
        </p:nvSpPr>
        <p:spPr>
          <a:xfrm>
            <a:off x="4526280" y="1764792"/>
            <a:ext cx="3200400" cy="347472"/>
          </a:xfrm>
          <a:prstGeom prst="rect">
            <a:avLst/>
          </a:prstGeom>
          <a:noFill/>
          <a:ln/>
        </p:spPr>
        <p:txBody>
          <a:bodyPr wrap="square" lIns="0" tIns="0" rIns="0" bIns="0" rtlCol="0" anchor="t"/>
          <a:lstStyle/>
          <a:p>
            <a:pPr indent="0" marL="0">
              <a:buNone/>
            </a:pPr>
            <a:r>
              <a:rPr lang="en-US" sz="1200" dirty="0">
                <a:solidFill>
                  <a:schemeClr val="tx2"/>
                </a:solidFill>
              </a:rPr>
              <a:t>Et lån som kan kjøpes og selges</a:t>
            </a:r>
            <a:endParaRPr lang="en-US" sz="1200" dirty="0"/>
          </a:p>
        </p:txBody>
      </p:sp>
      <p:sp>
        <p:nvSpPr>
          <p:cNvPr id="9" name="Shape 7"/>
          <p:cNvSpPr/>
          <p:nvPr/>
        </p:nvSpPr>
        <p:spPr>
          <a:xfrm>
            <a:off x="8046720" y="1371600"/>
            <a:ext cx="3566160" cy="786384"/>
          </a:xfrm>
          <a:prstGeom prst="roundRect">
            <a:avLst>
              <a:gd name="adj" fmla="val 9302"/>
            </a:avLst>
          </a:prstGeom>
          <a:solidFill>
            <a:schemeClr val="bg2"/>
          </a:solidFill>
          <a:ln/>
        </p:spPr>
      </p:sp>
      <p:sp>
        <p:nvSpPr>
          <p:cNvPr id="10" name="Text 8"/>
          <p:cNvSpPr txBox="1"/>
          <p:nvPr/>
        </p:nvSpPr>
        <p:spPr>
          <a:xfrm>
            <a:off x="8275320" y="14447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Kupong</a:t>
            </a:r>
            <a:endParaRPr lang="en-US" sz="1500" dirty="0"/>
          </a:p>
        </p:txBody>
      </p:sp>
      <p:sp>
        <p:nvSpPr>
          <p:cNvPr id="11" name="Text 9"/>
          <p:cNvSpPr txBox="1"/>
          <p:nvPr/>
        </p:nvSpPr>
        <p:spPr>
          <a:xfrm>
            <a:off x="8275320" y="1764792"/>
            <a:ext cx="3200400" cy="347472"/>
          </a:xfrm>
          <a:prstGeom prst="rect">
            <a:avLst/>
          </a:prstGeom>
          <a:noFill/>
          <a:ln/>
        </p:spPr>
        <p:txBody>
          <a:bodyPr wrap="square" lIns="0" tIns="0" rIns="0" bIns="0" rtlCol="0" anchor="t"/>
          <a:lstStyle/>
          <a:p>
            <a:pPr indent="0" marL="0">
              <a:buNone/>
            </a:pPr>
            <a:r>
              <a:rPr lang="en-US" sz="1200" dirty="0">
                <a:solidFill>
                  <a:schemeClr val="tx2"/>
                </a:solidFill>
              </a:rPr>
              <a:t>Renten på en obligasjon</a:t>
            </a:r>
            <a:endParaRPr lang="en-US" sz="1200" dirty="0"/>
          </a:p>
        </p:txBody>
      </p:sp>
      <p:sp>
        <p:nvSpPr>
          <p:cNvPr id="12" name="Shape 10"/>
          <p:cNvSpPr/>
          <p:nvPr/>
        </p:nvSpPr>
        <p:spPr>
          <a:xfrm>
            <a:off x="548640" y="2286000"/>
            <a:ext cx="3566160" cy="786384"/>
          </a:xfrm>
          <a:prstGeom prst="roundRect">
            <a:avLst>
              <a:gd name="adj" fmla="val 9302"/>
            </a:avLst>
          </a:prstGeom>
          <a:solidFill>
            <a:schemeClr val="bg2"/>
          </a:solidFill>
          <a:ln/>
        </p:spPr>
      </p:sp>
      <p:sp>
        <p:nvSpPr>
          <p:cNvPr id="13" name="Text 11"/>
          <p:cNvSpPr txBox="1"/>
          <p:nvPr/>
        </p:nvSpPr>
        <p:spPr>
          <a:xfrm>
            <a:off x="777240" y="23591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Markedsverdi</a:t>
            </a:r>
            <a:endParaRPr lang="en-US" sz="1500" dirty="0"/>
          </a:p>
        </p:txBody>
      </p:sp>
      <p:sp>
        <p:nvSpPr>
          <p:cNvPr id="14" name="Text 12"/>
          <p:cNvSpPr txBox="1"/>
          <p:nvPr/>
        </p:nvSpPr>
        <p:spPr>
          <a:xfrm>
            <a:off x="777240" y="2679192"/>
            <a:ext cx="3200400" cy="347472"/>
          </a:xfrm>
          <a:prstGeom prst="rect">
            <a:avLst/>
          </a:prstGeom>
          <a:noFill/>
          <a:ln/>
        </p:spPr>
        <p:txBody>
          <a:bodyPr wrap="square" lIns="0" tIns="0" rIns="0" bIns="0" rtlCol="0" anchor="t"/>
          <a:lstStyle/>
          <a:p>
            <a:pPr indent="0" marL="0">
              <a:buNone/>
            </a:pPr>
            <a:r>
              <a:rPr lang="en-US" sz="1200" dirty="0">
                <a:solidFill>
                  <a:schemeClr val="tx2"/>
                </a:solidFill>
              </a:rPr>
              <a:t>Aksjekurs × antall aksjer</a:t>
            </a:r>
            <a:endParaRPr lang="en-US" sz="1200" dirty="0"/>
          </a:p>
        </p:txBody>
      </p:sp>
      <p:sp>
        <p:nvSpPr>
          <p:cNvPr id="15" name="Shape 13"/>
          <p:cNvSpPr/>
          <p:nvPr/>
        </p:nvSpPr>
        <p:spPr>
          <a:xfrm>
            <a:off x="4297680" y="2286000"/>
            <a:ext cx="3566160" cy="786384"/>
          </a:xfrm>
          <a:prstGeom prst="roundRect">
            <a:avLst>
              <a:gd name="adj" fmla="val 9302"/>
            </a:avLst>
          </a:prstGeom>
          <a:solidFill>
            <a:schemeClr val="bg2"/>
          </a:solidFill>
          <a:ln/>
        </p:spPr>
      </p:sp>
      <p:sp>
        <p:nvSpPr>
          <p:cNvPr id="16" name="Text 14"/>
          <p:cNvSpPr txBox="1"/>
          <p:nvPr/>
        </p:nvSpPr>
        <p:spPr>
          <a:xfrm>
            <a:off x="4526280" y="23591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EV</a:t>
            </a:r>
            <a:endParaRPr lang="en-US" sz="1500" dirty="0"/>
          </a:p>
        </p:txBody>
      </p:sp>
      <p:sp>
        <p:nvSpPr>
          <p:cNvPr id="17" name="Text 15"/>
          <p:cNvSpPr txBox="1"/>
          <p:nvPr/>
        </p:nvSpPr>
        <p:spPr>
          <a:xfrm>
            <a:off x="4526280" y="2679192"/>
            <a:ext cx="3200400" cy="347472"/>
          </a:xfrm>
          <a:prstGeom prst="rect">
            <a:avLst/>
          </a:prstGeom>
          <a:noFill/>
          <a:ln/>
        </p:spPr>
        <p:txBody>
          <a:bodyPr wrap="square" lIns="0" tIns="0" rIns="0" bIns="0" rtlCol="0" anchor="t"/>
          <a:lstStyle/>
          <a:p>
            <a:pPr indent="0" marL="0">
              <a:buNone/>
            </a:pPr>
            <a:r>
              <a:rPr lang="en-US" sz="1200" dirty="0">
                <a:solidFill>
                  <a:schemeClr val="tx2"/>
                </a:solidFill>
              </a:rPr>
              <a:t>Verdien av hele selskapet (EK + netto gjeld)</a:t>
            </a:r>
            <a:endParaRPr lang="en-US" sz="1200" dirty="0"/>
          </a:p>
        </p:txBody>
      </p:sp>
      <p:sp>
        <p:nvSpPr>
          <p:cNvPr id="18" name="Shape 16"/>
          <p:cNvSpPr/>
          <p:nvPr/>
        </p:nvSpPr>
        <p:spPr>
          <a:xfrm>
            <a:off x="8046720" y="2286000"/>
            <a:ext cx="3566160" cy="786384"/>
          </a:xfrm>
          <a:prstGeom prst="roundRect">
            <a:avLst>
              <a:gd name="adj" fmla="val 9302"/>
            </a:avLst>
          </a:prstGeom>
          <a:solidFill>
            <a:schemeClr val="bg2"/>
          </a:solidFill>
          <a:ln/>
        </p:spPr>
      </p:sp>
      <p:sp>
        <p:nvSpPr>
          <p:cNvPr id="19" name="Text 17"/>
          <p:cNvSpPr txBox="1"/>
          <p:nvPr/>
        </p:nvSpPr>
        <p:spPr>
          <a:xfrm>
            <a:off x="8275320" y="23591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EBITDA</a:t>
            </a:r>
            <a:endParaRPr lang="en-US" sz="1500" dirty="0"/>
          </a:p>
        </p:txBody>
      </p:sp>
      <p:sp>
        <p:nvSpPr>
          <p:cNvPr id="20" name="Text 18"/>
          <p:cNvSpPr txBox="1"/>
          <p:nvPr/>
        </p:nvSpPr>
        <p:spPr>
          <a:xfrm>
            <a:off x="8275320" y="2679192"/>
            <a:ext cx="3200400" cy="347472"/>
          </a:xfrm>
          <a:prstGeom prst="rect">
            <a:avLst/>
          </a:prstGeom>
          <a:noFill/>
          <a:ln/>
        </p:spPr>
        <p:txBody>
          <a:bodyPr wrap="square" lIns="0" tIns="0" rIns="0" bIns="0" rtlCol="0" anchor="t"/>
          <a:lstStyle/>
          <a:p>
            <a:pPr indent="0" marL="0">
              <a:buNone/>
            </a:pPr>
            <a:r>
              <a:rPr lang="en-US" sz="1200" dirty="0">
                <a:solidFill>
                  <a:schemeClr val="tx2"/>
                </a:solidFill>
              </a:rPr>
              <a:t>Driftsresultat før av- og nedskrivninger</a:t>
            </a:r>
            <a:endParaRPr lang="en-US" sz="1200" dirty="0"/>
          </a:p>
        </p:txBody>
      </p:sp>
      <p:sp>
        <p:nvSpPr>
          <p:cNvPr id="21" name="Shape 19"/>
          <p:cNvSpPr/>
          <p:nvPr/>
        </p:nvSpPr>
        <p:spPr>
          <a:xfrm>
            <a:off x="548640" y="3200400"/>
            <a:ext cx="3566160" cy="786384"/>
          </a:xfrm>
          <a:prstGeom prst="roundRect">
            <a:avLst>
              <a:gd name="adj" fmla="val 9302"/>
            </a:avLst>
          </a:prstGeom>
          <a:solidFill>
            <a:schemeClr val="bg2"/>
          </a:solidFill>
          <a:ln/>
        </p:spPr>
      </p:sp>
      <p:sp>
        <p:nvSpPr>
          <p:cNvPr id="22" name="Text 20"/>
          <p:cNvSpPr txBox="1"/>
          <p:nvPr/>
        </p:nvSpPr>
        <p:spPr>
          <a:xfrm>
            <a:off x="777240" y="32735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Multippel</a:t>
            </a:r>
            <a:endParaRPr lang="en-US" sz="1500" dirty="0"/>
          </a:p>
        </p:txBody>
      </p:sp>
      <p:sp>
        <p:nvSpPr>
          <p:cNvPr id="23" name="Text 21"/>
          <p:cNvSpPr txBox="1"/>
          <p:nvPr/>
        </p:nvSpPr>
        <p:spPr>
          <a:xfrm>
            <a:off x="777240" y="3593592"/>
            <a:ext cx="3200400" cy="347472"/>
          </a:xfrm>
          <a:prstGeom prst="rect">
            <a:avLst/>
          </a:prstGeom>
          <a:noFill/>
          <a:ln/>
        </p:spPr>
        <p:txBody>
          <a:bodyPr wrap="square" lIns="0" tIns="0" rIns="0" bIns="0" rtlCol="0" anchor="t"/>
          <a:lstStyle/>
          <a:p>
            <a:pPr indent="0" marL="0">
              <a:buNone/>
            </a:pPr>
            <a:r>
              <a:rPr lang="en-US" sz="1200" dirty="0">
                <a:solidFill>
                  <a:schemeClr val="tx2"/>
                </a:solidFill>
              </a:rPr>
              <a:t>Verdi delt på et nøkkeltall, f.eks. EV/EBITDA</a:t>
            </a:r>
            <a:endParaRPr lang="en-US" sz="1200" dirty="0"/>
          </a:p>
        </p:txBody>
      </p:sp>
      <p:sp>
        <p:nvSpPr>
          <p:cNvPr id="24" name="Shape 22"/>
          <p:cNvSpPr/>
          <p:nvPr/>
        </p:nvSpPr>
        <p:spPr>
          <a:xfrm>
            <a:off x="4297680" y="3200400"/>
            <a:ext cx="3566160" cy="786384"/>
          </a:xfrm>
          <a:prstGeom prst="roundRect">
            <a:avLst>
              <a:gd name="adj" fmla="val 9302"/>
            </a:avLst>
          </a:prstGeom>
          <a:solidFill>
            <a:schemeClr val="bg2"/>
          </a:solidFill>
          <a:ln/>
        </p:spPr>
      </p:sp>
      <p:sp>
        <p:nvSpPr>
          <p:cNvPr id="25" name="Text 23"/>
          <p:cNvSpPr txBox="1"/>
          <p:nvPr/>
        </p:nvSpPr>
        <p:spPr>
          <a:xfrm>
            <a:off x="4526280" y="32735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DCF</a:t>
            </a:r>
            <a:endParaRPr lang="en-US" sz="1500" dirty="0"/>
          </a:p>
        </p:txBody>
      </p:sp>
      <p:sp>
        <p:nvSpPr>
          <p:cNvPr id="26" name="Text 24"/>
          <p:cNvSpPr txBox="1"/>
          <p:nvPr/>
        </p:nvSpPr>
        <p:spPr>
          <a:xfrm>
            <a:off x="4526280" y="3593592"/>
            <a:ext cx="3200400" cy="347472"/>
          </a:xfrm>
          <a:prstGeom prst="rect">
            <a:avLst/>
          </a:prstGeom>
          <a:noFill/>
          <a:ln/>
        </p:spPr>
        <p:txBody>
          <a:bodyPr wrap="square" lIns="0" tIns="0" rIns="0" bIns="0" rtlCol="0" anchor="t"/>
          <a:lstStyle/>
          <a:p>
            <a:pPr indent="0" marL="0">
              <a:buNone/>
            </a:pPr>
            <a:r>
              <a:rPr lang="en-US" sz="1200" dirty="0">
                <a:solidFill>
                  <a:schemeClr val="tx2"/>
                </a:solidFill>
              </a:rPr>
              <a:t>Fremtidige kontantstrømmer omregnet til dagens verdi</a:t>
            </a:r>
            <a:endParaRPr lang="en-US" sz="1200" dirty="0"/>
          </a:p>
        </p:txBody>
      </p:sp>
      <p:sp>
        <p:nvSpPr>
          <p:cNvPr id="27" name="Shape 25"/>
          <p:cNvSpPr/>
          <p:nvPr/>
        </p:nvSpPr>
        <p:spPr>
          <a:xfrm>
            <a:off x="8046720" y="3200400"/>
            <a:ext cx="3566160" cy="786384"/>
          </a:xfrm>
          <a:prstGeom prst="roundRect">
            <a:avLst>
              <a:gd name="adj" fmla="val 9302"/>
            </a:avLst>
          </a:prstGeom>
          <a:solidFill>
            <a:schemeClr val="bg2"/>
          </a:solidFill>
          <a:ln/>
        </p:spPr>
      </p:sp>
      <p:sp>
        <p:nvSpPr>
          <p:cNvPr id="28" name="Text 26"/>
          <p:cNvSpPr txBox="1"/>
          <p:nvPr/>
        </p:nvSpPr>
        <p:spPr>
          <a:xfrm>
            <a:off x="8275320" y="32735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IPO</a:t>
            </a:r>
            <a:endParaRPr lang="en-US" sz="1500" dirty="0"/>
          </a:p>
        </p:txBody>
      </p:sp>
      <p:sp>
        <p:nvSpPr>
          <p:cNvPr id="29" name="Text 27"/>
          <p:cNvSpPr txBox="1"/>
          <p:nvPr/>
        </p:nvSpPr>
        <p:spPr>
          <a:xfrm>
            <a:off x="8275320" y="3593592"/>
            <a:ext cx="3200400" cy="347472"/>
          </a:xfrm>
          <a:prstGeom prst="rect">
            <a:avLst/>
          </a:prstGeom>
          <a:noFill/>
          <a:ln/>
        </p:spPr>
        <p:txBody>
          <a:bodyPr wrap="square" lIns="0" tIns="0" rIns="0" bIns="0" rtlCol="0" anchor="t"/>
          <a:lstStyle/>
          <a:p>
            <a:pPr indent="0" marL="0">
              <a:buNone/>
            </a:pPr>
            <a:r>
              <a:rPr lang="en-US" sz="1200" dirty="0">
                <a:solidFill>
                  <a:schemeClr val="tx2"/>
                </a:solidFill>
              </a:rPr>
              <a:t>Første gang et selskap noteres på børs</a:t>
            </a:r>
            <a:endParaRPr lang="en-US" sz="1200" dirty="0"/>
          </a:p>
        </p:txBody>
      </p:sp>
      <p:sp>
        <p:nvSpPr>
          <p:cNvPr id="30" name="Shape 28"/>
          <p:cNvSpPr/>
          <p:nvPr/>
        </p:nvSpPr>
        <p:spPr>
          <a:xfrm>
            <a:off x="548640" y="4114800"/>
            <a:ext cx="3566160" cy="786384"/>
          </a:xfrm>
          <a:prstGeom prst="roundRect">
            <a:avLst>
              <a:gd name="adj" fmla="val 9302"/>
            </a:avLst>
          </a:prstGeom>
          <a:solidFill>
            <a:schemeClr val="bg2"/>
          </a:solidFill>
          <a:ln/>
        </p:spPr>
      </p:sp>
      <p:sp>
        <p:nvSpPr>
          <p:cNvPr id="31" name="Text 29"/>
          <p:cNvSpPr txBox="1"/>
          <p:nvPr/>
        </p:nvSpPr>
        <p:spPr>
          <a:xfrm>
            <a:off x="777240" y="41879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Emisjon</a:t>
            </a:r>
            <a:endParaRPr lang="en-US" sz="1500" dirty="0"/>
          </a:p>
        </p:txBody>
      </p:sp>
      <p:sp>
        <p:nvSpPr>
          <p:cNvPr id="32" name="Text 30"/>
          <p:cNvSpPr txBox="1"/>
          <p:nvPr/>
        </p:nvSpPr>
        <p:spPr>
          <a:xfrm>
            <a:off x="777240" y="4507992"/>
            <a:ext cx="3200400" cy="347472"/>
          </a:xfrm>
          <a:prstGeom prst="rect">
            <a:avLst/>
          </a:prstGeom>
          <a:noFill/>
          <a:ln/>
        </p:spPr>
        <p:txBody>
          <a:bodyPr wrap="square" lIns="0" tIns="0" rIns="0" bIns="0" rtlCol="0" anchor="t"/>
          <a:lstStyle/>
          <a:p>
            <a:pPr indent="0" marL="0">
              <a:buNone/>
            </a:pPr>
            <a:r>
              <a:rPr lang="en-US" sz="1200" dirty="0">
                <a:solidFill>
                  <a:schemeClr val="tx2"/>
                </a:solidFill>
              </a:rPr>
              <a:t>Selskapet utsteder nye aksjer</a:t>
            </a:r>
            <a:endParaRPr lang="en-US" sz="1200" dirty="0"/>
          </a:p>
        </p:txBody>
      </p:sp>
      <p:sp>
        <p:nvSpPr>
          <p:cNvPr id="33" name="Shape 31"/>
          <p:cNvSpPr/>
          <p:nvPr/>
        </p:nvSpPr>
        <p:spPr>
          <a:xfrm>
            <a:off x="4297680" y="4114800"/>
            <a:ext cx="3566160" cy="786384"/>
          </a:xfrm>
          <a:prstGeom prst="roundRect">
            <a:avLst>
              <a:gd name="adj" fmla="val 9302"/>
            </a:avLst>
          </a:prstGeom>
          <a:solidFill>
            <a:schemeClr val="bg2"/>
          </a:solidFill>
          <a:ln/>
        </p:spPr>
      </p:sp>
      <p:sp>
        <p:nvSpPr>
          <p:cNvPr id="34" name="Text 32"/>
          <p:cNvSpPr txBox="1"/>
          <p:nvPr/>
        </p:nvSpPr>
        <p:spPr>
          <a:xfrm>
            <a:off x="4526280" y="41879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Bookbuilding</a:t>
            </a:r>
            <a:endParaRPr lang="en-US" sz="1500" dirty="0"/>
          </a:p>
        </p:txBody>
      </p:sp>
      <p:sp>
        <p:nvSpPr>
          <p:cNvPr id="35" name="Text 33"/>
          <p:cNvSpPr txBox="1"/>
          <p:nvPr/>
        </p:nvSpPr>
        <p:spPr>
          <a:xfrm>
            <a:off x="4526280" y="4507992"/>
            <a:ext cx="3200400" cy="347472"/>
          </a:xfrm>
          <a:prstGeom prst="rect">
            <a:avLst/>
          </a:prstGeom>
          <a:noFill/>
          <a:ln/>
        </p:spPr>
        <p:txBody>
          <a:bodyPr wrap="square" lIns="0" tIns="0" rIns="0" bIns="0" rtlCol="0" anchor="t"/>
          <a:lstStyle/>
          <a:p>
            <a:pPr indent="0" marL="0">
              <a:buNone/>
            </a:pPr>
            <a:r>
              <a:rPr lang="en-US" sz="1200" dirty="0">
                <a:solidFill>
                  <a:schemeClr val="tx2"/>
                </a:solidFill>
              </a:rPr>
              <a:t>Innhenting av ordre fra investorer</a:t>
            </a:r>
            <a:endParaRPr lang="en-US" sz="1200" dirty="0"/>
          </a:p>
        </p:txBody>
      </p:sp>
      <p:sp>
        <p:nvSpPr>
          <p:cNvPr id="36" name="Shape 34"/>
          <p:cNvSpPr/>
          <p:nvPr/>
        </p:nvSpPr>
        <p:spPr>
          <a:xfrm>
            <a:off x="8046720" y="4114800"/>
            <a:ext cx="3566160" cy="786384"/>
          </a:xfrm>
          <a:prstGeom prst="roundRect">
            <a:avLst>
              <a:gd name="adj" fmla="val 9302"/>
            </a:avLst>
          </a:prstGeom>
          <a:solidFill>
            <a:schemeClr val="bg2"/>
          </a:solidFill>
          <a:ln/>
        </p:spPr>
      </p:sp>
      <p:sp>
        <p:nvSpPr>
          <p:cNvPr id="37" name="Text 35"/>
          <p:cNvSpPr txBox="1"/>
          <p:nvPr/>
        </p:nvSpPr>
        <p:spPr>
          <a:xfrm>
            <a:off x="8275320" y="41879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Due diligence</a:t>
            </a:r>
            <a:endParaRPr lang="en-US" sz="1500" dirty="0"/>
          </a:p>
        </p:txBody>
      </p:sp>
      <p:sp>
        <p:nvSpPr>
          <p:cNvPr id="38" name="Text 36"/>
          <p:cNvSpPr txBox="1"/>
          <p:nvPr/>
        </p:nvSpPr>
        <p:spPr>
          <a:xfrm>
            <a:off x="8275320" y="4507992"/>
            <a:ext cx="3200400" cy="347472"/>
          </a:xfrm>
          <a:prstGeom prst="rect">
            <a:avLst/>
          </a:prstGeom>
          <a:noFill/>
          <a:ln/>
        </p:spPr>
        <p:txBody>
          <a:bodyPr wrap="square" lIns="0" tIns="0" rIns="0" bIns="0" rtlCol="0" anchor="t"/>
          <a:lstStyle/>
          <a:p>
            <a:pPr indent="0" marL="0">
              <a:buNone/>
            </a:pPr>
            <a:r>
              <a:rPr lang="en-US" sz="1200" dirty="0">
                <a:solidFill>
                  <a:schemeClr val="tx2"/>
                </a:solidFill>
              </a:rPr>
              <a:t>Grundig gjennomgang før et kjøp</a:t>
            </a:r>
            <a:endParaRPr lang="en-US" sz="1200" dirty="0"/>
          </a:p>
        </p:txBody>
      </p:sp>
      <p:sp>
        <p:nvSpPr>
          <p:cNvPr id="39" name="Shape 37"/>
          <p:cNvSpPr/>
          <p:nvPr/>
        </p:nvSpPr>
        <p:spPr>
          <a:xfrm>
            <a:off x="548640" y="5029200"/>
            <a:ext cx="3566160" cy="786384"/>
          </a:xfrm>
          <a:prstGeom prst="roundRect">
            <a:avLst>
              <a:gd name="adj" fmla="val 9302"/>
            </a:avLst>
          </a:prstGeom>
          <a:solidFill>
            <a:schemeClr val="bg2"/>
          </a:solidFill>
          <a:ln/>
        </p:spPr>
      </p:sp>
      <p:sp>
        <p:nvSpPr>
          <p:cNvPr id="40" name="Text 38"/>
          <p:cNvSpPr txBox="1"/>
          <p:nvPr/>
        </p:nvSpPr>
        <p:spPr>
          <a:xfrm>
            <a:off x="777240" y="51023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LBO</a:t>
            </a:r>
            <a:endParaRPr lang="en-US" sz="1500" dirty="0"/>
          </a:p>
        </p:txBody>
      </p:sp>
      <p:sp>
        <p:nvSpPr>
          <p:cNvPr id="41" name="Text 39"/>
          <p:cNvSpPr txBox="1"/>
          <p:nvPr/>
        </p:nvSpPr>
        <p:spPr>
          <a:xfrm>
            <a:off x="777240" y="5422392"/>
            <a:ext cx="3200400" cy="347472"/>
          </a:xfrm>
          <a:prstGeom prst="rect">
            <a:avLst/>
          </a:prstGeom>
          <a:noFill/>
          <a:ln/>
        </p:spPr>
        <p:txBody>
          <a:bodyPr wrap="square" lIns="0" tIns="0" rIns="0" bIns="0" rtlCol="0" anchor="t"/>
          <a:lstStyle/>
          <a:p>
            <a:pPr indent="0" marL="0">
              <a:buNone/>
            </a:pPr>
            <a:r>
              <a:rPr lang="en-US" sz="1200" dirty="0">
                <a:solidFill>
                  <a:schemeClr val="tx2"/>
                </a:solidFill>
              </a:rPr>
              <a:t>Oppkjøp finansiert med mye gjeld</a:t>
            </a:r>
            <a:endParaRPr lang="en-US" sz="1200" dirty="0"/>
          </a:p>
        </p:txBody>
      </p:sp>
      <p:sp>
        <p:nvSpPr>
          <p:cNvPr id="42" name="Shape 40"/>
          <p:cNvSpPr/>
          <p:nvPr/>
        </p:nvSpPr>
        <p:spPr>
          <a:xfrm>
            <a:off x="4297680" y="5029200"/>
            <a:ext cx="3566160" cy="786384"/>
          </a:xfrm>
          <a:prstGeom prst="roundRect">
            <a:avLst>
              <a:gd name="adj" fmla="val 9302"/>
            </a:avLst>
          </a:prstGeom>
          <a:solidFill>
            <a:schemeClr val="bg2"/>
          </a:solidFill>
          <a:ln/>
        </p:spPr>
      </p:sp>
      <p:sp>
        <p:nvSpPr>
          <p:cNvPr id="43" name="Text 41"/>
          <p:cNvSpPr txBox="1"/>
          <p:nvPr/>
        </p:nvSpPr>
        <p:spPr>
          <a:xfrm>
            <a:off x="4526280" y="51023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Pitchbook</a:t>
            </a:r>
            <a:endParaRPr lang="en-US" sz="1500" dirty="0"/>
          </a:p>
        </p:txBody>
      </p:sp>
      <p:sp>
        <p:nvSpPr>
          <p:cNvPr id="44" name="Text 42"/>
          <p:cNvSpPr txBox="1"/>
          <p:nvPr/>
        </p:nvSpPr>
        <p:spPr>
          <a:xfrm>
            <a:off x="4526280" y="5422392"/>
            <a:ext cx="3200400" cy="347472"/>
          </a:xfrm>
          <a:prstGeom prst="rect">
            <a:avLst/>
          </a:prstGeom>
          <a:noFill/>
          <a:ln/>
        </p:spPr>
        <p:txBody>
          <a:bodyPr wrap="square" lIns="0" tIns="0" rIns="0" bIns="0" rtlCol="0" anchor="t"/>
          <a:lstStyle/>
          <a:p>
            <a:pPr indent="0" marL="0">
              <a:buNone/>
            </a:pPr>
            <a:r>
              <a:rPr lang="en-US" sz="1200" dirty="0">
                <a:solidFill>
                  <a:schemeClr val="tx2"/>
                </a:solidFill>
              </a:rPr>
              <a:t>Presentasjon banken bruker for å vinne oppdrag</a:t>
            </a:r>
            <a:endParaRPr lang="en-US" sz="1200" dirty="0"/>
          </a:p>
        </p:txBody>
      </p:sp>
      <p:sp>
        <p:nvSpPr>
          <p:cNvPr id="45" name="Shape 43"/>
          <p:cNvSpPr/>
          <p:nvPr/>
        </p:nvSpPr>
        <p:spPr>
          <a:xfrm>
            <a:off x="8046720" y="5029200"/>
            <a:ext cx="3566160" cy="786384"/>
          </a:xfrm>
          <a:prstGeom prst="roundRect">
            <a:avLst>
              <a:gd name="adj" fmla="val 9302"/>
            </a:avLst>
          </a:prstGeom>
          <a:solidFill>
            <a:schemeClr val="bg2"/>
          </a:solidFill>
          <a:ln/>
        </p:spPr>
      </p:sp>
      <p:sp>
        <p:nvSpPr>
          <p:cNvPr id="46" name="Text 44"/>
          <p:cNvSpPr txBox="1"/>
          <p:nvPr/>
        </p:nvSpPr>
        <p:spPr>
          <a:xfrm>
            <a:off x="8275320" y="5102352"/>
            <a:ext cx="3108960" cy="320040"/>
          </a:xfrm>
          <a:prstGeom prst="rect">
            <a:avLst/>
          </a:prstGeom>
          <a:noFill/>
          <a:ln/>
        </p:spPr>
        <p:txBody>
          <a:bodyPr wrap="square" lIns="0" tIns="0" rIns="0" bIns="0" rtlCol="0" anchor="t"/>
          <a:lstStyle/>
          <a:p>
            <a:pPr indent="0" marL="0">
              <a:buNone/>
            </a:pPr>
            <a:r>
              <a:rPr lang="en-US" sz="1500" b="1" dirty="0">
                <a:solidFill>
                  <a:schemeClr val="accent1"/>
                </a:solidFill>
                <a:latin typeface="+mj-lt" pitchFamily="34" charset="0"/>
                <a:ea typeface="+mj-lt" pitchFamily="34" charset="-122"/>
                <a:cs typeface="+mj-lt" pitchFamily="34" charset="-120"/>
              </a:rPr>
              <a:t>Kursmål</a:t>
            </a:r>
            <a:endParaRPr lang="en-US" sz="1500" dirty="0"/>
          </a:p>
        </p:txBody>
      </p:sp>
      <p:sp>
        <p:nvSpPr>
          <p:cNvPr id="47" name="Text 45"/>
          <p:cNvSpPr txBox="1"/>
          <p:nvPr/>
        </p:nvSpPr>
        <p:spPr>
          <a:xfrm>
            <a:off x="8275320" y="5422392"/>
            <a:ext cx="3200400" cy="347472"/>
          </a:xfrm>
          <a:prstGeom prst="rect">
            <a:avLst/>
          </a:prstGeom>
          <a:noFill/>
          <a:ln/>
        </p:spPr>
        <p:txBody>
          <a:bodyPr wrap="square" lIns="0" tIns="0" rIns="0" bIns="0" rtlCol="0" anchor="t"/>
          <a:lstStyle/>
          <a:p>
            <a:pPr indent="0" marL="0">
              <a:buNone/>
            </a:pPr>
            <a:r>
              <a:rPr lang="en-US" sz="1200" dirty="0">
                <a:solidFill>
                  <a:schemeClr val="tx2"/>
                </a:solidFill>
              </a:rPr>
              <a:t>Analytikerens anslag på hva aksjen er verdt</a:t>
            </a:r>
            <a:endParaRPr lang="en-US" sz="1200" dirty="0"/>
          </a:p>
        </p:txBody>
      </p:sp>
      <p:sp>
        <p:nvSpPr>
          <p:cNvPr id="25" name="Slide Number Placeholder 0"/>
          <p:cNvSpPr>
            <a:spLocks noGrp="1"/>
          </p:cNvSpPr>
          <p:nvPr>
            <p:ph type="sldNum" sz="quarter" idx="4294967295"/>
          </p:nvPr>
        </p:nvSpPr>
        <p:spPr>
          <a:xfrm>
            <a:off x="54864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3CAE0"/>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Foto" descr="/tmp/claude-0/-home-user-B-RS/bc29adb1-953f-55c2-bb90-b9f7aff29f66/scratchpad/assets/gala.jpg">    </p:cNvPr>
          <p:cNvPicPr>
            <a:picLocks noChangeAspect="1"/>
          </p:cNvPicPr>
          <p:nvPr/>
        </p:nvPicPr>
        <p:blipFill>
          <a:blip r:embed="rId1"/>
          <a:srcRect l="0" r="0" t="0" b="0"/>
          <a:stretch/>
        </p:blipFill>
        <p:spPr>
          <a:xfrm>
            <a:off x="6675120" y="0"/>
            <a:ext cx="5516575" cy="6858000"/>
          </a:xfrm>
          <a:prstGeom prst="rect">
            <a:avLst/>
          </a:prstGeom>
        </p:spPr>
      </p:pic>
      <p:sp>
        <p:nvSpPr>
          <p:cNvPr id="3" name="Diagonal"/>
          <p:cNvSpPr/>
          <p:nvPr/>
        </p:nvSpPr>
        <p:spPr>
          <a:xfrm flipV="1">
            <a:off x="6665976" y="-9144"/>
            <a:ext cx="2743200" cy="6876288"/>
          </a:xfrm>
          <a:prstGeom prst="rtTriangle">
            <a:avLst/>
          </a:prstGeom>
          <a:solidFill>
            <a:schemeClr val="bg1"/>
          </a:solidFill>
          <a:ln/>
        </p:spPr>
      </p:sp>
      <p:sp>
        <p:nvSpPr>
          <p:cNvPr id="4" name="Gul linje"/>
          <p:cNvSpPr/>
          <p:nvPr/>
        </p:nvSpPr>
        <p:spPr>
          <a:xfrm flipH="1">
            <a:off x="6675120" y="0"/>
            <a:ext cx="2743200" cy="6858000"/>
          </a:xfrm>
          <a:prstGeom prst="line">
            <a:avLst/>
          </a:prstGeom>
          <a:noFill/>
          <a:ln w="38100">
            <a:solidFill>
              <a:schemeClr val="accent1"/>
            </a:solidFill>
            <a:prstDash val="solid"/>
          </a:ln>
        </p:spPr>
      </p:sp>
      <p:sp>
        <p:nvSpPr>
          <p:cNvPr id="5" name="Text 2"/>
          <p:cNvSpPr txBox="1"/>
          <p:nvPr/>
        </p:nvSpPr>
        <p:spPr>
          <a:xfrm>
            <a:off x="731520" y="1463040"/>
            <a:ext cx="5486400" cy="365760"/>
          </a:xfrm>
          <a:prstGeom prst="rect">
            <a:avLst/>
          </a:prstGeom>
          <a:noFill/>
          <a:ln/>
        </p:spPr>
        <p:txBody>
          <a:bodyPr wrap="square" lIns="0" tIns="0" rIns="0" bIns="0" rtlCol="0" anchor="t"/>
          <a:lstStyle/>
          <a:p>
            <a:pPr indent="0" marL="0">
              <a:buNone/>
            </a:pPr>
            <a:r>
              <a:rPr lang="en-US" sz="1500" b="1" spc="500" kern="0" dirty="0">
                <a:solidFill>
                  <a:schemeClr val="accent1"/>
                </a:solidFill>
                <a:latin typeface="+mj-lt" pitchFamily="34" charset="0"/>
                <a:ea typeface="+mj-lt" pitchFamily="34" charset="-122"/>
                <a:cs typeface="+mj-lt" pitchFamily="34" charset="-120"/>
              </a:rPr>
              <a:t>FINANS 0.1</a:t>
            </a:r>
            <a:endParaRPr lang="en-US" sz="1500" dirty="0"/>
          </a:p>
        </p:txBody>
      </p:sp>
      <p:sp>
        <p:nvSpPr>
          <p:cNvPr id="6" name="Text 3"/>
          <p:cNvSpPr txBox="1"/>
          <p:nvPr/>
        </p:nvSpPr>
        <p:spPr>
          <a:xfrm>
            <a:off x="731520" y="1874520"/>
            <a:ext cx="5943600" cy="1188720"/>
          </a:xfrm>
          <a:prstGeom prst="rect">
            <a:avLst/>
          </a:prstGeom>
          <a:noFill/>
          <a:ln/>
        </p:spPr>
        <p:txBody>
          <a:bodyPr wrap="square" lIns="0" tIns="0" rIns="0" bIns="0" rtlCol="0" anchor="ctr"/>
          <a:lstStyle/>
          <a:p>
            <a:pPr indent="0" marL="0">
              <a:buNone/>
            </a:pPr>
            <a:r>
              <a:rPr lang="en-US" sz="8000" b="1" dirty="0">
                <a:solidFill>
                  <a:schemeClr val="tx1"/>
                </a:solidFill>
                <a:latin typeface="+mj-lt" pitchFamily="34" charset="0"/>
                <a:ea typeface="+mj-lt" pitchFamily="34" charset="-122"/>
                <a:cs typeface="+mj-lt" pitchFamily="34" charset="-120"/>
              </a:rPr>
              <a:t>TAKK!</a:t>
            </a:r>
            <a:endParaRPr lang="en-US" sz="8000" dirty="0"/>
          </a:p>
        </p:txBody>
      </p:sp>
      <p:sp>
        <p:nvSpPr>
          <p:cNvPr id="7" name="Text 4"/>
          <p:cNvSpPr txBox="1"/>
          <p:nvPr/>
        </p:nvSpPr>
        <p:spPr>
          <a:xfrm>
            <a:off x="731520" y="3108960"/>
            <a:ext cx="5486400" cy="548640"/>
          </a:xfrm>
          <a:prstGeom prst="rect">
            <a:avLst/>
          </a:prstGeom>
          <a:noFill/>
          <a:ln/>
        </p:spPr>
        <p:txBody>
          <a:bodyPr wrap="square" lIns="0" tIns="0" rIns="0" bIns="0" rtlCol="0" anchor="t"/>
          <a:lstStyle/>
          <a:p>
            <a:pPr indent="0" marL="0">
              <a:buNone/>
            </a:pPr>
            <a:r>
              <a:rPr lang="en-US" sz="2600" dirty="0">
                <a:solidFill>
                  <a:schemeClr val="tx2"/>
                </a:solidFill>
              </a:rPr>
              <a:t>Spørsmål?</a:t>
            </a:r>
            <a:endParaRPr lang="en-US" sz="2600" dirty="0"/>
          </a:p>
        </p:txBody>
      </p:sp>
      <p:sp>
        <p:nvSpPr>
          <p:cNvPr id="8" name="Text 5"/>
          <p:cNvSpPr txBox="1"/>
          <p:nvPr/>
        </p:nvSpPr>
        <p:spPr>
          <a:xfrm>
            <a:off x="731520" y="3749040"/>
            <a:ext cx="5303520" cy="457200"/>
          </a:xfrm>
          <a:prstGeom prst="rect">
            <a:avLst/>
          </a:prstGeom>
          <a:noFill/>
          <a:ln/>
        </p:spPr>
        <p:txBody>
          <a:bodyPr wrap="square" lIns="0" tIns="0" rIns="0" bIns="0" rtlCol="0" anchor="t"/>
          <a:lstStyle/>
          <a:p>
            <a:pPr indent="0" marL="0">
              <a:buNone/>
            </a:pPr>
            <a:r>
              <a:rPr lang="en-US" sz="1600" dirty="0">
                <a:solidFill>
                  <a:schemeClr val="tx2"/>
                </a:solidFill>
              </a:rPr>
              <a:t>Nå har vi et felles språk for resten av WFD-året.</a:t>
            </a:r>
            <a:endParaRPr lang="en-US" sz="1600" dirty="0"/>
          </a:p>
        </p:txBody>
      </p:sp>
      <p:pic>
        <p:nvPicPr>
          <p:cNvPr id="9" name="Image 1" descr="/tmp/claude-0/-home-user-B-RS/bc29adb1-953f-55c2-bb90-b9f7aff29f66/scratchpad/assets/bars_c.png">    </p:cNvPr>
          <p:cNvPicPr>
            <a:picLocks noChangeAspect="1"/>
          </p:cNvPicPr>
          <p:nvPr/>
        </p:nvPicPr>
        <p:blipFill>
          <a:blip r:embed="rId2"/>
          <a:stretch>
            <a:fillRect/>
          </a:stretch>
        </p:blipFill>
        <p:spPr>
          <a:xfrm>
            <a:off x="731520" y="4572000"/>
            <a:ext cx="2011680" cy="470002"/>
          </a:xfrm>
          <a:prstGeom prst="rect">
            <a:avLst/>
          </a:prstGeom>
        </p:spPr>
      </p:pic>
    </p:spTree>
  </p:cSld>
  <p:clrMapOvr>
    <a:masterClrMapping/>
  </p:clrMapOvr>
</p:sld>
</file>

<file path=ppt/theme/theme1.xml><?xml version="1.0" encoding="utf-8"?>
<a:theme xmlns:a="http://schemas.openxmlformats.org/drawingml/2006/main" name="WFD">
  <a:themeElements>
    <a:clrScheme name="WFD">
      <a:dk1>
        <a:srgbClr val="FFFFFF"/>
      </a:dk1>
      <a:lt1>
        <a:srgbClr val="0F1E42"/>
      </a:lt1>
      <a:dk2>
        <a:srgbClr val="C3CAE0"/>
      </a:dk2>
      <a:lt2>
        <a:srgbClr val="1C2F60"/>
      </a:lt2>
      <a:accent1>
        <a:srgbClr val="DDDD7E"/>
      </a:accent1>
      <a:accent2>
        <a:srgbClr val="8FA3D6"/>
      </a:accent2>
      <a:accent3>
        <a:srgbClr val="2A3F78"/>
      </a:accent3>
      <a:accent4>
        <a:srgbClr val="FFFFFF"/>
      </a:accent4>
      <a:accent5>
        <a:srgbClr val="B5B55E"/>
      </a:accent5>
      <a:accent6>
        <a:srgbClr val="4A5E96"/>
      </a:accent6>
      <a:hlink>
        <a:srgbClr val="DDDD7E"/>
      </a:hlink>
      <a:folHlink>
        <a:srgbClr val="C3CAE0"/>
      </a:folHlink>
    </a:clrScheme>
    <a:fontScheme name="WFD">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Finans 0.1 – WFD-styret</dc:title>
  <dc:subject>PptxGenJS Presentation</dc:subject>
  <dc:creator>WFD-styret</dc:creator>
  <cp:lastModifiedBy>WFD-styret</cp:lastModifiedBy>
  <cp:revision>1</cp:revision>
  <dcterms:created xsi:type="dcterms:W3CDTF">2026-10-06T09:45:17Z</dcterms:created>
  <dcterms:modified xsi:type="dcterms:W3CDTF">2026-10-06T09:45:17Z</dcterms:modified>
</cp:coreProperties>
</file>